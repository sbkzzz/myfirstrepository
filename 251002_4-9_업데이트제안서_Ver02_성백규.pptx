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68" r:id="rId3"/>
    <p:sldId id="277" r:id="rId4"/>
    <p:sldId id="297" r:id="rId5"/>
    <p:sldId id="288" r:id="rId6"/>
    <p:sldId id="289" r:id="rId7"/>
    <p:sldId id="290" r:id="rId8"/>
    <p:sldId id="287" r:id="rId9"/>
    <p:sldId id="286" r:id="rId10"/>
    <p:sldId id="283" r:id="rId11"/>
    <p:sldId id="292" r:id="rId12"/>
    <p:sldId id="293" r:id="rId13"/>
    <p:sldId id="294" r:id="rId14"/>
    <p:sldId id="295" r:id="rId15"/>
    <p:sldId id="296" r:id="rId16"/>
    <p:sldId id="291" r:id="rId17"/>
    <p:sldId id="298" r:id="rId18"/>
    <p:sldId id="313" r:id="rId19"/>
    <p:sldId id="299" r:id="rId20"/>
    <p:sldId id="300" r:id="rId21"/>
    <p:sldId id="305" r:id="rId22"/>
    <p:sldId id="304" r:id="rId23"/>
    <p:sldId id="301" r:id="rId24"/>
    <p:sldId id="306" r:id="rId25"/>
    <p:sldId id="307" r:id="rId26"/>
    <p:sldId id="308" r:id="rId27"/>
    <p:sldId id="309" r:id="rId28"/>
    <p:sldId id="310" r:id="rId29"/>
    <p:sldId id="311" r:id="rId30"/>
    <p:sldId id="312" r:id="rId31"/>
    <p:sldId id="317" r:id="rId32"/>
    <p:sldId id="315" r:id="rId33"/>
    <p:sldId id="316" r:id="rId34"/>
    <p:sldId id="318" r:id="rId35"/>
    <p:sldId id="314" r:id="rId3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5B9"/>
    <a:srgbClr val="FFE4B3"/>
    <a:srgbClr val="FFB9B9"/>
    <a:srgbClr val="CCECFF"/>
    <a:srgbClr val="E4D2F2"/>
    <a:srgbClr val="D1FFAF"/>
    <a:srgbClr val="E7F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89" autoAdjust="0"/>
    <p:restoredTop sz="95199" autoAdjust="0"/>
  </p:normalViewPr>
  <p:slideViewPr>
    <p:cSldViewPr snapToGrid="0">
      <p:cViewPr varScale="1">
        <p:scale>
          <a:sx n="105" d="100"/>
          <a:sy n="105" d="100"/>
        </p:scale>
        <p:origin x="90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29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71669E-5F3D-4A06-8AA1-2D4814B51A8F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0ED387-86D2-4BB4-8467-50AD7682C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536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0ED387-86D2-4BB4-8467-50AD7682C69E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15188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0ED387-86D2-4BB4-8467-50AD7682C69E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43015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0ED387-86D2-4BB4-8467-50AD7682C69E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517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680AA4-19BE-A88B-15DD-ABDCE909F0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E50654B-8660-7655-7368-BC744A33B7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D22F4E-C3EF-6968-67DA-3B0867AC8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BA9FD-E679-494B-B9B0-502AA2E693BC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9E37DB-FAA3-9E0A-4963-077649202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EA34C6-09BF-7C46-C5C1-49C3395D7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A2F88-E227-4060-AFA0-8FBCB75CCA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2536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C766C7-896F-0D92-2241-057A39FCB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F0AB95-B3A8-C0CE-1ACC-CBBB70035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7198B3-41B5-B72B-52EB-0A549F64B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BA9FD-E679-494B-B9B0-502AA2E693BC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E27A75-725D-3163-DFE7-00AF1EEED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7303BE-D5A1-64AF-9270-800D6ABFD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A2F88-E227-4060-AFA0-8FBCB75CCA3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10DBB8-A397-6B01-A11B-2ED252E91046}"/>
              </a:ext>
            </a:extLst>
          </p:cNvPr>
          <p:cNvSpPr txBox="1"/>
          <p:nvPr userDrawn="1"/>
        </p:nvSpPr>
        <p:spPr>
          <a:xfrm>
            <a:off x="3481754" y="0"/>
            <a:ext cx="87102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ko-KR" altLang="en-US" sz="1000" dirty="0" err="1">
                <a:solidFill>
                  <a:schemeClr val="accent3"/>
                </a:solidFill>
              </a:rPr>
              <a:t>쿠키런</a:t>
            </a:r>
            <a:r>
              <a:rPr lang="en-US" altLang="ko-KR" sz="1000" dirty="0">
                <a:solidFill>
                  <a:schemeClr val="accent3"/>
                </a:solidFill>
              </a:rPr>
              <a:t>:</a:t>
            </a:r>
            <a:r>
              <a:rPr lang="ko-KR" altLang="en-US" sz="1000" dirty="0" err="1">
                <a:solidFill>
                  <a:schemeClr val="accent3"/>
                </a:solidFill>
              </a:rPr>
              <a:t>킹덤</a:t>
            </a:r>
            <a:r>
              <a:rPr lang="ko-KR" altLang="en-US" sz="1000" dirty="0">
                <a:solidFill>
                  <a:schemeClr val="accent3"/>
                </a:solidFill>
              </a:rPr>
              <a:t> </a:t>
            </a:r>
            <a:r>
              <a:rPr lang="en-US" altLang="ko-KR" sz="1000" dirty="0">
                <a:solidFill>
                  <a:schemeClr val="accent3"/>
                </a:solidFill>
              </a:rPr>
              <a:t>– </a:t>
            </a:r>
            <a:r>
              <a:rPr lang="ko-KR" altLang="en-US" sz="1000" dirty="0">
                <a:solidFill>
                  <a:schemeClr val="accent3"/>
                </a:solidFill>
              </a:rPr>
              <a:t>업데이트 제안서</a:t>
            </a:r>
          </a:p>
        </p:txBody>
      </p:sp>
    </p:spTree>
    <p:extLst>
      <p:ext uri="{BB962C8B-B14F-4D97-AF65-F5344CB8AC3E}">
        <p14:creationId xmlns:p14="http://schemas.microsoft.com/office/powerpoint/2010/main" val="3761237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D76168-8906-8582-62A4-FD11904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8ED95BD-6E70-02C9-45B1-B44DE93213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FE3C65-8676-DC34-1181-8E861E0DE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BA9FD-E679-494B-B9B0-502AA2E693BC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7E25E1-BB98-F07E-7336-C66516FFD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F31092-57A3-C844-94DD-90A085573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A2F88-E227-4060-AFA0-8FBCB75CCA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1828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AF5009-4B63-255D-0DF0-AAA6CF94C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A7F16C-C69F-240B-E5F4-07FD26C285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2BE940D-9EAE-0593-C28D-F48E7641A7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8F51C4B-E597-90B8-0E19-A0ED2F6CC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BA9FD-E679-494B-B9B0-502AA2E693BC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EAA542-799D-9F5C-6A6D-CC97F30B0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8267A2-2D37-2F6D-4B08-C87AD84C2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A2F88-E227-4060-AFA0-8FBCB75CCA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1053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AD3353-6893-8464-94AF-F426CB3C6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61DDCF-293B-8748-74C4-EBFCFCB4D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D8487DF-9B06-37D2-E8A1-2595A02B8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183CCCD-1EFE-D10A-1EA3-37C72DB5F9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BD2F5D2-A236-5384-6D02-66582A28A6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CA3C1EA-DC04-AE92-3261-58A9DDA6D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BA9FD-E679-494B-B9B0-502AA2E693BC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C34E41A-BF02-D4C6-BF99-D5BC405CD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CFB92B6-358F-DBF5-887A-C4C6D1B80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A2F88-E227-4060-AFA0-8FBCB75CCA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7064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4A46E3-9343-C159-1153-F0AA08ACC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C447EE3-B520-4C73-7C5C-D9A4B6CD3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BA9FD-E679-494B-B9B0-502AA2E693BC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0301CC-409B-02DD-6325-368DC0271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3CB71E5-81A2-29B1-285A-CC8293CC6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A2F88-E227-4060-AFA0-8FBCB75CCA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2147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E871F86-370F-A661-B785-0A88D625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BA9FD-E679-494B-B9B0-502AA2E693BC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050F1AB-7026-27E7-6DEE-6EEDE4689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B27229-525D-E109-E83D-8CD35FF96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A2F88-E227-4060-AFA0-8FBCB75CCA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5042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0DB633-C7F2-7DEE-B1BE-19894BB35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931EC5-537A-2C47-155B-D383453F4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B6136ED-E14D-B5F5-6E20-1FE16E2C65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AEDFC57-B780-A154-167F-3C3465119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BA9FD-E679-494B-B9B0-502AA2E693BC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69642D7-7D84-BD09-06E2-7C1B74A7A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49D4E1-DAAF-9AA9-34B7-34BA9303A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A2F88-E227-4060-AFA0-8FBCB75CCA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5945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8112F7-66CC-AD18-2C14-757FF688F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F6A9E88-BC18-5B38-86CE-0B86FD70D1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9D36E15-0738-6CF8-FD2A-9A0BFC72B9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9F0BB2-D93E-AC8C-7153-32334F2C0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BA9FD-E679-494B-B9B0-502AA2E693BC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0BD4BE3-1382-28F9-07A9-B9DD0C97F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509E03-45E5-9C57-C27F-E857A3B09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A2F88-E227-4060-AFA0-8FBCB75CCA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4239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E21C07-E740-C3D9-7288-175E33F3D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42EF049-3B94-0AC3-2914-C1FE0CA7BB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D68882-5431-0DD9-8DC1-7C9B6FD42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BA9FD-E679-494B-B9B0-502AA2E693BC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643799-3DF9-6D5C-772E-FAB5CB497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99FA5B-577E-E68F-D788-D944E552F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A2F88-E227-4060-AFA0-8FBCB75CCA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6193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0475D58-ADC3-E009-2750-C272F10897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40567C6-FBF1-55EB-28F2-56BEF08180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3B4D7E-7DC0-2590-413B-D9430454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BA9FD-E679-494B-B9B0-502AA2E693BC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52F807-1D64-3BA2-9063-57EA27FCF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AF3B50-5013-F9B4-51DD-A842EC9D1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A2F88-E227-4060-AFA0-8FBCB75CCA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5669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BF783FD-7DBB-2401-41EE-3C065E0EA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A140E6-6359-1AD6-62F7-D6C38BC44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DACEEC-4776-2868-F1A0-9AC8A2C1A8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7BA9FD-E679-494B-B9B0-502AA2E693BC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55FF65-2FD0-E347-59EB-80F545C579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D526D3-3101-DAE7-DA9E-9F04B86C70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8A2F88-E227-4060-AFA0-8FBCB75CCA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6913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svg"/><Relationship Id="rId7" Type="http://schemas.openxmlformats.org/officeDocument/2006/relationships/image" Target="../media/image9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.svg"/><Relationship Id="rId7" Type="http://schemas.openxmlformats.org/officeDocument/2006/relationships/image" Target="../media/image1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.svg"/><Relationship Id="rId7" Type="http://schemas.openxmlformats.org/officeDocument/2006/relationships/image" Target="../media/image29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Relationship Id="rId9" Type="http://schemas.openxmlformats.org/officeDocument/2006/relationships/image" Target="../media/image19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svg"/><Relationship Id="rId3" Type="http://schemas.openxmlformats.org/officeDocument/2006/relationships/image" Target="../media/image31.svg"/><Relationship Id="rId7" Type="http://schemas.openxmlformats.org/officeDocument/2006/relationships/image" Target="../media/image29.svg"/><Relationship Id="rId12" Type="http://schemas.openxmlformats.org/officeDocument/2006/relationships/image" Target="../media/image36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5.svg"/><Relationship Id="rId5" Type="http://schemas.openxmlformats.org/officeDocument/2006/relationships/image" Target="../media/image3.svg"/><Relationship Id="rId10" Type="http://schemas.openxmlformats.org/officeDocument/2006/relationships/image" Target="../media/image34.png"/><Relationship Id="rId4" Type="http://schemas.openxmlformats.org/officeDocument/2006/relationships/image" Target="../media/image2.png"/><Relationship Id="rId9" Type="http://schemas.openxmlformats.org/officeDocument/2006/relationships/image" Target="../media/image33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3.svg"/><Relationship Id="rId9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.svg"/><Relationship Id="rId7" Type="http://schemas.openxmlformats.org/officeDocument/2006/relationships/image" Target="../media/image2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9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svg"/><Relationship Id="rId7" Type="http://schemas.openxmlformats.org/officeDocument/2006/relationships/image" Target="../media/image49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svg"/><Relationship Id="rId4" Type="http://schemas.openxmlformats.org/officeDocument/2006/relationships/image" Target="../media/image46.png"/><Relationship Id="rId9" Type="http://schemas.openxmlformats.org/officeDocument/2006/relationships/image" Target="../media/image15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sv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53.svg"/><Relationship Id="rId7" Type="http://schemas.openxmlformats.org/officeDocument/2006/relationships/image" Target="../media/image57.sv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svg"/><Relationship Id="rId4" Type="http://schemas.openxmlformats.org/officeDocument/2006/relationships/image" Target="../media/image54.png"/><Relationship Id="rId9" Type="http://schemas.openxmlformats.org/officeDocument/2006/relationships/image" Target="../media/image47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58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59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51.svg"/><Relationship Id="rId7" Type="http://schemas.openxmlformats.org/officeDocument/2006/relationships/image" Target="../media/image31.sv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63.svg"/><Relationship Id="rId4" Type="http://schemas.openxmlformats.org/officeDocument/2006/relationships/image" Target="../media/image62.png"/><Relationship Id="rId9" Type="http://schemas.openxmlformats.org/officeDocument/2006/relationships/image" Target="../media/image27.sv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799A22C-D0A2-A56E-780B-3CA77EBD3066}"/>
              </a:ext>
            </a:extLst>
          </p:cNvPr>
          <p:cNvSpPr/>
          <p:nvPr/>
        </p:nvSpPr>
        <p:spPr>
          <a:xfrm>
            <a:off x="0" y="0"/>
            <a:ext cx="5410201" cy="6858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0F1A92-DAE3-D0DC-FEEB-A6923DCCF057}"/>
              </a:ext>
            </a:extLst>
          </p:cNvPr>
          <p:cNvSpPr txBox="1"/>
          <p:nvPr/>
        </p:nvSpPr>
        <p:spPr>
          <a:xfrm>
            <a:off x="6096000" y="1784864"/>
            <a:ext cx="5166946" cy="3565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1400" b="1" dirty="0"/>
              <a:t> 개요</a:t>
            </a:r>
            <a:endParaRPr lang="en-US" altLang="ko-KR" sz="1400" b="1" dirty="0"/>
          </a:p>
          <a:p>
            <a:pPr>
              <a:lnSpc>
                <a:spcPct val="150000"/>
              </a:lnSpc>
            </a:pPr>
            <a:endParaRPr lang="en-US" altLang="ko-KR" sz="1400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1400" b="1" dirty="0"/>
              <a:t> 유료 상품 분석</a:t>
            </a:r>
            <a:endParaRPr lang="en-US" altLang="ko-KR" sz="1400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1400" b="1" dirty="0"/>
              <a:t> </a:t>
            </a:r>
            <a:r>
              <a:rPr lang="ko-KR" altLang="en-US" sz="1400" b="1" dirty="0"/>
              <a:t>유저 분석</a:t>
            </a:r>
            <a:endParaRPr lang="en-US" altLang="ko-KR" sz="1400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en-US" altLang="ko-KR" sz="1400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1400" b="1" dirty="0"/>
              <a:t> 향후 업데이트 전략</a:t>
            </a:r>
            <a:endParaRPr lang="en-US" altLang="ko-KR" sz="1400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en-US" altLang="ko-KR" sz="1400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b="1" dirty="0"/>
              <a:t> 업데이트 제안</a:t>
            </a:r>
            <a:r>
              <a:rPr lang="en-US" altLang="ko-KR" b="1" dirty="0"/>
              <a:t>: </a:t>
            </a:r>
            <a:r>
              <a:rPr lang="ko-KR" altLang="en-US" b="1" dirty="0"/>
              <a:t>위클리 아레나 </a:t>
            </a:r>
            <a:r>
              <a:rPr lang="ko-KR" altLang="en-US" sz="1200" b="1" dirty="0">
                <a:solidFill>
                  <a:schemeClr val="bg1">
                    <a:lumMod val="65000"/>
                  </a:schemeClr>
                </a:solidFill>
              </a:rPr>
              <a:t>신규 </a:t>
            </a:r>
            <a:r>
              <a:rPr lang="en-US" altLang="ko-KR" sz="1200" b="1" dirty="0">
                <a:solidFill>
                  <a:schemeClr val="bg1">
                    <a:lumMod val="65000"/>
                  </a:schemeClr>
                </a:solidFill>
              </a:rPr>
              <a:t>PvP </a:t>
            </a:r>
            <a:r>
              <a:rPr lang="ko-KR" altLang="en-US" sz="1200" b="1" dirty="0">
                <a:solidFill>
                  <a:schemeClr val="bg1">
                    <a:lumMod val="65000"/>
                  </a:schemeClr>
                </a:solidFill>
              </a:rPr>
              <a:t>컨텐츠</a:t>
            </a:r>
            <a:endParaRPr lang="en-US" altLang="ko-KR" b="1" dirty="0">
              <a:solidFill>
                <a:schemeClr val="bg1">
                  <a:lumMod val="65000"/>
                </a:schemeClr>
              </a:solidFill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/>
              <a:t>컨텐츠 설정</a:t>
            </a:r>
            <a:endParaRPr lang="en-US" altLang="ko-KR" sz="1200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/>
              <a:t>관련 유료 상품 설정</a:t>
            </a:r>
            <a:endParaRPr lang="en-US" altLang="ko-KR" sz="1200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/>
              <a:t>기대효과</a:t>
            </a:r>
            <a:endParaRPr lang="en-US" altLang="ko-KR" sz="12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CF17B79-82EC-2EFF-1128-3B572D2D5882}"/>
              </a:ext>
            </a:extLst>
          </p:cNvPr>
          <p:cNvSpPr/>
          <p:nvPr/>
        </p:nvSpPr>
        <p:spPr>
          <a:xfrm>
            <a:off x="0" y="2224454"/>
            <a:ext cx="5410201" cy="2409092"/>
          </a:xfrm>
          <a:prstGeom prst="rect">
            <a:avLst/>
          </a:prstGeom>
          <a:solidFill>
            <a:schemeClr val="tx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B7F854-11FD-4F7F-890E-4B0E9319882E}"/>
              </a:ext>
            </a:extLst>
          </p:cNvPr>
          <p:cNvSpPr txBox="1"/>
          <p:nvPr/>
        </p:nvSpPr>
        <p:spPr>
          <a:xfrm>
            <a:off x="155748" y="2518975"/>
            <a:ext cx="4987752" cy="1820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4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쿠키런</a:t>
            </a:r>
            <a:r>
              <a:rPr lang="en-US" altLang="ko-KR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ko-KR" altLang="en-US" sz="4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킹덤</a:t>
            </a:r>
            <a:r>
              <a:rPr lang="ko-KR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 </a:t>
            </a:r>
            <a:br>
              <a:rPr lang="en-US" altLang="ko-KR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ko-KR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업데이트 제안서</a:t>
            </a:r>
            <a:endParaRPr lang="en-US" altLang="ko-KR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09FB09-D1F2-E3B3-2441-FD84664C667F}"/>
              </a:ext>
            </a:extLst>
          </p:cNvPr>
          <p:cNvSpPr txBox="1"/>
          <p:nvPr/>
        </p:nvSpPr>
        <p:spPr>
          <a:xfrm>
            <a:off x="0" y="5773792"/>
            <a:ext cx="5410201" cy="1084208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65000"/>
                </a:schemeClr>
              </a:gs>
            </a:gsLst>
            <a:lin ang="0" scaled="1"/>
            <a:tileRect/>
          </a:gradFill>
        </p:spPr>
        <p:txBody>
          <a:bodyPr wrap="square" anchor="b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1400" b="1" dirty="0">
                <a:solidFill>
                  <a:schemeClr val="bg1"/>
                </a:solidFill>
              </a:rPr>
              <a:t>2025.10.02</a:t>
            </a:r>
          </a:p>
          <a:p>
            <a:pPr algn="r">
              <a:lnSpc>
                <a:spcPct val="150000"/>
              </a:lnSpc>
            </a:pPr>
            <a:r>
              <a:rPr lang="ko-KR" altLang="en-US" sz="1400" b="1" dirty="0" err="1">
                <a:solidFill>
                  <a:schemeClr val="bg1"/>
                </a:solidFill>
              </a:rPr>
              <a:t>성백규</a:t>
            </a:r>
            <a:endParaRPr lang="en-US" altLang="ko-KR" sz="1400" b="1" dirty="0">
              <a:solidFill>
                <a:schemeClr val="bg1"/>
              </a:solidFill>
            </a:endParaRPr>
          </a:p>
          <a:p>
            <a:pPr algn="r">
              <a:lnSpc>
                <a:spcPct val="150000"/>
              </a:lnSpc>
            </a:pPr>
            <a:endParaRPr lang="en-US" altLang="ko-KR" sz="800" dirty="0">
              <a:solidFill>
                <a:schemeClr val="bg1"/>
              </a:solidFill>
            </a:endParaRPr>
          </a:p>
          <a:p>
            <a:pPr algn="r">
              <a:lnSpc>
                <a:spcPct val="150000"/>
              </a:lnSpc>
            </a:pPr>
            <a:r>
              <a:rPr lang="ko-KR" altLang="en-US" sz="800" dirty="0">
                <a:solidFill>
                  <a:schemeClr val="bg1"/>
                </a:solidFill>
              </a:rPr>
              <a:t>경일 게임 아카데미</a:t>
            </a:r>
            <a:endParaRPr lang="en-US" altLang="ko-KR" sz="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4474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9D55913-833D-7AD5-E782-CBE739517D1B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/>
              <a:t>버전</a:t>
            </a:r>
            <a:endParaRPr lang="en-US" altLang="ko-KR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1AF967-A8F5-47ED-0B36-14AEEF765B9E}"/>
              </a:ext>
            </a:extLst>
          </p:cNvPr>
          <p:cNvSpPr txBox="1"/>
          <p:nvPr/>
        </p:nvSpPr>
        <p:spPr>
          <a:xfrm>
            <a:off x="283068" y="1139465"/>
            <a:ext cx="4958117" cy="1810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/>
              <a:t>Ver01 – 25.10.02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/>
              <a:t>최초 작성</a:t>
            </a:r>
            <a:endParaRPr lang="en-US" altLang="ko-KR" sz="1200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2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/>
              <a:t>Ver02 – 25.10.02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/>
              <a:t>유저분석 </a:t>
            </a:r>
            <a:r>
              <a:rPr lang="en-US" altLang="ko-KR" sz="1200" dirty="0"/>
              <a:t>– </a:t>
            </a:r>
            <a:r>
              <a:rPr lang="ko-KR" altLang="en-US" sz="1200" dirty="0"/>
              <a:t>컨텐츠 소비 방식 이미지 수정</a:t>
            </a:r>
            <a:endParaRPr lang="en-US" altLang="ko-KR" sz="1200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492959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1C38-7C24-7204-D088-171A9940F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74A9BCD-9183-59C6-0429-1857DC64258B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개요</a:t>
            </a:r>
            <a:endParaRPr lang="en-US" altLang="ko-KR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71BC3-ADC7-8E24-6245-629EF30B79D6}"/>
              </a:ext>
            </a:extLst>
          </p:cNvPr>
          <p:cNvSpPr txBox="1"/>
          <p:nvPr/>
        </p:nvSpPr>
        <p:spPr>
          <a:xfrm>
            <a:off x="1138976" y="2685110"/>
            <a:ext cx="9914048" cy="1487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/>
              <a:t>‘</a:t>
            </a:r>
            <a:r>
              <a:rPr lang="ko-KR" altLang="en-US" sz="1400" dirty="0" err="1"/>
              <a:t>쿠키런</a:t>
            </a:r>
            <a:r>
              <a:rPr lang="en-US" altLang="ko-KR" sz="1400" dirty="0"/>
              <a:t>:</a:t>
            </a:r>
            <a:r>
              <a:rPr lang="ko-KR" altLang="en-US" sz="1400" dirty="0" err="1"/>
              <a:t>킹덤</a:t>
            </a:r>
            <a:r>
              <a:rPr lang="en-US" altLang="ko-KR" sz="1400" dirty="0"/>
              <a:t>’ </a:t>
            </a:r>
            <a:r>
              <a:rPr lang="ko-KR" altLang="en-US" sz="1400" dirty="0"/>
              <a:t>의 신규 업데이트 제안서 입니다</a:t>
            </a:r>
            <a:r>
              <a:rPr lang="en-US" altLang="ko-KR" sz="1400" dirty="0"/>
              <a:t>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200" dirty="0"/>
          </a:p>
          <a:p>
            <a:pPr lvl="1">
              <a:lnSpc>
                <a:spcPct val="150000"/>
              </a:lnSpc>
            </a:pPr>
            <a:r>
              <a:rPr lang="en-US" altLang="ko-KR" sz="1200" dirty="0"/>
              <a:t>‘</a:t>
            </a:r>
            <a:r>
              <a:rPr lang="ko-KR" altLang="en-US" sz="1200" dirty="0" err="1"/>
              <a:t>쿠키런</a:t>
            </a:r>
            <a:r>
              <a:rPr lang="en-US" altLang="ko-KR" sz="1200" dirty="0"/>
              <a:t>:</a:t>
            </a:r>
            <a:r>
              <a:rPr lang="ko-KR" altLang="en-US" sz="1200" dirty="0" err="1"/>
              <a:t>킹덤</a:t>
            </a:r>
            <a:r>
              <a:rPr lang="en-US" altLang="ko-KR" sz="1200" dirty="0"/>
              <a:t>’</a:t>
            </a:r>
            <a:r>
              <a:rPr lang="ko-KR" altLang="en-US" sz="1200" dirty="0"/>
              <a:t>이 신규 업데이트를 하게 된다면</a:t>
            </a:r>
            <a:endParaRPr lang="en-US" altLang="ko-KR" sz="1200" dirty="0"/>
          </a:p>
          <a:p>
            <a:pPr lvl="1">
              <a:lnSpc>
                <a:spcPct val="150000"/>
              </a:lnSpc>
            </a:pPr>
            <a:r>
              <a:rPr lang="ko-KR" altLang="en-US" sz="1200" dirty="0"/>
              <a:t>유료 상품과 유저의 현 상황을 진단하여 패치를 진행하는 것이 좋겠다 라고 생각하여</a:t>
            </a:r>
            <a:br>
              <a:rPr lang="en-US" altLang="ko-KR" sz="1200" dirty="0"/>
            </a:br>
            <a:r>
              <a:rPr lang="ko-KR" altLang="en-US" sz="1200" dirty="0"/>
              <a:t>이를 기반으로 신규 업데이트 제안서를 작성했습니다</a:t>
            </a:r>
            <a:r>
              <a:rPr lang="en-US" altLang="ko-KR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9322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052D5-8D5C-D732-E336-85501802A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65A8316-AE55-1A96-8040-8FB877964A67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유료 상품 분석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2025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년 </a:t>
            </a:r>
            <a:r>
              <a:rPr lang="en-US" altLang="ko-KR" sz="1100" dirty="0">
                <a:solidFill>
                  <a:prstClr val="white">
                    <a:lumMod val="65000"/>
                  </a:prstClr>
                </a:solidFill>
                <a:latin typeface="맑은 고딕" panose="020F0502020204030204"/>
                <a:ea typeface="맑은 고딕" panose="020B0503020000020004" pitchFamily="50" charset="-127"/>
              </a:rPr>
              <a:t>9</a:t>
            </a:r>
            <a:r>
              <a:rPr lang="ko-KR" altLang="en-US" sz="1100" dirty="0">
                <a:solidFill>
                  <a:prstClr val="white">
                    <a:lumMod val="65000"/>
                  </a:prstClr>
                </a:solidFill>
                <a:latin typeface="맑은 고딕" panose="020F0502020204030204"/>
                <a:ea typeface="맑은 고딕" panose="020B0503020000020004" pitchFamily="50" charset="-127"/>
              </a:rPr>
              <a:t>월 기준</a:t>
            </a:r>
            <a:endParaRPr lang="en-US" altLang="ko-KR" sz="2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83DD313-16DA-A726-48C6-A24C18A06C5D}"/>
              </a:ext>
            </a:extLst>
          </p:cNvPr>
          <p:cNvSpPr/>
          <p:nvPr/>
        </p:nvSpPr>
        <p:spPr>
          <a:xfrm>
            <a:off x="2397530" y="1513535"/>
            <a:ext cx="1312974" cy="53308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chemeClr val="tx1"/>
                </a:solidFill>
              </a:rPr>
              <a:t>유료 상품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34F0797-6014-6981-743E-335D39A86AE6}"/>
              </a:ext>
            </a:extLst>
          </p:cNvPr>
          <p:cNvSpPr/>
          <p:nvPr/>
        </p:nvSpPr>
        <p:spPr>
          <a:xfrm>
            <a:off x="1012735" y="2137905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성능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3ADB31F-8A06-3614-9675-29A9C7576862}"/>
              </a:ext>
            </a:extLst>
          </p:cNvPr>
          <p:cNvSpPr/>
          <p:nvPr/>
        </p:nvSpPr>
        <p:spPr>
          <a:xfrm>
            <a:off x="3621130" y="2137905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감성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D95B4ED-81F7-DE9E-37B6-506C07E55936}"/>
              </a:ext>
            </a:extLst>
          </p:cNvPr>
          <p:cNvSpPr/>
          <p:nvPr/>
        </p:nvSpPr>
        <p:spPr>
          <a:xfrm>
            <a:off x="1340979" y="2867666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/>
                </a:solidFill>
              </a:rPr>
              <a:t>재화</a:t>
            </a:r>
            <a:r>
              <a:rPr lang="en-US" altLang="ko-KR" sz="1100" dirty="0">
                <a:solidFill>
                  <a:schemeClr val="tx1"/>
                </a:solidFill>
              </a:rPr>
              <a:t>/</a:t>
            </a:r>
            <a:r>
              <a:rPr lang="ko-KR" altLang="en-US" sz="1100" dirty="0">
                <a:solidFill>
                  <a:schemeClr val="tx1"/>
                </a:solidFill>
              </a:rPr>
              <a:t>자원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67D0D88-0751-9D09-DD1D-66CFDA55D789}"/>
              </a:ext>
            </a:extLst>
          </p:cNvPr>
          <p:cNvSpPr/>
          <p:nvPr/>
        </p:nvSpPr>
        <p:spPr>
          <a:xfrm>
            <a:off x="1340979" y="3276959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/>
                </a:solidFill>
              </a:rPr>
              <a:t>가챠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E9FD77A-DEC5-A130-173B-565786A3B999}"/>
              </a:ext>
            </a:extLst>
          </p:cNvPr>
          <p:cNvSpPr/>
          <p:nvPr/>
        </p:nvSpPr>
        <p:spPr>
          <a:xfrm>
            <a:off x="1340979" y="3690416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/>
                </a:solidFill>
              </a:rPr>
              <a:t>성장 가속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BAD566A-452E-897D-12F1-3D30A49EF077}"/>
              </a:ext>
            </a:extLst>
          </p:cNvPr>
          <p:cNvSpPr/>
          <p:nvPr/>
        </p:nvSpPr>
        <p:spPr>
          <a:xfrm>
            <a:off x="1340979" y="4103873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/>
                </a:solidFill>
              </a:rPr>
              <a:t>편의 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시간 단축 등</a:t>
            </a:r>
            <a:r>
              <a:rPr lang="en-US" altLang="ko-KR" sz="1100" dirty="0">
                <a:solidFill>
                  <a:schemeClr val="tx1"/>
                </a:solidFill>
              </a:rPr>
              <a:t>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8F9420A-2C5B-761B-750B-8D4DE619C186}"/>
              </a:ext>
            </a:extLst>
          </p:cNvPr>
          <p:cNvSpPr/>
          <p:nvPr/>
        </p:nvSpPr>
        <p:spPr>
          <a:xfrm>
            <a:off x="3940583" y="2867666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/>
                </a:solidFill>
              </a:rPr>
              <a:t>코디</a:t>
            </a:r>
            <a:r>
              <a:rPr lang="en-US" altLang="ko-KR" sz="1100" dirty="0">
                <a:solidFill>
                  <a:schemeClr val="tx1"/>
                </a:solidFill>
              </a:rPr>
              <a:t>/</a:t>
            </a:r>
            <a:r>
              <a:rPr lang="ko-KR" altLang="en-US" sz="1100" dirty="0">
                <a:solidFill>
                  <a:schemeClr val="tx1"/>
                </a:solidFill>
              </a:rPr>
              <a:t>스킨 수집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31545C2C-5B2B-492B-C95D-AE56192D027C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1156343" y="3027900"/>
            <a:ext cx="184636" cy="0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CC65DB04-2D96-BA31-5A9D-E8952BC48C53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1156343" y="3437193"/>
            <a:ext cx="184636" cy="0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BA09FCCE-1FE6-E548-28E9-07B819DCEDD0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1156343" y="3850650"/>
            <a:ext cx="184636" cy="0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79112CED-EF70-FBF5-3E3C-501C6A03E73D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1156343" y="4264107"/>
            <a:ext cx="184636" cy="0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53D9F202-D9D9-8F40-CD00-4829174C33D4}"/>
              </a:ext>
            </a:extLst>
          </p:cNvPr>
          <p:cNvCxnSpPr>
            <a:cxnSpLocks/>
          </p:cNvCxnSpPr>
          <p:nvPr/>
        </p:nvCxnSpPr>
        <p:spPr>
          <a:xfrm>
            <a:off x="1156343" y="2458373"/>
            <a:ext cx="0" cy="2948951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E38C0418-363F-7D6C-E2B8-D07A75AFAF28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3741292" y="3027900"/>
            <a:ext cx="199291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C0FBF7B3-94BA-729D-C965-44D43720D3BD}"/>
              </a:ext>
            </a:extLst>
          </p:cNvPr>
          <p:cNvCxnSpPr>
            <a:cxnSpLocks/>
          </p:cNvCxnSpPr>
          <p:nvPr/>
        </p:nvCxnSpPr>
        <p:spPr>
          <a:xfrm>
            <a:off x="3747155" y="2458373"/>
            <a:ext cx="0" cy="2948951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3BDC8342-9C0C-475C-0ECB-1DCB8095EBD6}"/>
              </a:ext>
            </a:extLst>
          </p:cNvPr>
          <p:cNvSpPr/>
          <p:nvPr/>
        </p:nvSpPr>
        <p:spPr>
          <a:xfrm>
            <a:off x="1475788" y="4837797"/>
            <a:ext cx="1931396" cy="320468"/>
          </a:xfrm>
          <a:prstGeom prst="rect">
            <a:avLst/>
          </a:prstGeom>
          <a:solidFill>
            <a:schemeClr val="bg1"/>
          </a:solidFill>
          <a:ln w="254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/>
                </a:solidFill>
              </a:rPr>
              <a:t>시즌패스</a:t>
            </a:r>
            <a:r>
              <a:rPr lang="en-US" altLang="ko-KR" sz="1100" dirty="0">
                <a:solidFill>
                  <a:schemeClr val="tx1"/>
                </a:solidFill>
              </a:rPr>
              <a:t>/</a:t>
            </a:r>
            <a:r>
              <a:rPr lang="ko-KR" altLang="en-US" sz="1100" dirty="0" err="1">
                <a:solidFill>
                  <a:schemeClr val="tx1"/>
                </a:solidFill>
              </a:rPr>
              <a:t>배틀패스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66A17F69-0782-A360-B634-9A631DE1BA2B}"/>
              </a:ext>
            </a:extLst>
          </p:cNvPr>
          <p:cNvSpPr/>
          <p:nvPr/>
        </p:nvSpPr>
        <p:spPr>
          <a:xfrm>
            <a:off x="1475788" y="5247090"/>
            <a:ext cx="1931396" cy="320468"/>
          </a:xfrm>
          <a:prstGeom prst="rect">
            <a:avLst/>
          </a:prstGeom>
          <a:solidFill>
            <a:schemeClr val="bg1"/>
          </a:solidFill>
          <a:ln w="254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 err="1">
                <a:solidFill>
                  <a:schemeClr val="tx1"/>
                </a:solidFill>
              </a:rPr>
              <a:t>온보딩</a:t>
            </a:r>
            <a:r>
              <a:rPr lang="ko-KR" altLang="en-US" sz="1100" dirty="0">
                <a:solidFill>
                  <a:schemeClr val="tx1"/>
                </a:solidFill>
              </a:rPr>
              <a:t> 패키지</a:t>
            </a:r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6CC9DB19-96DA-417C-8652-49C20D434A0C}"/>
              </a:ext>
            </a:extLst>
          </p:cNvPr>
          <p:cNvCxnSpPr>
            <a:cxnSpLocks/>
          </p:cNvCxnSpPr>
          <p:nvPr/>
        </p:nvCxnSpPr>
        <p:spPr>
          <a:xfrm flipH="1">
            <a:off x="1156343" y="5407324"/>
            <a:ext cx="328244" cy="0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0D5E9AE7-7180-4408-0109-B28CD1897750}"/>
              </a:ext>
            </a:extLst>
          </p:cNvPr>
          <p:cNvCxnSpPr>
            <a:cxnSpLocks/>
          </p:cNvCxnSpPr>
          <p:nvPr/>
        </p:nvCxnSpPr>
        <p:spPr>
          <a:xfrm flipH="1">
            <a:off x="1156343" y="4998031"/>
            <a:ext cx="328244" cy="0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7AB233E5-8265-272E-3F2C-FDF508D5C753}"/>
              </a:ext>
            </a:extLst>
          </p:cNvPr>
          <p:cNvCxnSpPr>
            <a:cxnSpLocks/>
          </p:cNvCxnSpPr>
          <p:nvPr/>
        </p:nvCxnSpPr>
        <p:spPr>
          <a:xfrm flipH="1">
            <a:off x="3413048" y="5407324"/>
            <a:ext cx="328244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A8AB126B-AB79-240C-7B3D-9B9328995E85}"/>
              </a:ext>
            </a:extLst>
          </p:cNvPr>
          <p:cNvCxnSpPr>
            <a:cxnSpLocks/>
          </p:cNvCxnSpPr>
          <p:nvPr/>
        </p:nvCxnSpPr>
        <p:spPr>
          <a:xfrm flipH="1">
            <a:off x="3413048" y="4998031"/>
            <a:ext cx="328244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7EEE1753-35BA-EC6A-3E66-6B62232931D4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1757151" y="1780075"/>
            <a:ext cx="640379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D803DE54-68E8-BCFC-B628-FB5B56486FAF}"/>
              </a:ext>
            </a:extLst>
          </p:cNvPr>
          <p:cNvCxnSpPr>
            <a:cxnSpLocks/>
            <a:endCxn id="3" idx="3"/>
          </p:cNvCxnSpPr>
          <p:nvPr/>
        </p:nvCxnSpPr>
        <p:spPr>
          <a:xfrm flipH="1">
            <a:off x="3710504" y="1780075"/>
            <a:ext cx="655042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F8C10C31-9655-A0E7-0E66-2AC36ADE1398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4365546" y="1780075"/>
            <a:ext cx="0" cy="35783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6C38126A-EE84-741A-3996-B7029DF20E74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1757151" y="1780075"/>
            <a:ext cx="0" cy="35783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0A7D83D9-916F-0611-34E4-04D12DD1FAC0}"/>
              </a:ext>
            </a:extLst>
          </p:cNvPr>
          <p:cNvSpPr txBox="1"/>
          <p:nvPr/>
        </p:nvSpPr>
        <p:spPr>
          <a:xfrm>
            <a:off x="6096000" y="1401009"/>
            <a:ext cx="5658863" cy="4055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/>
              <a:t>유료 상품을 크게 세 가지로 분류했습니다</a:t>
            </a:r>
            <a:r>
              <a:rPr lang="en-US" altLang="ko-KR" sz="1400" b="1" dirty="0"/>
              <a:t>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00" b="1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00" b="1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b="1" dirty="0">
                <a:highlight>
                  <a:srgbClr val="FFE4B3"/>
                </a:highlight>
              </a:rPr>
              <a:t>성능</a:t>
            </a:r>
            <a:r>
              <a:rPr lang="ko-KR" altLang="en-US" sz="1400" b="1" dirty="0"/>
              <a:t> </a:t>
            </a:r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</a:rPr>
              <a:t>수직적 디자인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</a:endParaRPr>
          </a:p>
          <a:p>
            <a:pPr lvl="1">
              <a:lnSpc>
                <a:spcPct val="150000"/>
              </a:lnSpc>
            </a:pPr>
            <a:r>
              <a:rPr lang="ko-KR" altLang="en-US" sz="1100" dirty="0"/>
              <a:t>수집</a:t>
            </a:r>
            <a:r>
              <a:rPr lang="en-US" altLang="ko-KR" sz="1100" dirty="0"/>
              <a:t>/</a:t>
            </a:r>
            <a:r>
              <a:rPr lang="ko-KR" altLang="en-US" sz="1100" dirty="0"/>
              <a:t>성장</a:t>
            </a:r>
            <a:r>
              <a:rPr lang="en-US" altLang="ko-KR" sz="1100" dirty="0"/>
              <a:t>/</a:t>
            </a:r>
            <a:r>
              <a:rPr lang="ko-KR" altLang="en-US" sz="1100" dirty="0"/>
              <a:t>경쟁 욕구를 충족 시켜주는</a:t>
            </a:r>
            <a:endParaRPr lang="en-US" altLang="ko-KR" sz="1100" dirty="0"/>
          </a:p>
          <a:p>
            <a:pPr lvl="1">
              <a:lnSpc>
                <a:spcPct val="150000"/>
              </a:lnSpc>
            </a:pPr>
            <a:r>
              <a:rPr lang="ko-KR" altLang="en-US" sz="1100" dirty="0"/>
              <a:t>원활한 컨텐츠 소비를 돕는 상품</a:t>
            </a:r>
            <a:endParaRPr lang="en-US" altLang="ko-KR" sz="1100" dirty="0"/>
          </a:p>
          <a:p>
            <a:pPr lvl="1">
              <a:lnSpc>
                <a:spcPct val="150000"/>
              </a:lnSpc>
            </a:pPr>
            <a:endParaRPr lang="en-US" altLang="ko-KR" sz="12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b="1" dirty="0">
                <a:highlight>
                  <a:srgbClr val="CCECFF"/>
                </a:highlight>
              </a:rPr>
              <a:t>감성</a:t>
            </a:r>
            <a:r>
              <a:rPr lang="ko-KR" altLang="en-US" sz="1200" b="1" dirty="0"/>
              <a:t> </a:t>
            </a:r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</a:rPr>
              <a:t>수평적 디자인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</a:endParaRPr>
          </a:p>
          <a:p>
            <a:pPr lvl="1">
              <a:lnSpc>
                <a:spcPct val="150000"/>
              </a:lnSpc>
            </a:pPr>
            <a:r>
              <a:rPr lang="ko-KR" altLang="en-US" sz="1100" dirty="0"/>
              <a:t>치장 아이템 같은</a:t>
            </a:r>
            <a:endParaRPr lang="en-US" altLang="ko-KR" sz="1100" dirty="0"/>
          </a:p>
          <a:p>
            <a:pPr lvl="1">
              <a:lnSpc>
                <a:spcPct val="150000"/>
              </a:lnSpc>
            </a:pPr>
            <a:r>
              <a:rPr lang="ko-KR" altLang="en-US" sz="1100" dirty="0"/>
              <a:t>컨텐츠 소비 외의 보조 요소 상품</a:t>
            </a:r>
            <a:endParaRPr lang="en-US" altLang="ko-KR" sz="1100" dirty="0"/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b="1" dirty="0">
                <a:highlight>
                  <a:srgbClr val="E4D2F2"/>
                </a:highlight>
              </a:rPr>
              <a:t>복합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성능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감성 상품의 결합 판매</a:t>
            </a:r>
            <a:endParaRPr lang="en-US" altLang="ko-KR" sz="1200" dirty="0"/>
          </a:p>
          <a:p>
            <a:pPr lvl="1">
              <a:lnSpc>
                <a:spcPct val="150000"/>
              </a:lnSpc>
            </a:pPr>
            <a:r>
              <a:rPr lang="ko-KR" altLang="en-US" sz="1100" dirty="0"/>
              <a:t>위의 두 가지 방향성의 아이템을 모두 포함하는 고효율 상품</a:t>
            </a:r>
            <a:endParaRPr lang="en-US" altLang="ko-KR" sz="1100" dirty="0"/>
          </a:p>
          <a:p>
            <a:pPr lvl="1">
              <a:lnSpc>
                <a:spcPct val="150000"/>
              </a:lnSpc>
            </a:pP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타 아이템을 기준점으로 삼았을 때 최고 효율의 상품</a:t>
            </a:r>
            <a:endParaRPr lang="en-US" altLang="ko-KR" sz="12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724290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2ACBD-9D86-5AA4-C170-EE41538BA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A00DD6E-89AA-AA12-FB48-13BE7EA1E3D9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유료 상품 분석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2025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년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9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월 기준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6A430D-204F-0B2C-575A-33DA1AE9E825}"/>
              </a:ext>
            </a:extLst>
          </p:cNvPr>
          <p:cNvSpPr txBox="1"/>
          <p:nvPr/>
        </p:nvSpPr>
        <p:spPr>
          <a:xfrm>
            <a:off x="6096000" y="457906"/>
            <a:ext cx="5003820" cy="4330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highlight>
                  <a:srgbClr val="FFE4B3"/>
                </a:highlight>
              </a:rPr>
              <a:t>성능 아이템</a:t>
            </a:r>
            <a:endParaRPr lang="en-US" altLang="ko-KR" sz="1400" b="1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200" b="1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/>
              <a:t>설계 의도</a:t>
            </a:r>
            <a:endParaRPr lang="en-US" altLang="ko-KR" sz="1200" b="1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dirty="0"/>
              <a:t>유저별로 컨텐츠 소비량 및 보상을 차등화 하여</a:t>
            </a:r>
            <a:br>
              <a:rPr lang="en-US" altLang="ko-KR" sz="1100" dirty="0"/>
            </a:br>
            <a:r>
              <a:rPr lang="ko-KR" altLang="en-US" sz="1100" dirty="0"/>
              <a:t>상위 유저들에게 결제 시 만족감을 제공하며</a:t>
            </a:r>
            <a:br>
              <a:rPr lang="en-US" altLang="ko-KR" sz="1100" dirty="0"/>
            </a:br>
            <a:r>
              <a:rPr lang="ko-KR" altLang="en-US" sz="1100" dirty="0"/>
              <a:t>하위 유저들은 상위 유저를 보며</a:t>
            </a:r>
            <a:br>
              <a:rPr lang="en-US" altLang="ko-KR" sz="1100" dirty="0"/>
            </a:br>
            <a:r>
              <a:rPr lang="ko-KR" altLang="en-US" sz="1100" dirty="0"/>
              <a:t>컨텐츠 소비 관련 구매욕을 느끼게 한다</a:t>
            </a:r>
            <a:r>
              <a:rPr lang="en-US" altLang="ko-KR" sz="1100" dirty="0"/>
              <a:t>.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2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/>
              <a:t>타겟</a:t>
            </a:r>
            <a:endParaRPr lang="en-US" altLang="ko-KR" sz="1200" b="1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dirty="0"/>
              <a:t>컨텐츠를 빨리</a:t>
            </a:r>
            <a:r>
              <a:rPr lang="en-US" altLang="ko-KR" sz="1100" dirty="0"/>
              <a:t>/</a:t>
            </a:r>
            <a:r>
              <a:rPr lang="ko-KR" altLang="en-US" sz="1100" dirty="0"/>
              <a:t>많이 소비하고 싶거나</a:t>
            </a:r>
            <a:br>
              <a:rPr lang="en-US" altLang="ko-KR" sz="1100" dirty="0"/>
            </a:br>
            <a:r>
              <a:rPr lang="ko-KR" altLang="en-US" sz="1100" dirty="0"/>
              <a:t>남들보다 앞서고 싶은 유저</a:t>
            </a:r>
            <a:endParaRPr lang="en-US" altLang="ko-KR" sz="1100" dirty="0"/>
          </a:p>
          <a:p>
            <a:pPr lvl="1">
              <a:lnSpc>
                <a:spcPct val="150000"/>
              </a:lnSpc>
            </a:pPr>
            <a:endParaRPr lang="en-US" altLang="ko-KR" sz="12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/>
              <a:t>첫 판매 전략</a:t>
            </a:r>
            <a:endParaRPr lang="en-US" altLang="ko-KR" sz="1200" b="1" dirty="0"/>
          </a:p>
          <a:p>
            <a:pPr marL="628650" marR="0" lvl="1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게임 초반에 캐릭터 빌리기 등으로 과금 유저 노출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628650" marR="0" lvl="1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캐릭터 첫 획득 시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/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스테이지 패배 시</a:t>
            </a:r>
            <a:b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기간 한정 팝업 할인 패키지 판매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B90D4A7-74C3-DA0E-770C-25D2138BA130}"/>
              </a:ext>
            </a:extLst>
          </p:cNvPr>
          <p:cNvSpPr/>
          <p:nvPr/>
        </p:nvSpPr>
        <p:spPr>
          <a:xfrm>
            <a:off x="2397530" y="1515141"/>
            <a:ext cx="1312974" cy="53308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chemeClr val="tx1"/>
                </a:solidFill>
              </a:rPr>
              <a:t>유료 상품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CE89161-BFA0-C428-1B67-3C863F3A7059}"/>
              </a:ext>
            </a:extLst>
          </p:cNvPr>
          <p:cNvSpPr/>
          <p:nvPr/>
        </p:nvSpPr>
        <p:spPr>
          <a:xfrm>
            <a:off x="1012735" y="2139511"/>
            <a:ext cx="1488832" cy="32046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>
                <a:solidFill>
                  <a:schemeClr val="bg1"/>
                </a:solidFill>
              </a:rPr>
              <a:t>성능</a:t>
            </a:r>
            <a:endParaRPr lang="ko-KR" altLang="en-US" sz="2000" b="1" dirty="0">
              <a:solidFill>
                <a:schemeClr val="bg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5FEE4E2-2600-8AD6-8618-5749EF9F19E9}"/>
              </a:ext>
            </a:extLst>
          </p:cNvPr>
          <p:cNvSpPr/>
          <p:nvPr/>
        </p:nvSpPr>
        <p:spPr>
          <a:xfrm>
            <a:off x="3621130" y="2139511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5">
                <a:lumMod val="75000"/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bg1">
                    <a:lumMod val="65000"/>
                  </a:schemeClr>
                </a:solidFill>
              </a:rPr>
              <a:t>감성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FFEF1BF-9628-B47F-BE67-EA19CC25504C}"/>
              </a:ext>
            </a:extLst>
          </p:cNvPr>
          <p:cNvSpPr/>
          <p:nvPr/>
        </p:nvSpPr>
        <p:spPr>
          <a:xfrm>
            <a:off x="1340979" y="2869272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/>
                </a:solidFill>
              </a:rPr>
              <a:t>재화</a:t>
            </a:r>
            <a:r>
              <a:rPr lang="en-US" altLang="ko-KR" sz="1100" dirty="0">
                <a:solidFill>
                  <a:schemeClr val="tx1"/>
                </a:solidFill>
              </a:rPr>
              <a:t>/</a:t>
            </a:r>
            <a:r>
              <a:rPr lang="ko-KR" altLang="en-US" sz="1100" dirty="0">
                <a:solidFill>
                  <a:schemeClr val="tx1"/>
                </a:solidFill>
              </a:rPr>
              <a:t>자원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39CD95F-78AE-39C9-C798-E4FAE49E34C2}"/>
              </a:ext>
            </a:extLst>
          </p:cNvPr>
          <p:cNvSpPr/>
          <p:nvPr/>
        </p:nvSpPr>
        <p:spPr>
          <a:xfrm>
            <a:off x="1340979" y="3278565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/>
                </a:solidFill>
              </a:rPr>
              <a:t>가챠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66C0079-4FBF-1C23-21C5-A01B5F18CFB5}"/>
              </a:ext>
            </a:extLst>
          </p:cNvPr>
          <p:cNvSpPr/>
          <p:nvPr/>
        </p:nvSpPr>
        <p:spPr>
          <a:xfrm>
            <a:off x="1340979" y="3692022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/>
                </a:solidFill>
              </a:rPr>
              <a:t>성장 가속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0BAC5F4-9E2A-1375-79E0-53648321A5FC}"/>
              </a:ext>
            </a:extLst>
          </p:cNvPr>
          <p:cNvSpPr/>
          <p:nvPr/>
        </p:nvSpPr>
        <p:spPr>
          <a:xfrm>
            <a:off x="1340979" y="4105479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/>
                </a:solidFill>
              </a:rPr>
              <a:t>편의 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시간 단축 등</a:t>
            </a:r>
            <a:r>
              <a:rPr lang="en-US" altLang="ko-KR" sz="1100" dirty="0">
                <a:solidFill>
                  <a:schemeClr val="tx1"/>
                </a:solidFill>
              </a:rPr>
              <a:t>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10DAF11-7DA3-16F4-5D77-92513903F745}"/>
              </a:ext>
            </a:extLst>
          </p:cNvPr>
          <p:cNvSpPr/>
          <p:nvPr/>
        </p:nvSpPr>
        <p:spPr>
          <a:xfrm>
            <a:off x="3940583" y="2869272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5">
                <a:lumMod val="75000"/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</a:rPr>
              <a:t>코디</a:t>
            </a: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</a:rPr>
              <a:t>스킨 수집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90B19508-07ED-EC49-5FFA-48D74A15A910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1156343" y="3029506"/>
            <a:ext cx="184636" cy="0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2649FA66-2198-919C-4CE8-5D0FDACA7047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1156343" y="3438799"/>
            <a:ext cx="184636" cy="0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D615578D-80F7-1F41-9423-5A352D377730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1156343" y="3852256"/>
            <a:ext cx="184636" cy="0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BB7FD95F-E419-99C5-1D23-3220AA1F77D5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1156343" y="4265713"/>
            <a:ext cx="184636" cy="0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722663C5-92F2-5C41-5353-18BE91F2A393}"/>
              </a:ext>
            </a:extLst>
          </p:cNvPr>
          <p:cNvCxnSpPr>
            <a:cxnSpLocks/>
          </p:cNvCxnSpPr>
          <p:nvPr/>
        </p:nvCxnSpPr>
        <p:spPr>
          <a:xfrm>
            <a:off x="1156343" y="2459979"/>
            <a:ext cx="0" cy="2948951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ED53C068-E9FC-C422-4A44-FBD081BB2C04}"/>
              </a:ext>
            </a:extLst>
          </p:cNvPr>
          <p:cNvCxnSpPr>
            <a:cxnSpLocks/>
            <a:stCxn id="20" idx="1"/>
          </p:cNvCxnSpPr>
          <p:nvPr/>
        </p:nvCxnSpPr>
        <p:spPr>
          <a:xfrm flipH="1">
            <a:off x="3741292" y="3029506"/>
            <a:ext cx="199291" cy="0"/>
          </a:xfrm>
          <a:prstGeom prst="line">
            <a:avLst/>
          </a:prstGeom>
          <a:ln w="25400">
            <a:solidFill>
              <a:schemeClr val="accent5">
                <a:lumMod val="75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7E4C5974-EC6C-705E-8818-10382507AA41}"/>
              </a:ext>
            </a:extLst>
          </p:cNvPr>
          <p:cNvCxnSpPr>
            <a:cxnSpLocks/>
          </p:cNvCxnSpPr>
          <p:nvPr/>
        </p:nvCxnSpPr>
        <p:spPr>
          <a:xfrm>
            <a:off x="3747155" y="2459979"/>
            <a:ext cx="0" cy="2948951"/>
          </a:xfrm>
          <a:prstGeom prst="line">
            <a:avLst/>
          </a:prstGeom>
          <a:ln w="25400">
            <a:solidFill>
              <a:schemeClr val="accent5">
                <a:lumMod val="75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DA70646-49DE-2346-B6DB-74FD6C5AB708}"/>
              </a:ext>
            </a:extLst>
          </p:cNvPr>
          <p:cNvSpPr/>
          <p:nvPr/>
        </p:nvSpPr>
        <p:spPr>
          <a:xfrm>
            <a:off x="1475788" y="4839403"/>
            <a:ext cx="1931396" cy="320468"/>
          </a:xfrm>
          <a:prstGeom prst="rect">
            <a:avLst/>
          </a:prstGeom>
          <a:solidFill>
            <a:schemeClr val="bg1"/>
          </a:solidFill>
          <a:ln w="25400">
            <a:solidFill>
              <a:srgbClr val="7030A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</a:rPr>
              <a:t>시즌패스</a:t>
            </a: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ko-KR" altLang="en-US" sz="1100" dirty="0" err="1">
                <a:solidFill>
                  <a:schemeClr val="bg1">
                    <a:lumMod val="65000"/>
                  </a:schemeClr>
                </a:solidFill>
              </a:rPr>
              <a:t>배틀패스</a:t>
            </a:r>
            <a:endParaRPr lang="ko-KR" altLang="en-US" sz="11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44F2A1F-E04A-16F3-4275-2CD7B39E56D9}"/>
              </a:ext>
            </a:extLst>
          </p:cNvPr>
          <p:cNvSpPr/>
          <p:nvPr/>
        </p:nvSpPr>
        <p:spPr>
          <a:xfrm>
            <a:off x="1475788" y="5248696"/>
            <a:ext cx="1931396" cy="320468"/>
          </a:xfrm>
          <a:prstGeom prst="rect">
            <a:avLst/>
          </a:prstGeom>
          <a:solidFill>
            <a:schemeClr val="bg1"/>
          </a:solidFill>
          <a:ln w="25400">
            <a:solidFill>
              <a:srgbClr val="7030A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 err="1">
                <a:solidFill>
                  <a:schemeClr val="bg1">
                    <a:lumMod val="65000"/>
                  </a:schemeClr>
                </a:solidFill>
              </a:rPr>
              <a:t>온보딩</a:t>
            </a:r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</a:rPr>
              <a:t> 패키지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47B79F80-B2C2-6469-2418-B188A50E3B23}"/>
              </a:ext>
            </a:extLst>
          </p:cNvPr>
          <p:cNvCxnSpPr>
            <a:cxnSpLocks/>
          </p:cNvCxnSpPr>
          <p:nvPr/>
        </p:nvCxnSpPr>
        <p:spPr>
          <a:xfrm flipH="1">
            <a:off x="1156343" y="5408930"/>
            <a:ext cx="328244" cy="0"/>
          </a:xfrm>
          <a:prstGeom prst="line">
            <a:avLst/>
          </a:prstGeom>
          <a:ln w="25400">
            <a:solidFill>
              <a:schemeClr val="accent2">
                <a:lumMod val="75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3E0A2399-AFE8-81EF-3403-991BE6852E34}"/>
              </a:ext>
            </a:extLst>
          </p:cNvPr>
          <p:cNvCxnSpPr>
            <a:cxnSpLocks/>
          </p:cNvCxnSpPr>
          <p:nvPr/>
        </p:nvCxnSpPr>
        <p:spPr>
          <a:xfrm flipH="1">
            <a:off x="1156343" y="4999637"/>
            <a:ext cx="328244" cy="0"/>
          </a:xfrm>
          <a:prstGeom prst="line">
            <a:avLst/>
          </a:prstGeom>
          <a:ln w="25400">
            <a:solidFill>
              <a:schemeClr val="accent2">
                <a:lumMod val="75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FAB2D177-BE09-106B-BAEB-107F113ED2FA}"/>
              </a:ext>
            </a:extLst>
          </p:cNvPr>
          <p:cNvCxnSpPr>
            <a:cxnSpLocks/>
          </p:cNvCxnSpPr>
          <p:nvPr/>
        </p:nvCxnSpPr>
        <p:spPr>
          <a:xfrm flipH="1">
            <a:off x="3413048" y="5408930"/>
            <a:ext cx="328244" cy="0"/>
          </a:xfrm>
          <a:prstGeom prst="line">
            <a:avLst/>
          </a:prstGeom>
          <a:ln w="25400">
            <a:solidFill>
              <a:schemeClr val="accent5">
                <a:lumMod val="75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5796253E-BCD1-1900-C6B5-176C4A2E6E7D}"/>
              </a:ext>
            </a:extLst>
          </p:cNvPr>
          <p:cNvCxnSpPr>
            <a:cxnSpLocks/>
          </p:cNvCxnSpPr>
          <p:nvPr/>
        </p:nvCxnSpPr>
        <p:spPr>
          <a:xfrm flipH="1">
            <a:off x="3413048" y="4999637"/>
            <a:ext cx="328244" cy="0"/>
          </a:xfrm>
          <a:prstGeom prst="line">
            <a:avLst/>
          </a:prstGeom>
          <a:ln w="25400">
            <a:solidFill>
              <a:schemeClr val="accent5">
                <a:lumMod val="75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BA30F307-2A05-9D6A-45AB-372BDDE00E86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1757151" y="1781681"/>
            <a:ext cx="640379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799E25AA-BF5F-0E06-FAD4-361C7C1C3B8D}"/>
              </a:ext>
            </a:extLst>
          </p:cNvPr>
          <p:cNvCxnSpPr>
            <a:cxnSpLocks/>
            <a:endCxn id="13" idx="3"/>
          </p:cNvCxnSpPr>
          <p:nvPr/>
        </p:nvCxnSpPr>
        <p:spPr>
          <a:xfrm flipH="1">
            <a:off x="3710504" y="1781681"/>
            <a:ext cx="655042" cy="0"/>
          </a:xfrm>
          <a:prstGeom prst="line">
            <a:avLst/>
          </a:prstGeom>
          <a:ln w="25400">
            <a:solidFill>
              <a:schemeClr val="bg1">
                <a:lumMod val="50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D41A362D-D0AD-5230-238F-0416AB7BF3EA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4365546" y="1781681"/>
            <a:ext cx="0" cy="357830"/>
          </a:xfrm>
          <a:prstGeom prst="line">
            <a:avLst/>
          </a:prstGeom>
          <a:ln w="25400">
            <a:solidFill>
              <a:schemeClr val="bg1">
                <a:lumMod val="50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B0000A74-7C88-A3D6-7593-2307FF578A6D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1757151" y="1781681"/>
            <a:ext cx="0" cy="35783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2F55B47-BEC3-D8F6-7F58-7AA704F6BC77}"/>
              </a:ext>
            </a:extLst>
          </p:cNvPr>
          <p:cNvSpPr/>
          <p:nvPr/>
        </p:nvSpPr>
        <p:spPr>
          <a:xfrm>
            <a:off x="908699" y="2092626"/>
            <a:ext cx="2057388" cy="2390718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5" name="그래픽 44" descr="사용자">
            <a:extLst>
              <a:ext uri="{FF2B5EF4-FFF2-40B4-BE49-F238E27FC236}">
                <a16:creationId xmlns:a16="http://schemas.microsoft.com/office/drawing/2014/main" id="{45917032-A49C-412E-D10A-76D94326B5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19445" y="5514682"/>
            <a:ext cx="1315770" cy="1315770"/>
          </a:xfrm>
          <a:prstGeom prst="rect">
            <a:avLst/>
          </a:prstGeom>
        </p:spPr>
      </p:pic>
      <p:pic>
        <p:nvPicPr>
          <p:cNvPr id="48" name="그래픽 47" descr="돈 봉투">
            <a:extLst>
              <a:ext uri="{FF2B5EF4-FFF2-40B4-BE49-F238E27FC236}">
                <a16:creationId xmlns:a16="http://schemas.microsoft.com/office/drawing/2014/main" id="{A4426877-2AB4-3C60-1C7F-A87D4594ED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33979" y="5898823"/>
            <a:ext cx="914400" cy="914400"/>
          </a:xfrm>
          <a:prstGeom prst="rect">
            <a:avLst/>
          </a:prstGeom>
        </p:spPr>
      </p:pic>
      <p:sp>
        <p:nvSpPr>
          <p:cNvPr id="49" name="현 48">
            <a:extLst>
              <a:ext uri="{FF2B5EF4-FFF2-40B4-BE49-F238E27FC236}">
                <a16:creationId xmlns:a16="http://schemas.microsoft.com/office/drawing/2014/main" id="{4CA03FEB-AA0D-65D0-DA12-8A88188C4E3B}"/>
              </a:ext>
            </a:extLst>
          </p:cNvPr>
          <p:cNvSpPr/>
          <p:nvPr/>
        </p:nvSpPr>
        <p:spPr>
          <a:xfrm rot="16200000">
            <a:off x="7371705" y="5890398"/>
            <a:ext cx="211250" cy="211250"/>
          </a:xfrm>
          <a:prstGeom prst="chord">
            <a:avLst>
              <a:gd name="adj1" fmla="val 5393729"/>
              <a:gd name="adj2" fmla="val 1620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0" name="그래픽 49" descr="사용자">
            <a:extLst>
              <a:ext uri="{FF2B5EF4-FFF2-40B4-BE49-F238E27FC236}">
                <a16:creationId xmlns:a16="http://schemas.microsoft.com/office/drawing/2014/main" id="{39D3ED43-3822-1158-A051-A0DB7A78EE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13647" y="5817948"/>
            <a:ext cx="959063" cy="959063"/>
          </a:xfrm>
          <a:prstGeom prst="rect">
            <a:avLst/>
          </a:prstGeom>
        </p:spPr>
      </p:pic>
      <p:sp>
        <p:nvSpPr>
          <p:cNvPr id="51" name="화살표: 아래쪽 50">
            <a:extLst>
              <a:ext uri="{FF2B5EF4-FFF2-40B4-BE49-F238E27FC236}">
                <a16:creationId xmlns:a16="http://schemas.microsoft.com/office/drawing/2014/main" id="{AD1EF5D8-4236-39EA-1552-4C470DD1B668}"/>
              </a:ext>
            </a:extLst>
          </p:cNvPr>
          <p:cNvSpPr/>
          <p:nvPr/>
        </p:nvSpPr>
        <p:spPr>
          <a:xfrm rot="10800000">
            <a:off x="6858541" y="5438971"/>
            <a:ext cx="328242" cy="662677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화살표: 아래쪽 51">
            <a:extLst>
              <a:ext uri="{FF2B5EF4-FFF2-40B4-BE49-F238E27FC236}">
                <a16:creationId xmlns:a16="http://schemas.microsoft.com/office/drawing/2014/main" id="{4CFFF5C9-4331-FA34-80A9-DAB9843EEF05}"/>
              </a:ext>
            </a:extLst>
          </p:cNvPr>
          <p:cNvSpPr/>
          <p:nvPr/>
        </p:nvSpPr>
        <p:spPr>
          <a:xfrm rot="10800000">
            <a:off x="7757276" y="5770310"/>
            <a:ext cx="203618" cy="411077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화살표: 아래쪽 52">
            <a:extLst>
              <a:ext uri="{FF2B5EF4-FFF2-40B4-BE49-F238E27FC236}">
                <a16:creationId xmlns:a16="http://schemas.microsoft.com/office/drawing/2014/main" id="{72C4078D-B8C9-250C-A970-391CDD5F33E3}"/>
              </a:ext>
            </a:extLst>
          </p:cNvPr>
          <p:cNvSpPr/>
          <p:nvPr/>
        </p:nvSpPr>
        <p:spPr>
          <a:xfrm rot="10800000">
            <a:off x="7483206" y="5254983"/>
            <a:ext cx="158738" cy="320471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말풍선: 모서리가 둥근 사각형 53">
            <a:extLst>
              <a:ext uri="{FF2B5EF4-FFF2-40B4-BE49-F238E27FC236}">
                <a16:creationId xmlns:a16="http://schemas.microsoft.com/office/drawing/2014/main" id="{D8D2C693-B639-FCEF-20FD-3CCAA0D93C56}"/>
              </a:ext>
            </a:extLst>
          </p:cNvPr>
          <p:cNvSpPr/>
          <p:nvPr/>
        </p:nvSpPr>
        <p:spPr>
          <a:xfrm>
            <a:off x="4984504" y="4999637"/>
            <a:ext cx="1742480" cy="984971"/>
          </a:xfrm>
          <a:prstGeom prst="wedgeRoundRectCallout">
            <a:avLst>
              <a:gd name="adj1" fmla="val 56763"/>
              <a:gd name="adj2" fmla="val 75488"/>
              <a:gd name="adj3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</a:rPr>
              <a:t>컨텐츠도 할 게 많고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</a:rPr>
              <a:t>보상도 많이 주니까</a:t>
            </a:r>
            <a:br>
              <a:rPr lang="en-US" altLang="ko-KR" sz="1100" dirty="0">
                <a:solidFill>
                  <a:schemeClr val="tx1"/>
                </a:solidFill>
              </a:rPr>
            </a:br>
            <a:r>
              <a:rPr lang="ko-KR" altLang="en-US" sz="1100" dirty="0">
                <a:solidFill>
                  <a:schemeClr val="tx1"/>
                </a:solidFill>
              </a:rPr>
              <a:t>진짜 재밌네</a:t>
            </a:r>
            <a:r>
              <a:rPr lang="en-US" altLang="ko-KR" sz="1100" dirty="0">
                <a:solidFill>
                  <a:schemeClr val="tx1"/>
                </a:solidFill>
              </a:rPr>
              <a:t>!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46B3E200-1246-EE80-473A-D0FC0CE69869}"/>
              </a:ext>
            </a:extLst>
          </p:cNvPr>
          <p:cNvSpPr/>
          <p:nvPr/>
        </p:nvSpPr>
        <p:spPr>
          <a:xfrm>
            <a:off x="9293178" y="5159871"/>
            <a:ext cx="1742479" cy="486852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나도 좀만 지를까</a:t>
            </a:r>
            <a:r>
              <a:rPr lang="en-US" altLang="ko-KR" sz="1200" dirty="0">
                <a:solidFill>
                  <a:schemeClr val="tx1"/>
                </a:solidFill>
              </a:rPr>
              <a:t>……?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2088E688-C363-4B1D-0674-10662405DB41}"/>
              </a:ext>
            </a:extLst>
          </p:cNvPr>
          <p:cNvSpPr/>
          <p:nvPr/>
        </p:nvSpPr>
        <p:spPr>
          <a:xfrm>
            <a:off x="9729132" y="5791432"/>
            <a:ext cx="144000" cy="144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6F63561C-9CE2-7A5F-DF5C-77AD56BDC747}"/>
              </a:ext>
            </a:extLst>
          </p:cNvPr>
          <p:cNvSpPr/>
          <p:nvPr/>
        </p:nvSpPr>
        <p:spPr>
          <a:xfrm>
            <a:off x="9592927" y="5996022"/>
            <a:ext cx="72000" cy="72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2400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A7450-1C0B-8629-D89A-678E23353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B49D081-DF50-C523-58D0-0E0D786C6577}"/>
              </a:ext>
            </a:extLst>
          </p:cNvPr>
          <p:cNvSpPr txBox="1"/>
          <p:nvPr/>
        </p:nvSpPr>
        <p:spPr>
          <a:xfrm>
            <a:off x="6096000" y="457906"/>
            <a:ext cx="5003820" cy="4330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highlight>
                  <a:srgbClr val="CCECFF"/>
                </a:highlight>
              </a:rPr>
              <a:t>감성 아이템</a:t>
            </a:r>
            <a:endParaRPr lang="en-US" altLang="ko-KR" sz="1400" b="1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200" b="1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/>
              <a:t>설계 의도</a:t>
            </a:r>
            <a:endParaRPr lang="en-US" altLang="ko-KR" sz="1200" b="1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dirty="0"/>
              <a:t>캐릭터 외형 또는 영지를 꾸미면서</a:t>
            </a:r>
            <a:br>
              <a:rPr lang="en-US" altLang="ko-KR" sz="1100" dirty="0"/>
            </a:br>
            <a:r>
              <a:rPr lang="ko-KR" altLang="en-US" sz="1100" dirty="0"/>
              <a:t>자기만족이나 과시욕이 생기는 유저들이</a:t>
            </a:r>
            <a:br>
              <a:rPr lang="en-US" altLang="ko-KR" sz="1100" dirty="0"/>
            </a:br>
            <a:r>
              <a:rPr lang="ko-KR" altLang="en-US" sz="1100" dirty="0"/>
              <a:t>유료 아이템을 소비할 수 있도록 하여 수익화 한다</a:t>
            </a:r>
            <a:r>
              <a:rPr lang="en-US" altLang="ko-KR" sz="1100" dirty="0"/>
              <a:t>.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2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/>
              <a:t>타겟</a:t>
            </a:r>
            <a:endParaRPr lang="en-US" altLang="ko-KR" sz="1200" b="1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dirty="0"/>
              <a:t>캐릭터 외형 </a:t>
            </a:r>
            <a:r>
              <a:rPr lang="en-US" altLang="ko-KR" sz="1100" dirty="0"/>
              <a:t>/ </a:t>
            </a:r>
            <a:r>
              <a:rPr lang="ko-KR" altLang="en-US" sz="1100" dirty="0"/>
              <a:t>기타 치장 아이템으로</a:t>
            </a:r>
            <a:br>
              <a:rPr lang="en-US" altLang="ko-KR" sz="1100" dirty="0"/>
            </a:br>
            <a:r>
              <a:rPr lang="ko-KR" altLang="en-US" sz="1100" dirty="0"/>
              <a:t>자기만족이나 과시욕을 충족하고 싶은 유저</a:t>
            </a:r>
            <a:endParaRPr lang="en-US" altLang="ko-KR" sz="1100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2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/>
              <a:t>첫 판매 전략</a:t>
            </a:r>
            <a:endParaRPr lang="en-US" altLang="ko-KR" sz="1200" b="1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100" dirty="0">
                <a:solidFill>
                  <a:prstClr val="black"/>
                </a:solidFill>
              </a:rPr>
              <a:t>게임 초반에 캐릭터 빌리기 및 영지 방문 등으로 과금 유저 노출 </a:t>
            </a:r>
            <a:endParaRPr lang="en-US" altLang="ko-KR" sz="1100" dirty="0">
              <a:solidFill>
                <a:prstClr val="black"/>
              </a:solidFill>
            </a:endParaRP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100" dirty="0">
                <a:solidFill>
                  <a:prstClr val="black"/>
                </a:solidFill>
              </a:rPr>
              <a:t>치장 컨텐츠의 튜토리얼 플레이 유도와 스펙화로</a:t>
            </a:r>
            <a:br>
              <a:rPr lang="en-US" altLang="ko-KR" sz="1100" dirty="0">
                <a:solidFill>
                  <a:prstClr val="black"/>
                </a:solidFill>
              </a:rPr>
            </a:br>
            <a:r>
              <a:rPr lang="ko-KR" altLang="en-US" sz="1100" dirty="0">
                <a:solidFill>
                  <a:prstClr val="black"/>
                </a:solidFill>
              </a:rPr>
              <a:t>치장을 해야 하는 상황을 자주 만들어</a:t>
            </a:r>
            <a:br>
              <a:rPr lang="en-US" altLang="ko-KR" sz="1100" dirty="0">
                <a:solidFill>
                  <a:prstClr val="black"/>
                </a:solidFill>
              </a:rPr>
            </a:br>
            <a:r>
              <a:rPr lang="ko-KR" altLang="en-US" sz="1100" dirty="0">
                <a:solidFill>
                  <a:prstClr val="black"/>
                </a:solidFill>
              </a:rPr>
              <a:t>비주얼의 중요성 강조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D3CA76B-D85E-9C85-E179-40A31581BE92}"/>
              </a:ext>
            </a:extLst>
          </p:cNvPr>
          <p:cNvSpPr/>
          <p:nvPr/>
        </p:nvSpPr>
        <p:spPr>
          <a:xfrm>
            <a:off x="2397530" y="1515141"/>
            <a:ext cx="1312974" cy="53308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chemeClr val="tx1"/>
                </a:solidFill>
              </a:rPr>
              <a:t>유료 상품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CE67CAA-9F71-00B0-B976-1660A1028A5D}"/>
              </a:ext>
            </a:extLst>
          </p:cNvPr>
          <p:cNvSpPr/>
          <p:nvPr/>
        </p:nvSpPr>
        <p:spPr>
          <a:xfrm>
            <a:off x="1012735" y="2139511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>
                <a:lumMod val="75000"/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>
                <a:solidFill>
                  <a:schemeClr val="bg1">
                    <a:lumMod val="65000"/>
                  </a:schemeClr>
                </a:solidFill>
              </a:rPr>
              <a:t>성능</a:t>
            </a:r>
            <a:endParaRPr lang="ko-KR" altLang="en-US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5B288A9-5E53-0A71-5E63-31FF5F0BE75D}"/>
              </a:ext>
            </a:extLst>
          </p:cNvPr>
          <p:cNvSpPr/>
          <p:nvPr/>
        </p:nvSpPr>
        <p:spPr>
          <a:xfrm>
            <a:off x="3621130" y="2139511"/>
            <a:ext cx="1488832" cy="320468"/>
          </a:xfrm>
          <a:prstGeom prst="rect">
            <a:avLst/>
          </a:prstGeom>
          <a:solidFill>
            <a:schemeClr val="accent5">
              <a:lumMod val="75000"/>
            </a:schemeClr>
          </a:solidFill>
          <a:ln w="254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</a:rPr>
              <a:t>감성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C146847-B52E-2156-F5B4-F889878F7F7E}"/>
              </a:ext>
            </a:extLst>
          </p:cNvPr>
          <p:cNvSpPr/>
          <p:nvPr/>
        </p:nvSpPr>
        <p:spPr>
          <a:xfrm>
            <a:off x="1340979" y="2869272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>
                <a:lumMod val="75000"/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</a:rPr>
              <a:t>재화</a:t>
            </a: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</a:rPr>
              <a:t>자원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963CA6D-220A-07A2-00E2-31B13A19D49C}"/>
              </a:ext>
            </a:extLst>
          </p:cNvPr>
          <p:cNvSpPr/>
          <p:nvPr/>
        </p:nvSpPr>
        <p:spPr>
          <a:xfrm>
            <a:off x="1340979" y="3278565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>
                <a:lumMod val="75000"/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</a:rPr>
              <a:t>가챠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0A84C81-0810-1244-3B9B-13DEE9405490}"/>
              </a:ext>
            </a:extLst>
          </p:cNvPr>
          <p:cNvSpPr/>
          <p:nvPr/>
        </p:nvSpPr>
        <p:spPr>
          <a:xfrm>
            <a:off x="1340979" y="3692022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>
                <a:lumMod val="75000"/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</a:rPr>
              <a:t>성장 가속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0E55F3C-441E-42A7-854D-22E04EFCC55D}"/>
              </a:ext>
            </a:extLst>
          </p:cNvPr>
          <p:cNvSpPr/>
          <p:nvPr/>
        </p:nvSpPr>
        <p:spPr>
          <a:xfrm>
            <a:off x="1340979" y="4105479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>
                <a:lumMod val="75000"/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</a:rPr>
              <a:t>편의 </a:t>
            </a: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</a:rPr>
              <a:t>시간 단축 등</a:t>
            </a: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</a:rPr>
              <a:t>)</a:t>
            </a:r>
            <a:endParaRPr lang="ko-KR" altLang="en-US" sz="11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32DCA9A-3536-0FF5-9143-845AD57A04AD}"/>
              </a:ext>
            </a:extLst>
          </p:cNvPr>
          <p:cNvSpPr/>
          <p:nvPr/>
        </p:nvSpPr>
        <p:spPr>
          <a:xfrm>
            <a:off x="3940583" y="2869272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/>
                </a:solidFill>
              </a:rPr>
              <a:t>코디</a:t>
            </a:r>
            <a:r>
              <a:rPr lang="en-US" altLang="ko-KR" sz="1100" dirty="0">
                <a:solidFill>
                  <a:schemeClr val="tx1"/>
                </a:solidFill>
              </a:rPr>
              <a:t>/</a:t>
            </a:r>
            <a:r>
              <a:rPr lang="ko-KR" altLang="en-US" sz="1100" dirty="0">
                <a:solidFill>
                  <a:schemeClr val="tx1"/>
                </a:solidFill>
              </a:rPr>
              <a:t>스킨 수집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C9EE501F-8D42-FEFC-4ABC-4FE30D5C6521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1156343" y="3029506"/>
            <a:ext cx="184636" cy="0"/>
          </a:xfrm>
          <a:prstGeom prst="line">
            <a:avLst/>
          </a:prstGeom>
          <a:ln w="25400">
            <a:solidFill>
              <a:schemeClr val="accent2">
                <a:lumMod val="75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03A11EFD-5AF1-FCFC-963F-EF580B541312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1156343" y="3438799"/>
            <a:ext cx="184636" cy="0"/>
          </a:xfrm>
          <a:prstGeom prst="line">
            <a:avLst/>
          </a:prstGeom>
          <a:ln w="25400">
            <a:solidFill>
              <a:schemeClr val="accent2">
                <a:lumMod val="75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3DDAEB2B-2F62-7E5B-F00F-18C15FDCF9C1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1156343" y="3852256"/>
            <a:ext cx="184636" cy="0"/>
          </a:xfrm>
          <a:prstGeom prst="line">
            <a:avLst/>
          </a:prstGeom>
          <a:ln w="25400">
            <a:solidFill>
              <a:schemeClr val="accent2">
                <a:lumMod val="75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0B123CDA-E58C-09B9-0E9E-77A258C553CE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1156343" y="4265713"/>
            <a:ext cx="184636" cy="0"/>
          </a:xfrm>
          <a:prstGeom prst="line">
            <a:avLst/>
          </a:prstGeom>
          <a:ln w="25400">
            <a:solidFill>
              <a:schemeClr val="accent2">
                <a:lumMod val="75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67B1765C-9ACC-D2C5-A849-97DBF41B5914}"/>
              </a:ext>
            </a:extLst>
          </p:cNvPr>
          <p:cNvCxnSpPr>
            <a:cxnSpLocks/>
          </p:cNvCxnSpPr>
          <p:nvPr/>
        </p:nvCxnSpPr>
        <p:spPr>
          <a:xfrm>
            <a:off x="1156343" y="2459979"/>
            <a:ext cx="0" cy="2948951"/>
          </a:xfrm>
          <a:prstGeom prst="line">
            <a:avLst/>
          </a:prstGeom>
          <a:ln w="25400">
            <a:solidFill>
              <a:schemeClr val="accent2">
                <a:lumMod val="75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8BEEFDE5-0584-E746-9438-F20C59BDCC7A}"/>
              </a:ext>
            </a:extLst>
          </p:cNvPr>
          <p:cNvCxnSpPr>
            <a:cxnSpLocks/>
            <a:stCxn id="20" idx="1"/>
          </p:cNvCxnSpPr>
          <p:nvPr/>
        </p:nvCxnSpPr>
        <p:spPr>
          <a:xfrm flipH="1">
            <a:off x="3741292" y="3029506"/>
            <a:ext cx="199291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A6479F6A-4CEC-DCB3-BDEA-1323805CA42F}"/>
              </a:ext>
            </a:extLst>
          </p:cNvPr>
          <p:cNvCxnSpPr>
            <a:cxnSpLocks/>
          </p:cNvCxnSpPr>
          <p:nvPr/>
        </p:nvCxnSpPr>
        <p:spPr>
          <a:xfrm>
            <a:off x="3747155" y="2459979"/>
            <a:ext cx="0" cy="2948951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8AD8801-E85C-BEBD-A4D7-385B03EBDDAF}"/>
              </a:ext>
            </a:extLst>
          </p:cNvPr>
          <p:cNvSpPr/>
          <p:nvPr/>
        </p:nvSpPr>
        <p:spPr>
          <a:xfrm>
            <a:off x="1475788" y="4839403"/>
            <a:ext cx="1931396" cy="320468"/>
          </a:xfrm>
          <a:prstGeom prst="rect">
            <a:avLst/>
          </a:prstGeom>
          <a:solidFill>
            <a:schemeClr val="bg1"/>
          </a:solidFill>
          <a:ln w="25400">
            <a:solidFill>
              <a:srgbClr val="7030A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</a:rPr>
              <a:t>시즌패스</a:t>
            </a: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ko-KR" altLang="en-US" sz="1100" dirty="0" err="1">
                <a:solidFill>
                  <a:schemeClr val="bg1">
                    <a:lumMod val="65000"/>
                  </a:schemeClr>
                </a:solidFill>
              </a:rPr>
              <a:t>배틀패스</a:t>
            </a:r>
            <a:endParaRPr lang="ko-KR" altLang="en-US" sz="11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2D8D0A2-CA98-1D6A-4D16-1C0FFEDA5F5B}"/>
              </a:ext>
            </a:extLst>
          </p:cNvPr>
          <p:cNvSpPr/>
          <p:nvPr/>
        </p:nvSpPr>
        <p:spPr>
          <a:xfrm>
            <a:off x="1475788" y="5248696"/>
            <a:ext cx="1931396" cy="320468"/>
          </a:xfrm>
          <a:prstGeom prst="rect">
            <a:avLst/>
          </a:prstGeom>
          <a:solidFill>
            <a:schemeClr val="bg1"/>
          </a:solidFill>
          <a:ln w="25400">
            <a:solidFill>
              <a:srgbClr val="7030A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 err="1">
                <a:solidFill>
                  <a:schemeClr val="bg1">
                    <a:lumMod val="65000"/>
                  </a:schemeClr>
                </a:solidFill>
              </a:rPr>
              <a:t>온보딩</a:t>
            </a:r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</a:rPr>
              <a:t> 패키지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3E090232-6876-00A5-6EDB-B027B05000A4}"/>
              </a:ext>
            </a:extLst>
          </p:cNvPr>
          <p:cNvCxnSpPr>
            <a:cxnSpLocks/>
          </p:cNvCxnSpPr>
          <p:nvPr/>
        </p:nvCxnSpPr>
        <p:spPr>
          <a:xfrm flipH="1">
            <a:off x="1156343" y="5408930"/>
            <a:ext cx="328244" cy="0"/>
          </a:xfrm>
          <a:prstGeom prst="line">
            <a:avLst/>
          </a:prstGeom>
          <a:ln w="25400">
            <a:solidFill>
              <a:schemeClr val="accent2">
                <a:lumMod val="75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9AE89147-C26F-0693-7D90-5F8399AF8719}"/>
              </a:ext>
            </a:extLst>
          </p:cNvPr>
          <p:cNvCxnSpPr>
            <a:cxnSpLocks/>
          </p:cNvCxnSpPr>
          <p:nvPr/>
        </p:nvCxnSpPr>
        <p:spPr>
          <a:xfrm flipH="1">
            <a:off x="1156343" y="4999637"/>
            <a:ext cx="328244" cy="0"/>
          </a:xfrm>
          <a:prstGeom prst="line">
            <a:avLst/>
          </a:prstGeom>
          <a:ln w="25400">
            <a:solidFill>
              <a:schemeClr val="accent2">
                <a:lumMod val="75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CEC708EA-E11E-61D3-D4FB-C016E9785D9D}"/>
              </a:ext>
            </a:extLst>
          </p:cNvPr>
          <p:cNvCxnSpPr>
            <a:cxnSpLocks/>
          </p:cNvCxnSpPr>
          <p:nvPr/>
        </p:nvCxnSpPr>
        <p:spPr>
          <a:xfrm flipH="1">
            <a:off x="3413048" y="5408930"/>
            <a:ext cx="328244" cy="0"/>
          </a:xfrm>
          <a:prstGeom prst="line">
            <a:avLst/>
          </a:prstGeom>
          <a:ln w="25400">
            <a:solidFill>
              <a:schemeClr val="accent5">
                <a:lumMod val="75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0A38CD4C-DB5D-1A11-C6A4-7AB79A7E1672}"/>
              </a:ext>
            </a:extLst>
          </p:cNvPr>
          <p:cNvCxnSpPr>
            <a:cxnSpLocks/>
          </p:cNvCxnSpPr>
          <p:nvPr/>
        </p:nvCxnSpPr>
        <p:spPr>
          <a:xfrm flipH="1">
            <a:off x="3413048" y="4999637"/>
            <a:ext cx="328244" cy="0"/>
          </a:xfrm>
          <a:prstGeom prst="line">
            <a:avLst/>
          </a:prstGeom>
          <a:ln w="25400">
            <a:solidFill>
              <a:schemeClr val="accent5">
                <a:lumMod val="75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D611D336-BBDB-A472-ECBB-D1118D743726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1757151" y="1781681"/>
            <a:ext cx="640379" cy="0"/>
          </a:xfrm>
          <a:prstGeom prst="line">
            <a:avLst/>
          </a:prstGeom>
          <a:ln w="25400">
            <a:solidFill>
              <a:schemeClr val="bg1">
                <a:lumMod val="50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37018BC6-5E5D-306A-1E31-A3E3E06FD613}"/>
              </a:ext>
            </a:extLst>
          </p:cNvPr>
          <p:cNvCxnSpPr>
            <a:cxnSpLocks/>
            <a:endCxn id="13" idx="3"/>
          </p:cNvCxnSpPr>
          <p:nvPr/>
        </p:nvCxnSpPr>
        <p:spPr>
          <a:xfrm flipH="1">
            <a:off x="3710504" y="1781681"/>
            <a:ext cx="655042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AA3D1D48-C881-4BE5-CE5A-E7DD77DC2A65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4365546" y="1781681"/>
            <a:ext cx="0" cy="35783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18469020-BD46-5A90-8189-1B3AAE7A13FB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1757151" y="1781681"/>
            <a:ext cx="0" cy="357830"/>
          </a:xfrm>
          <a:prstGeom prst="line">
            <a:avLst/>
          </a:prstGeom>
          <a:ln w="25400">
            <a:solidFill>
              <a:schemeClr val="bg1">
                <a:lumMod val="50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EFCEF7C4-4D35-B0C2-95A5-F1364B224B0A}"/>
              </a:ext>
            </a:extLst>
          </p:cNvPr>
          <p:cNvSpPr/>
          <p:nvPr/>
        </p:nvSpPr>
        <p:spPr>
          <a:xfrm>
            <a:off x="3505188" y="2092624"/>
            <a:ext cx="2057388" cy="1176409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0" name="그래픽 49" descr="사용자">
            <a:extLst>
              <a:ext uri="{FF2B5EF4-FFF2-40B4-BE49-F238E27FC236}">
                <a16:creationId xmlns:a16="http://schemas.microsoft.com/office/drawing/2014/main" id="{FE15E07E-8CED-796F-ECE7-247C3BE96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89000" y="5817948"/>
            <a:ext cx="959063" cy="959063"/>
          </a:xfrm>
          <a:prstGeom prst="rect">
            <a:avLst/>
          </a:prstGeom>
        </p:spPr>
      </p:pic>
      <p:sp>
        <p:nvSpPr>
          <p:cNvPr id="54" name="말풍선: 모서리가 둥근 사각형 53">
            <a:extLst>
              <a:ext uri="{FF2B5EF4-FFF2-40B4-BE49-F238E27FC236}">
                <a16:creationId xmlns:a16="http://schemas.microsoft.com/office/drawing/2014/main" id="{32F5457B-E9D8-7318-B1C6-D89B6D69E0E0}"/>
              </a:ext>
            </a:extLst>
          </p:cNvPr>
          <p:cNvSpPr/>
          <p:nvPr/>
        </p:nvSpPr>
        <p:spPr>
          <a:xfrm>
            <a:off x="4943593" y="5097137"/>
            <a:ext cx="1253706" cy="421380"/>
          </a:xfrm>
          <a:prstGeom prst="wedgeRoundRectCallout">
            <a:avLst>
              <a:gd name="adj1" fmla="val 45542"/>
              <a:gd name="adj2" fmla="val 81748"/>
              <a:gd name="adj3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난 너무 멋져</a:t>
            </a:r>
            <a:r>
              <a:rPr lang="en-US" altLang="ko-KR" sz="1100" dirty="0">
                <a:solidFill>
                  <a:schemeClr val="tx1"/>
                </a:solidFill>
              </a:rPr>
              <a:t>!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F1D86A4D-33FA-B2C9-7749-F80CE39F0751}"/>
              </a:ext>
            </a:extLst>
          </p:cNvPr>
          <p:cNvSpPr/>
          <p:nvPr/>
        </p:nvSpPr>
        <p:spPr>
          <a:xfrm>
            <a:off x="9602305" y="5159871"/>
            <a:ext cx="1874932" cy="486852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나도 꾸미고 싶은데</a:t>
            </a:r>
            <a:r>
              <a:rPr lang="en-US" altLang="ko-KR" sz="1200" dirty="0">
                <a:solidFill>
                  <a:schemeClr val="tx1"/>
                </a:solidFill>
              </a:rPr>
              <a:t>……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BB516BFD-8977-85AD-C21B-ABB3CC5D7F20}"/>
              </a:ext>
            </a:extLst>
          </p:cNvPr>
          <p:cNvSpPr/>
          <p:nvPr/>
        </p:nvSpPr>
        <p:spPr>
          <a:xfrm>
            <a:off x="10104485" y="5791432"/>
            <a:ext cx="144000" cy="144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6BC47A57-C2B7-C59E-D4EB-141A203DDFF4}"/>
              </a:ext>
            </a:extLst>
          </p:cNvPr>
          <p:cNvSpPr/>
          <p:nvPr/>
        </p:nvSpPr>
        <p:spPr>
          <a:xfrm>
            <a:off x="9968280" y="5996022"/>
            <a:ext cx="72000" cy="72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래픽 2" descr="왕관">
            <a:extLst>
              <a:ext uri="{FF2B5EF4-FFF2-40B4-BE49-F238E27FC236}">
                <a16:creationId xmlns:a16="http://schemas.microsoft.com/office/drawing/2014/main" id="{4A44FA62-AAAD-E697-D4AF-76F2665FF7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10451" y="5005835"/>
            <a:ext cx="845050" cy="845050"/>
          </a:xfrm>
          <a:prstGeom prst="rect">
            <a:avLst/>
          </a:prstGeom>
        </p:spPr>
      </p:pic>
      <p:pic>
        <p:nvPicPr>
          <p:cNvPr id="59" name="그래픽 58" descr="남자 옆모습">
            <a:extLst>
              <a:ext uri="{FF2B5EF4-FFF2-40B4-BE49-F238E27FC236}">
                <a16:creationId xmlns:a16="http://schemas.microsoft.com/office/drawing/2014/main" id="{FA4E9867-0B8C-B465-470F-505E9343BB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06124" y="5545714"/>
            <a:ext cx="1253705" cy="1253705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E2E7946E-E43B-F202-DE1F-62ADF9C3BB5C}"/>
              </a:ext>
            </a:extLst>
          </p:cNvPr>
          <p:cNvGrpSpPr/>
          <p:nvPr/>
        </p:nvGrpSpPr>
        <p:grpSpPr>
          <a:xfrm>
            <a:off x="7055501" y="5450768"/>
            <a:ext cx="1191375" cy="1348651"/>
            <a:chOff x="4064563" y="5526011"/>
            <a:chExt cx="914400" cy="1035112"/>
          </a:xfrm>
        </p:grpSpPr>
        <p:pic>
          <p:nvPicPr>
            <p:cNvPr id="11" name="그래픽 10" descr="여성 프로필">
              <a:extLst>
                <a:ext uri="{FF2B5EF4-FFF2-40B4-BE49-F238E27FC236}">
                  <a16:creationId xmlns:a16="http://schemas.microsoft.com/office/drawing/2014/main" id="{8A729283-FD29-CF7B-4FAD-9E43E6DB276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064563" y="5646723"/>
              <a:ext cx="914400" cy="914400"/>
            </a:xfrm>
            <a:prstGeom prst="rect">
              <a:avLst/>
            </a:prstGeom>
          </p:spPr>
        </p:pic>
        <p:pic>
          <p:nvPicPr>
            <p:cNvPr id="6" name="그래픽 5" descr="줄기가 없는 꽃">
              <a:extLst>
                <a:ext uri="{FF2B5EF4-FFF2-40B4-BE49-F238E27FC236}">
                  <a16:creationId xmlns:a16="http://schemas.microsoft.com/office/drawing/2014/main" id="{9AD8D759-FFC4-6F83-55D5-20416E55AA4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074657" y="5526011"/>
              <a:ext cx="447106" cy="447106"/>
            </a:xfrm>
            <a:prstGeom prst="rect">
              <a:avLst/>
            </a:prstGeom>
          </p:spPr>
        </p:pic>
      </p:grpSp>
      <p:sp>
        <p:nvSpPr>
          <p:cNvPr id="27" name="말풍선: 모서리가 둥근 사각형 26">
            <a:extLst>
              <a:ext uri="{FF2B5EF4-FFF2-40B4-BE49-F238E27FC236}">
                <a16:creationId xmlns:a16="http://schemas.microsoft.com/office/drawing/2014/main" id="{F2D355E6-C2FF-87E0-1A0F-B412BB8BDC4D}"/>
              </a:ext>
            </a:extLst>
          </p:cNvPr>
          <p:cNvSpPr/>
          <p:nvPr/>
        </p:nvSpPr>
        <p:spPr>
          <a:xfrm>
            <a:off x="8054699" y="4988959"/>
            <a:ext cx="1037227" cy="637736"/>
          </a:xfrm>
          <a:prstGeom prst="wedgeRoundRectCallout">
            <a:avLst>
              <a:gd name="adj1" fmla="val -43670"/>
              <a:gd name="adj2" fmla="val 70049"/>
              <a:gd name="adj3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</a:rPr>
              <a:t>이거 봐</a:t>
            </a:r>
            <a:r>
              <a:rPr lang="en-US" altLang="ko-KR" sz="1100" dirty="0">
                <a:solidFill>
                  <a:schemeClr val="tx1"/>
                </a:solidFill>
              </a:rPr>
              <a:t>~</a:t>
            </a:r>
          </a:p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</a:rPr>
              <a:t>이쁘지 않아</a:t>
            </a:r>
            <a:r>
              <a:rPr lang="en-US" altLang="ko-KR" sz="1100" dirty="0">
                <a:solidFill>
                  <a:schemeClr val="tx1"/>
                </a:solidFill>
              </a:rPr>
              <a:t>?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710C9F-9F82-6DC6-4047-9C2B7A7DD46F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유료 상품 분석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2025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년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9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월 기준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2534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8E07C-AE2C-0224-3407-29EAE01D1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EA3DAA1-6A04-B299-871C-920CB76C35C0}"/>
              </a:ext>
            </a:extLst>
          </p:cNvPr>
          <p:cNvSpPr txBox="1"/>
          <p:nvPr/>
        </p:nvSpPr>
        <p:spPr>
          <a:xfrm>
            <a:off x="6095999" y="457906"/>
            <a:ext cx="5075451" cy="4330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highlight>
                  <a:srgbClr val="E4D2F2"/>
                </a:highlight>
              </a:rPr>
              <a:t>복합 아이템</a:t>
            </a:r>
            <a:endParaRPr lang="en-US" altLang="ko-KR" sz="1400" b="1" dirty="0">
              <a:highlight>
                <a:srgbClr val="E4D2F2"/>
              </a:highlight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200" b="1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/>
              <a:t>설계 의도</a:t>
            </a:r>
            <a:endParaRPr lang="en-US" altLang="ko-KR" sz="1200" b="1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dirty="0"/>
              <a:t>저렴한 가격으로 여러 종류의 아이템을 한번쯤 활용하도록 유도하고</a:t>
            </a:r>
            <a:br>
              <a:rPr lang="ko-KR" altLang="en-US" sz="1100" dirty="0"/>
            </a:br>
            <a:r>
              <a:rPr lang="ko-KR" altLang="en-US" sz="1100" dirty="0"/>
              <a:t>이를 통해 유저가 특정 아이템의 결핍을 느끼게 하며</a:t>
            </a:r>
            <a:br>
              <a:rPr lang="ko-KR" altLang="en-US" sz="1100" dirty="0"/>
            </a:br>
            <a:r>
              <a:rPr lang="ko-KR" altLang="en-US" sz="1100" dirty="0"/>
              <a:t>추가 구매로 이어지도록 유도한다</a:t>
            </a:r>
            <a:r>
              <a:rPr lang="en-US" altLang="ko-KR" sz="1100" dirty="0"/>
              <a:t>.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dirty="0"/>
              <a:t>출석 보상 방식으로 결제 유저의 </a:t>
            </a:r>
            <a:r>
              <a:rPr lang="ko-KR" altLang="en-US" sz="1100" dirty="0" err="1"/>
              <a:t>리텐션을</a:t>
            </a:r>
            <a:r>
              <a:rPr lang="ko-KR" altLang="en-US" sz="1100" dirty="0"/>
              <a:t> 개선한다</a:t>
            </a:r>
            <a:r>
              <a:rPr lang="en-US" altLang="ko-KR" sz="1100" dirty="0"/>
              <a:t>.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dirty="0"/>
              <a:t>시즌마다 상품을 판매하여 정기적이고 안정적인 수익을 창출한다</a:t>
            </a:r>
            <a:r>
              <a:rPr lang="en-US" altLang="ko-KR" sz="1100" dirty="0"/>
              <a:t>.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2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/>
              <a:t>타겟</a:t>
            </a:r>
            <a:endParaRPr lang="en-US" altLang="ko-KR" sz="1200" b="1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dirty="0"/>
              <a:t>싼 가격의 상품의 유혹에 약한 유저</a:t>
            </a:r>
            <a:endParaRPr lang="en-US" altLang="ko-KR" sz="1100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dirty="0"/>
              <a:t>오랜 기간 꾸준히 게임하는 유저</a:t>
            </a:r>
            <a:endParaRPr lang="en-US" altLang="ko-KR" sz="1100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2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/>
              <a:t>첫 판매 전략</a:t>
            </a:r>
            <a:endParaRPr lang="en-US" altLang="ko-KR" sz="1200" b="1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100" dirty="0">
                <a:solidFill>
                  <a:prstClr val="black"/>
                </a:solidFill>
              </a:rPr>
              <a:t>인 게임 배너에 지속적으로 노출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100" dirty="0">
                <a:solidFill>
                  <a:prstClr val="black"/>
                </a:solidFill>
              </a:rPr>
              <a:t>타 상품 대비 엄청난 효율과 가격으로 유혹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9568A47-C5FF-982F-DBD4-1B70B494DFE5}"/>
              </a:ext>
            </a:extLst>
          </p:cNvPr>
          <p:cNvSpPr/>
          <p:nvPr/>
        </p:nvSpPr>
        <p:spPr>
          <a:xfrm>
            <a:off x="2397530" y="1515141"/>
            <a:ext cx="1312974" cy="53308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chemeClr val="tx1"/>
                </a:solidFill>
              </a:rPr>
              <a:t>유료 상품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0D681B7-83F6-8AAA-B505-2A36BF972F0D}"/>
              </a:ext>
            </a:extLst>
          </p:cNvPr>
          <p:cNvSpPr/>
          <p:nvPr/>
        </p:nvSpPr>
        <p:spPr>
          <a:xfrm>
            <a:off x="1012735" y="2139511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>
                <a:lumMod val="75000"/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>
                <a:solidFill>
                  <a:schemeClr val="bg1">
                    <a:lumMod val="65000"/>
                  </a:schemeClr>
                </a:solidFill>
              </a:rPr>
              <a:t>성능</a:t>
            </a:r>
            <a:endParaRPr lang="ko-KR" altLang="en-US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ABB474B-7741-4FA2-1535-4AC4A4FC934F}"/>
              </a:ext>
            </a:extLst>
          </p:cNvPr>
          <p:cNvSpPr/>
          <p:nvPr/>
        </p:nvSpPr>
        <p:spPr>
          <a:xfrm>
            <a:off x="3621130" y="2139511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5">
                <a:lumMod val="75000"/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bg1">
                    <a:lumMod val="65000"/>
                  </a:schemeClr>
                </a:solidFill>
              </a:rPr>
              <a:t>감성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562A921-F029-8780-0A60-46D5AF200A6B}"/>
              </a:ext>
            </a:extLst>
          </p:cNvPr>
          <p:cNvSpPr/>
          <p:nvPr/>
        </p:nvSpPr>
        <p:spPr>
          <a:xfrm>
            <a:off x="1340979" y="2869272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>
                <a:lumMod val="75000"/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</a:rPr>
              <a:t>재화</a:t>
            </a: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</a:rPr>
              <a:t>자원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7AD295B-66FE-2292-504F-D40F2C7B35EF}"/>
              </a:ext>
            </a:extLst>
          </p:cNvPr>
          <p:cNvSpPr/>
          <p:nvPr/>
        </p:nvSpPr>
        <p:spPr>
          <a:xfrm>
            <a:off x="1340979" y="3278565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>
                <a:lumMod val="75000"/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</a:rPr>
              <a:t>가챠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CF3D60E-3CEE-CBE6-1E56-410D063041AF}"/>
              </a:ext>
            </a:extLst>
          </p:cNvPr>
          <p:cNvSpPr/>
          <p:nvPr/>
        </p:nvSpPr>
        <p:spPr>
          <a:xfrm>
            <a:off x="1340979" y="3692022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>
                <a:lumMod val="75000"/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</a:rPr>
              <a:t>성장 가속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AE08796-4F70-7B50-F422-AC21DE77D81F}"/>
              </a:ext>
            </a:extLst>
          </p:cNvPr>
          <p:cNvSpPr/>
          <p:nvPr/>
        </p:nvSpPr>
        <p:spPr>
          <a:xfrm>
            <a:off x="1340979" y="4105479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>
                <a:lumMod val="75000"/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</a:rPr>
              <a:t>편의 </a:t>
            </a: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</a:rPr>
              <a:t>시간 단축 등</a:t>
            </a: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</a:rPr>
              <a:t>)</a:t>
            </a:r>
            <a:endParaRPr lang="ko-KR" altLang="en-US" sz="11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E78ECD6-7710-51E6-5AB8-3B75D15F6634}"/>
              </a:ext>
            </a:extLst>
          </p:cNvPr>
          <p:cNvSpPr/>
          <p:nvPr/>
        </p:nvSpPr>
        <p:spPr>
          <a:xfrm>
            <a:off x="3940583" y="2869272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5">
                <a:lumMod val="75000"/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</a:rPr>
              <a:t>코디</a:t>
            </a: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</a:rPr>
              <a:t>스킨 수집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B1DFC40D-11C9-C21E-12CE-CBBEB2DA2891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1156343" y="3029506"/>
            <a:ext cx="184636" cy="0"/>
          </a:xfrm>
          <a:prstGeom prst="line">
            <a:avLst/>
          </a:prstGeom>
          <a:ln w="25400">
            <a:solidFill>
              <a:schemeClr val="accent2">
                <a:lumMod val="75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1A2D349E-C780-907B-98FC-80EFE178161B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1156343" y="3438799"/>
            <a:ext cx="184636" cy="0"/>
          </a:xfrm>
          <a:prstGeom prst="line">
            <a:avLst/>
          </a:prstGeom>
          <a:ln w="25400">
            <a:solidFill>
              <a:schemeClr val="accent2">
                <a:lumMod val="75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7312F41-8E62-0D11-32F4-88660D20F245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1156343" y="3852256"/>
            <a:ext cx="184636" cy="0"/>
          </a:xfrm>
          <a:prstGeom prst="line">
            <a:avLst/>
          </a:prstGeom>
          <a:ln w="25400">
            <a:solidFill>
              <a:schemeClr val="accent2">
                <a:lumMod val="75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AB635F23-CC84-FE59-3FED-465B23FD89E2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1156343" y="4265713"/>
            <a:ext cx="184636" cy="0"/>
          </a:xfrm>
          <a:prstGeom prst="line">
            <a:avLst/>
          </a:prstGeom>
          <a:ln w="25400">
            <a:solidFill>
              <a:schemeClr val="accent2">
                <a:lumMod val="75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09E1EA1D-EFB1-A690-FA0B-305A93502845}"/>
              </a:ext>
            </a:extLst>
          </p:cNvPr>
          <p:cNvCxnSpPr>
            <a:cxnSpLocks/>
          </p:cNvCxnSpPr>
          <p:nvPr/>
        </p:nvCxnSpPr>
        <p:spPr>
          <a:xfrm>
            <a:off x="1156343" y="2459979"/>
            <a:ext cx="0" cy="2948951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5B2D4BF7-C805-2823-7026-F8FF137B706C}"/>
              </a:ext>
            </a:extLst>
          </p:cNvPr>
          <p:cNvCxnSpPr>
            <a:cxnSpLocks/>
            <a:stCxn id="20" idx="1"/>
          </p:cNvCxnSpPr>
          <p:nvPr/>
        </p:nvCxnSpPr>
        <p:spPr>
          <a:xfrm flipH="1">
            <a:off x="3741292" y="3029506"/>
            <a:ext cx="199291" cy="0"/>
          </a:xfrm>
          <a:prstGeom prst="line">
            <a:avLst/>
          </a:prstGeom>
          <a:ln w="25400">
            <a:solidFill>
              <a:schemeClr val="accent5">
                <a:lumMod val="75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4F4B832F-135C-4D64-D915-5CE6980149A9}"/>
              </a:ext>
            </a:extLst>
          </p:cNvPr>
          <p:cNvCxnSpPr>
            <a:cxnSpLocks/>
          </p:cNvCxnSpPr>
          <p:nvPr/>
        </p:nvCxnSpPr>
        <p:spPr>
          <a:xfrm>
            <a:off x="3747155" y="2459979"/>
            <a:ext cx="0" cy="2948951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50F64CB-686E-1C07-293D-EDB0E84CD745}"/>
              </a:ext>
            </a:extLst>
          </p:cNvPr>
          <p:cNvSpPr/>
          <p:nvPr/>
        </p:nvSpPr>
        <p:spPr>
          <a:xfrm>
            <a:off x="1475788" y="4839403"/>
            <a:ext cx="1931396" cy="320468"/>
          </a:xfrm>
          <a:prstGeom prst="rect">
            <a:avLst/>
          </a:prstGeom>
          <a:solidFill>
            <a:srgbClr val="7030A0"/>
          </a:solidFill>
          <a:ln w="254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b="1" dirty="0">
                <a:solidFill>
                  <a:schemeClr val="bg1"/>
                </a:solidFill>
              </a:rPr>
              <a:t>시즌패스</a:t>
            </a:r>
            <a:r>
              <a:rPr lang="en-US" altLang="ko-KR" sz="1600" b="1" dirty="0">
                <a:solidFill>
                  <a:schemeClr val="bg1"/>
                </a:solidFill>
              </a:rPr>
              <a:t>/</a:t>
            </a:r>
            <a:r>
              <a:rPr lang="ko-KR" altLang="en-US" sz="1600" b="1" dirty="0" err="1">
                <a:solidFill>
                  <a:schemeClr val="bg1"/>
                </a:solidFill>
              </a:rPr>
              <a:t>배틀패스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61FBAE6-34E8-622A-2A75-9A0CF70AAF69}"/>
              </a:ext>
            </a:extLst>
          </p:cNvPr>
          <p:cNvSpPr/>
          <p:nvPr/>
        </p:nvSpPr>
        <p:spPr>
          <a:xfrm>
            <a:off x="1475788" y="5248696"/>
            <a:ext cx="1931396" cy="320468"/>
          </a:xfrm>
          <a:prstGeom prst="rect">
            <a:avLst/>
          </a:prstGeom>
          <a:solidFill>
            <a:srgbClr val="7030A0"/>
          </a:solidFill>
          <a:ln w="254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b="1" dirty="0" err="1">
                <a:solidFill>
                  <a:schemeClr val="bg1"/>
                </a:solidFill>
              </a:rPr>
              <a:t>온보딩</a:t>
            </a:r>
            <a:r>
              <a:rPr lang="ko-KR" altLang="en-US" sz="1600" b="1" dirty="0">
                <a:solidFill>
                  <a:schemeClr val="bg1"/>
                </a:solidFill>
              </a:rPr>
              <a:t> 패키지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2398E19D-AAE2-6A7F-4E40-F6014DBAB92E}"/>
              </a:ext>
            </a:extLst>
          </p:cNvPr>
          <p:cNvCxnSpPr>
            <a:cxnSpLocks/>
          </p:cNvCxnSpPr>
          <p:nvPr/>
        </p:nvCxnSpPr>
        <p:spPr>
          <a:xfrm flipH="1">
            <a:off x="1156343" y="5408930"/>
            <a:ext cx="328244" cy="0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46A0D2EB-E62E-8651-E10B-7C59E997C71F}"/>
              </a:ext>
            </a:extLst>
          </p:cNvPr>
          <p:cNvCxnSpPr>
            <a:cxnSpLocks/>
          </p:cNvCxnSpPr>
          <p:nvPr/>
        </p:nvCxnSpPr>
        <p:spPr>
          <a:xfrm flipH="1">
            <a:off x="1156343" y="4999637"/>
            <a:ext cx="328244" cy="0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522EFC00-81D1-2890-9901-26AE159BE946}"/>
              </a:ext>
            </a:extLst>
          </p:cNvPr>
          <p:cNvCxnSpPr>
            <a:cxnSpLocks/>
          </p:cNvCxnSpPr>
          <p:nvPr/>
        </p:nvCxnSpPr>
        <p:spPr>
          <a:xfrm flipH="1">
            <a:off x="3413048" y="5408930"/>
            <a:ext cx="328244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23353B62-FACC-B57C-E6AA-A7072E52447B}"/>
              </a:ext>
            </a:extLst>
          </p:cNvPr>
          <p:cNvCxnSpPr>
            <a:cxnSpLocks/>
          </p:cNvCxnSpPr>
          <p:nvPr/>
        </p:nvCxnSpPr>
        <p:spPr>
          <a:xfrm flipH="1">
            <a:off x="3413048" y="4999637"/>
            <a:ext cx="328244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DC3ED3E7-C27D-F9FB-9B30-388ADCE06B69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1757151" y="1781681"/>
            <a:ext cx="640379" cy="0"/>
          </a:xfrm>
          <a:prstGeom prst="line">
            <a:avLst/>
          </a:prstGeom>
          <a:ln w="25400">
            <a:solidFill>
              <a:schemeClr val="bg1">
                <a:lumMod val="50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66E8C9B9-1592-DE10-F0F3-89A43055F34B}"/>
              </a:ext>
            </a:extLst>
          </p:cNvPr>
          <p:cNvCxnSpPr>
            <a:cxnSpLocks/>
            <a:endCxn id="13" idx="3"/>
          </p:cNvCxnSpPr>
          <p:nvPr/>
        </p:nvCxnSpPr>
        <p:spPr>
          <a:xfrm flipH="1">
            <a:off x="3710504" y="1781681"/>
            <a:ext cx="655042" cy="0"/>
          </a:xfrm>
          <a:prstGeom prst="line">
            <a:avLst/>
          </a:prstGeom>
          <a:ln w="25400">
            <a:solidFill>
              <a:schemeClr val="bg1">
                <a:lumMod val="50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0CB99547-A70D-882A-8AAE-E7ADCA267A9D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4365546" y="1781681"/>
            <a:ext cx="0" cy="357830"/>
          </a:xfrm>
          <a:prstGeom prst="line">
            <a:avLst/>
          </a:prstGeom>
          <a:ln w="25400">
            <a:solidFill>
              <a:schemeClr val="bg1">
                <a:lumMod val="50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41754BB5-B7A0-8D4D-0CBE-1D39AEBFBAC8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1757151" y="1781681"/>
            <a:ext cx="0" cy="357830"/>
          </a:xfrm>
          <a:prstGeom prst="line">
            <a:avLst/>
          </a:prstGeom>
          <a:ln w="25400">
            <a:solidFill>
              <a:schemeClr val="bg1">
                <a:lumMod val="50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26893D5-1FE8-BDAD-8B57-03691C9AEB9F}"/>
              </a:ext>
            </a:extLst>
          </p:cNvPr>
          <p:cNvSpPr/>
          <p:nvPr/>
        </p:nvSpPr>
        <p:spPr>
          <a:xfrm>
            <a:off x="1020547" y="4787938"/>
            <a:ext cx="2866322" cy="849021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0" name="그래픽 49" descr="사용자">
            <a:extLst>
              <a:ext uri="{FF2B5EF4-FFF2-40B4-BE49-F238E27FC236}">
                <a16:creationId xmlns:a16="http://schemas.microsoft.com/office/drawing/2014/main" id="{095E5143-3175-0F99-F195-EB11DA5224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8409" y="5381266"/>
            <a:ext cx="1301514" cy="1301512"/>
          </a:xfrm>
          <a:prstGeom prst="rect">
            <a:avLst/>
          </a:prstGeom>
        </p:spPr>
      </p:pic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5A330EC4-B414-B604-272A-8949991A86A6}"/>
              </a:ext>
            </a:extLst>
          </p:cNvPr>
          <p:cNvSpPr/>
          <p:nvPr/>
        </p:nvSpPr>
        <p:spPr>
          <a:xfrm>
            <a:off x="4916542" y="5003384"/>
            <a:ext cx="2488680" cy="1029012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</a:rPr>
              <a:t>엄청 싸서 구매는 했는데</a:t>
            </a:r>
            <a:r>
              <a:rPr lang="en-US" altLang="ko-KR" sz="1100" dirty="0">
                <a:solidFill>
                  <a:schemeClr val="tx1"/>
                </a:solidFill>
              </a:rPr>
              <a:t>……</a:t>
            </a:r>
          </a:p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</a:rPr>
              <a:t>막 쓰다 보니 다른 재화에 비해</a:t>
            </a:r>
            <a:br>
              <a:rPr lang="en-US" altLang="ko-KR" sz="1100" dirty="0">
                <a:solidFill>
                  <a:schemeClr val="tx1"/>
                </a:solidFill>
              </a:rPr>
            </a:br>
            <a:r>
              <a:rPr lang="ko-KR" altLang="en-US" sz="1100" dirty="0">
                <a:solidFill>
                  <a:schemeClr val="tx1"/>
                </a:solidFill>
              </a:rPr>
              <a:t>부족한 재화가 생겨서 불편하네</a:t>
            </a:r>
            <a:r>
              <a:rPr lang="en-US" altLang="ko-KR" sz="1100" dirty="0">
                <a:solidFill>
                  <a:schemeClr val="tx1"/>
                </a:solidFill>
              </a:rPr>
              <a:t>……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F3A45925-B943-5325-0315-F2FA6DEB08EE}"/>
              </a:ext>
            </a:extLst>
          </p:cNvPr>
          <p:cNvSpPr/>
          <p:nvPr/>
        </p:nvSpPr>
        <p:spPr>
          <a:xfrm>
            <a:off x="7479397" y="5960022"/>
            <a:ext cx="144000" cy="144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DC265C8F-0ECD-CCB6-7CE9-D842F85EFEC2}"/>
              </a:ext>
            </a:extLst>
          </p:cNvPr>
          <p:cNvSpPr/>
          <p:nvPr/>
        </p:nvSpPr>
        <p:spPr>
          <a:xfrm>
            <a:off x="7711604" y="6114144"/>
            <a:ext cx="72000" cy="72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630A6A87-35D9-B337-947C-8A4A2E6FDC12}"/>
              </a:ext>
            </a:extLst>
          </p:cNvPr>
          <p:cNvSpPr/>
          <p:nvPr/>
        </p:nvSpPr>
        <p:spPr>
          <a:xfrm>
            <a:off x="9243303" y="5063633"/>
            <a:ext cx="2016540" cy="902808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이미 질렀겠다</a:t>
            </a:r>
            <a:br>
              <a:rPr lang="en-US" altLang="ko-KR" sz="1200" dirty="0">
                <a:solidFill>
                  <a:schemeClr val="tx1"/>
                </a:solidFill>
              </a:rPr>
            </a:br>
            <a:r>
              <a:rPr lang="ko-KR" altLang="en-US" sz="1200" dirty="0">
                <a:solidFill>
                  <a:schemeClr val="tx1"/>
                </a:solidFill>
              </a:rPr>
              <a:t>하나만 더 사면 되는데</a:t>
            </a:r>
            <a:br>
              <a:rPr lang="en-US" altLang="ko-KR" sz="1200" dirty="0">
                <a:solidFill>
                  <a:schemeClr val="tx1"/>
                </a:solidFill>
              </a:rPr>
            </a:br>
            <a:r>
              <a:rPr lang="ko-KR" altLang="en-US" sz="1200" dirty="0">
                <a:solidFill>
                  <a:schemeClr val="tx1"/>
                </a:solidFill>
              </a:rPr>
              <a:t>조금만 더 질러볼까</a:t>
            </a:r>
            <a:r>
              <a:rPr lang="en-US" altLang="ko-KR" sz="1200" dirty="0">
                <a:solidFill>
                  <a:schemeClr val="tx1"/>
                </a:solidFill>
              </a:rPr>
              <a:t>?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7FE83D13-4440-AA51-C30F-52675BE77042}"/>
              </a:ext>
            </a:extLst>
          </p:cNvPr>
          <p:cNvSpPr/>
          <p:nvPr/>
        </p:nvSpPr>
        <p:spPr>
          <a:xfrm>
            <a:off x="9099303" y="5939243"/>
            <a:ext cx="144000" cy="144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168FDAB4-A139-B2AC-8132-545549C941FC}"/>
              </a:ext>
            </a:extLst>
          </p:cNvPr>
          <p:cNvSpPr/>
          <p:nvPr/>
        </p:nvSpPr>
        <p:spPr>
          <a:xfrm>
            <a:off x="8959249" y="6114144"/>
            <a:ext cx="72000" cy="72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래픽 9" descr="다이아몬드">
            <a:extLst>
              <a:ext uri="{FF2B5EF4-FFF2-40B4-BE49-F238E27FC236}">
                <a16:creationId xmlns:a16="http://schemas.microsoft.com/office/drawing/2014/main" id="{45698C17-FCED-5FCB-55D6-E78D1824B9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049144">
            <a:off x="7661053" y="6457946"/>
            <a:ext cx="177862" cy="177862"/>
          </a:xfrm>
          <a:prstGeom prst="rect">
            <a:avLst/>
          </a:prstGeom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798E23A4-2047-8410-E93E-09A0F988FCF6}"/>
              </a:ext>
            </a:extLst>
          </p:cNvPr>
          <p:cNvGrpSpPr/>
          <p:nvPr/>
        </p:nvGrpSpPr>
        <p:grpSpPr>
          <a:xfrm rot="2038737">
            <a:off x="8136762" y="6218805"/>
            <a:ext cx="575705" cy="539887"/>
            <a:chOff x="7337617" y="6234675"/>
            <a:chExt cx="575705" cy="539887"/>
          </a:xfrm>
        </p:grpSpPr>
        <p:pic>
          <p:nvPicPr>
            <p:cNvPr id="27" name="그래픽 26" descr="진저브레드 쿠키">
              <a:extLst>
                <a:ext uri="{FF2B5EF4-FFF2-40B4-BE49-F238E27FC236}">
                  <a16:creationId xmlns:a16="http://schemas.microsoft.com/office/drawing/2014/main" id="{F3E2A9E9-9BA9-0A1F-F056-D0299621E72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20140792">
              <a:off x="7432951" y="6312120"/>
              <a:ext cx="314400" cy="314400"/>
            </a:xfrm>
            <a:prstGeom prst="rect">
              <a:avLst/>
            </a:prstGeom>
          </p:spPr>
        </p:pic>
        <p:pic>
          <p:nvPicPr>
            <p:cNvPr id="44" name="그래픽 43" descr="진저브레드 쿠키">
              <a:extLst>
                <a:ext uri="{FF2B5EF4-FFF2-40B4-BE49-F238E27FC236}">
                  <a16:creationId xmlns:a16="http://schemas.microsoft.com/office/drawing/2014/main" id="{5DD8AC54-0BBF-BFCF-D4B8-F83651F97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258785">
              <a:off x="7598922" y="6234675"/>
              <a:ext cx="314400" cy="314400"/>
            </a:xfrm>
            <a:prstGeom prst="rect">
              <a:avLst/>
            </a:prstGeom>
          </p:spPr>
        </p:pic>
        <p:pic>
          <p:nvPicPr>
            <p:cNvPr id="45" name="그래픽 44" descr="진저브레드 쿠키">
              <a:extLst>
                <a:ext uri="{FF2B5EF4-FFF2-40B4-BE49-F238E27FC236}">
                  <a16:creationId xmlns:a16="http://schemas.microsoft.com/office/drawing/2014/main" id="{465858BC-BB28-84CB-C28F-8D3BF2558CF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2486799">
              <a:off x="7578918" y="6392467"/>
              <a:ext cx="314400" cy="314400"/>
            </a:xfrm>
            <a:prstGeom prst="rect">
              <a:avLst/>
            </a:prstGeom>
          </p:spPr>
        </p:pic>
        <p:pic>
          <p:nvPicPr>
            <p:cNvPr id="46" name="그래픽 45" descr="진저브레드 쿠키">
              <a:extLst>
                <a:ext uri="{FF2B5EF4-FFF2-40B4-BE49-F238E27FC236}">
                  <a16:creationId xmlns:a16="http://schemas.microsoft.com/office/drawing/2014/main" id="{E69942A0-B292-2853-E95A-EF2368A7D22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20491343">
              <a:off x="7337617" y="6460162"/>
              <a:ext cx="314400" cy="314400"/>
            </a:xfrm>
            <a:prstGeom prst="rect">
              <a:avLst/>
            </a:prstGeom>
          </p:spPr>
        </p:pic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145634E0-32DA-481E-CC36-3820518D1ADF}"/>
              </a:ext>
            </a:extLst>
          </p:cNvPr>
          <p:cNvGrpSpPr/>
          <p:nvPr/>
        </p:nvGrpSpPr>
        <p:grpSpPr>
          <a:xfrm>
            <a:off x="8828782" y="6232477"/>
            <a:ext cx="664863" cy="471600"/>
            <a:chOff x="8627292" y="6302295"/>
            <a:chExt cx="664863" cy="471600"/>
          </a:xfrm>
        </p:grpSpPr>
        <p:pic>
          <p:nvPicPr>
            <p:cNvPr id="34" name="그래픽 33" descr="동전">
              <a:extLst>
                <a:ext uri="{FF2B5EF4-FFF2-40B4-BE49-F238E27FC236}">
                  <a16:creationId xmlns:a16="http://schemas.microsoft.com/office/drawing/2014/main" id="{F73B2438-6105-68E5-6E01-0A4E8CF3A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855241" y="6459495"/>
              <a:ext cx="314400" cy="314400"/>
            </a:xfrm>
            <a:prstGeom prst="rect">
              <a:avLst/>
            </a:prstGeom>
          </p:spPr>
        </p:pic>
        <p:pic>
          <p:nvPicPr>
            <p:cNvPr id="48" name="그래픽 47" descr="동전">
              <a:extLst>
                <a:ext uri="{FF2B5EF4-FFF2-40B4-BE49-F238E27FC236}">
                  <a16:creationId xmlns:a16="http://schemas.microsoft.com/office/drawing/2014/main" id="{363CFDE5-D47F-AB03-D3A7-458FEF59E68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977755" y="6357367"/>
              <a:ext cx="314400" cy="314400"/>
            </a:xfrm>
            <a:prstGeom prst="rect">
              <a:avLst/>
            </a:prstGeom>
          </p:spPr>
        </p:pic>
        <p:pic>
          <p:nvPicPr>
            <p:cNvPr id="49" name="그래픽 48" descr="동전">
              <a:extLst>
                <a:ext uri="{FF2B5EF4-FFF2-40B4-BE49-F238E27FC236}">
                  <a16:creationId xmlns:a16="http://schemas.microsoft.com/office/drawing/2014/main" id="{7C6C05E1-BA52-53A8-11DA-E75C4E01D9D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759298" y="6302295"/>
              <a:ext cx="314400" cy="314400"/>
            </a:xfrm>
            <a:prstGeom prst="rect">
              <a:avLst/>
            </a:prstGeom>
          </p:spPr>
        </p:pic>
        <p:pic>
          <p:nvPicPr>
            <p:cNvPr id="51" name="그래픽 50" descr="동전">
              <a:extLst>
                <a:ext uri="{FF2B5EF4-FFF2-40B4-BE49-F238E27FC236}">
                  <a16:creationId xmlns:a16="http://schemas.microsoft.com/office/drawing/2014/main" id="{FB0865DB-4A3D-1B95-77DD-E5D583E9EBD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627292" y="6424263"/>
              <a:ext cx="314400" cy="314400"/>
            </a:xfrm>
            <a:prstGeom prst="rect">
              <a:avLst/>
            </a:prstGeom>
          </p:spPr>
        </p:pic>
      </p:grp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632E0A24-0303-936C-8361-F443E61433AC}"/>
              </a:ext>
            </a:extLst>
          </p:cNvPr>
          <p:cNvCxnSpPr/>
          <p:nvPr/>
        </p:nvCxnSpPr>
        <p:spPr>
          <a:xfrm>
            <a:off x="7483472" y="6354444"/>
            <a:ext cx="140677" cy="102128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BD60B4FA-22D7-2E18-C1F5-623B0E1F1D18}"/>
              </a:ext>
            </a:extLst>
          </p:cNvPr>
          <p:cNvCxnSpPr>
            <a:cxnSpLocks/>
          </p:cNvCxnSpPr>
          <p:nvPr/>
        </p:nvCxnSpPr>
        <p:spPr>
          <a:xfrm>
            <a:off x="7509181" y="6509220"/>
            <a:ext cx="83384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FB2E779C-4D50-1E04-B142-B656581FB0C2}"/>
              </a:ext>
            </a:extLst>
          </p:cNvPr>
          <p:cNvCxnSpPr>
            <a:cxnSpLocks/>
          </p:cNvCxnSpPr>
          <p:nvPr/>
        </p:nvCxnSpPr>
        <p:spPr>
          <a:xfrm>
            <a:off x="7640700" y="6319870"/>
            <a:ext cx="34782" cy="76376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9D966234-AEDC-6A96-B5F9-CDC45A816413}"/>
              </a:ext>
            </a:extLst>
          </p:cNvPr>
          <p:cNvCxnSpPr>
            <a:cxnSpLocks/>
          </p:cNvCxnSpPr>
          <p:nvPr/>
        </p:nvCxnSpPr>
        <p:spPr>
          <a:xfrm flipV="1">
            <a:off x="7495332" y="6564454"/>
            <a:ext cx="128065" cy="44518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76E1E61A-2CC0-AB8A-A2FC-2F4A052C40E0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유료 상품 분석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2025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년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9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월 기준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1141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F8A04-E2EB-EC12-C4DB-F77CA152C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C99D6AB-AB58-76FC-357F-7412E949F980}"/>
              </a:ext>
            </a:extLst>
          </p:cNvPr>
          <p:cNvSpPr/>
          <p:nvPr/>
        </p:nvSpPr>
        <p:spPr>
          <a:xfrm>
            <a:off x="1340566" y="4695149"/>
            <a:ext cx="2213162" cy="1008308"/>
          </a:xfrm>
          <a:prstGeom prst="roundRect">
            <a:avLst>
              <a:gd name="adj" fmla="val 23840"/>
            </a:avLst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E9B3AF-2984-423C-C7B1-08633EB62FCC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유료 상품 분석</a:t>
            </a:r>
            <a:endParaRPr lang="en-US" altLang="ko-KR" sz="2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E5F0BC8-B27E-D941-6ABA-9FC8E624B482}"/>
              </a:ext>
            </a:extLst>
          </p:cNvPr>
          <p:cNvSpPr/>
          <p:nvPr/>
        </p:nvSpPr>
        <p:spPr>
          <a:xfrm>
            <a:off x="2397530" y="1513535"/>
            <a:ext cx="1312974" cy="53308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chemeClr val="tx1"/>
                </a:solidFill>
              </a:rPr>
              <a:t>유료 상품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DC64CFB-105D-B3D7-7F07-8CF338AD67A9}"/>
              </a:ext>
            </a:extLst>
          </p:cNvPr>
          <p:cNvSpPr/>
          <p:nvPr/>
        </p:nvSpPr>
        <p:spPr>
          <a:xfrm>
            <a:off x="1012735" y="2137905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성능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A48C329-81C5-1603-21F3-D884B148919B}"/>
              </a:ext>
            </a:extLst>
          </p:cNvPr>
          <p:cNvSpPr/>
          <p:nvPr/>
        </p:nvSpPr>
        <p:spPr>
          <a:xfrm>
            <a:off x="3621130" y="2137905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감성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4F5DFC6-6658-4935-AA3F-8E05B3C5FBEC}"/>
              </a:ext>
            </a:extLst>
          </p:cNvPr>
          <p:cNvSpPr/>
          <p:nvPr/>
        </p:nvSpPr>
        <p:spPr>
          <a:xfrm>
            <a:off x="1340979" y="2867666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/>
                </a:solidFill>
              </a:rPr>
              <a:t>재화</a:t>
            </a:r>
            <a:r>
              <a:rPr lang="en-US" altLang="ko-KR" sz="1100" dirty="0">
                <a:solidFill>
                  <a:schemeClr val="tx1"/>
                </a:solidFill>
              </a:rPr>
              <a:t>/</a:t>
            </a:r>
            <a:r>
              <a:rPr lang="ko-KR" altLang="en-US" sz="1100" dirty="0">
                <a:solidFill>
                  <a:schemeClr val="tx1"/>
                </a:solidFill>
              </a:rPr>
              <a:t>자원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B7B1085-F6FF-BFBB-AB6E-82186B831F71}"/>
              </a:ext>
            </a:extLst>
          </p:cNvPr>
          <p:cNvSpPr/>
          <p:nvPr/>
        </p:nvSpPr>
        <p:spPr>
          <a:xfrm>
            <a:off x="1340979" y="3276959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/>
                </a:solidFill>
              </a:rPr>
              <a:t>가챠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CE8401B-16D1-A257-1088-B1A6D315B56B}"/>
              </a:ext>
            </a:extLst>
          </p:cNvPr>
          <p:cNvSpPr/>
          <p:nvPr/>
        </p:nvSpPr>
        <p:spPr>
          <a:xfrm>
            <a:off x="1340979" y="3690416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/>
                </a:solidFill>
              </a:rPr>
              <a:t>성장 가속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12EA393-939B-3FC2-F376-57FDF28255A5}"/>
              </a:ext>
            </a:extLst>
          </p:cNvPr>
          <p:cNvSpPr/>
          <p:nvPr/>
        </p:nvSpPr>
        <p:spPr>
          <a:xfrm>
            <a:off x="1340979" y="4103873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/>
                </a:solidFill>
              </a:rPr>
              <a:t>편의 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시간 단축 등</a:t>
            </a:r>
            <a:r>
              <a:rPr lang="en-US" altLang="ko-KR" sz="1100" dirty="0">
                <a:solidFill>
                  <a:schemeClr val="tx1"/>
                </a:solidFill>
              </a:rPr>
              <a:t>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EABCE9F-A822-0F8E-D56E-4C99D58BFE12}"/>
              </a:ext>
            </a:extLst>
          </p:cNvPr>
          <p:cNvSpPr/>
          <p:nvPr/>
        </p:nvSpPr>
        <p:spPr>
          <a:xfrm>
            <a:off x="3940583" y="2867666"/>
            <a:ext cx="1488832" cy="320468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/>
                </a:solidFill>
              </a:rPr>
              <a:t>코디</a:t>
            </a:r>
            <a:r>
              <a:rPr lang="en-US" altLang="ko-KR" sz="1100" dirty="0">
                <a:solidFill>
                  <a:schemeClr val="tx1"/>
                </a:solidFill>
              </a:rPr>
              <a:t>/</a:t>
            </a:r>
            <a:r>
              <a:rPr lang="ko-KR" altLang="en-US" sz="1100" dirty="0">
                <a:solidFill>
                  <a:schemeClr val="tx1"/>
                </a:solidFill>
              </a:rPr>
              <a:t>스킨 수집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F53A924-CD6D-BE25-E32E-B853B5750539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1156343" y="3027900"/>
            <a:ext cx="184636" cy="0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8ACB6965-1109-C1CD-1DF1-216A16CDCA45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1156343" y="3437193"/>
            <a:ext cx="184636" cy="0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505148C4-FE8E-754F-C0F2-8CE9A4E9EBF9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1156343" y="3850650"/>
            <a:ext cx="184636" cy="0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00CBB2EB-D994-7168-26C1-9DF93C69456A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1156343" y="4264107"/>
            <a:ext cx="184636" cy="0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691B917F-21D7-AFC0-AD56-54FD563108E6}"/>
              </a:ext>
            </a:extLst>
          </p:cNvPr>
          <p:cNvCxnSpPr>
            <a:cxnSpLocks/>
          </p:cNvCxnSpPr>
          <p:nvPr/>
        </p:nvCxnSpPr>
        <p:spPr>
          <a:xfrm>
            <a:off x="1156343" y="2458373"/>
            <a:ext cx="0" cy="2948951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0FE4C698-48E6-ED25-232D-FFF8F31C6D25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3741292" y="3027900"/>
            <a:ext cx="199291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F246C700-2D4B-C199-C791-CAB759C1C8A3}"/>
              </a:ext>
            </a:extLst>
          </p:cNvPr>
          <p:cNvCxnSpPr>
            <a:cxnSpLocks/>
          </p:cNvCxnSpPr>
          <p:nvPr/>
        </p:nvCxnSpPr>
        <p:spPr>
          <a:xfrm>
            <a:off x="3747155" y="2458373"/>
            <a:ext cx="0" cy="2948951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E57B0F7F-37DE-CEFA-DFB6-1F741D71FA37}"/>
              </a:ext>
            </a:extLst>
          </p:cNvPr>
          <p:cNvSpPr/>
          <p:nvPr/>
        </p:nvSpPr>
        <p:spPr>
          <a:xfrm>
            <a:off x="1475788" y="4837797"/>
            <a:ext cx="1931396" cy="320468"/>
          </a:xfrm>
          <a:prstGeom prst="rect">
            <a:avLst/>
          </a:prstGeom>
          <a:solidFill>
            <a:srgbClr val="FFF5B9"/>
          </a:solidFill>
          <a:ln w="254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/>
                </a:solidFill>
              </a:rPr>
              <a:t>시즌패스</a:t>
            </a:r>
            <a:r>
              <a:rPr lang="en-US" altLang="ko-KR" sz="1100" dirty="0">
                <a:solidFill>
                  <a:schemeClr val="tx1"/>
                </a:solidFill>
              </a:rPr>
              <a:t>/</a:t>
            </a:r>
            <a:r>
              <a:rPr lang="ko-KR" altLang="en-US" sz="1100" dirty="0" err="1">
                <a:solidFill>
                  <a:schemeClr val="tx1"/>
                </a:solidFill>
              </a:rPr>
              <a:t>배틀패스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09843E02-82E5-E107-8C99-67A49225908E}"/>
              </a:ext>
            </a:extLst>
          </p:cNvPr>
          <p:cNvSpPr/>
          <p:nvPr/>
        </p:nvSpPr>
        <p:spPr>
          <a:xfrm>
            <a:off x="1475788" y="5247090"/>
            <a:ext cx="1931396" cy="320468"/>
          </a:xfrm>
          <a:prstGeom prst="rect">
            <a:avLst/>
          </a:prstGeom>
          <a:solidFill>
            <a:srgbClr val="FFF5B9"/>
          </a:solidFill>
          <a:ln w="254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 err="1">
                <a:solidFill>
                  <a:schemeClr val="tx1"/>
                </a:solidFill>
              </a:rPr>
              <a:t>온보딩</a:t>
            </a:r>
            <a:r>
              <a:rPr lang="ko-KR" altLang="en-US" sz="1100" dirty="0">
                <a:solidFill>
                  <a:schemeClr val="tx1"/>
                </a:solidFill>
              </a:rPr>
              <a:t> 패키지</a:t>
            </a:r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6452883B-0795-4E0C-CCB1-9A386B0F8A21}"/>
              </a:ext>
            </a:extLst>
          </p:cNvPr>
          <p:cNvCxnSpPr>
            <a:cxnSpLocks/>
          </p:cNvCxnSpPr>
          <p:nvPr/>
        </p:nvCxnSpPr>
        <p:spPr>
          <a:xfrm flipH="1">
            <a:off x="1156343" y="5407324"/>
            <a:ext cx="328244" cy="0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E01AD752-70C7-6A42-3257-748FB6131ABC}"/>
              </a:ext>
            </a:extLst>
          </p:cNvPr>
          <p:cNvCxnSpPr>
            <a:cxnSpLocks/>
          </p:cNvCxnSpPr>
          <p:nvPr/>
        </p:nvCxnSpPr>
        <p:spPr>
          <a:xfrm flipH="1">
            <a:off x="1156343" y="4998031"/>
            <a:ext cx="328244" cy="0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8046A3C5-AC8E-2804-78E9-9A856BD8BCFA}"/>
              </a:ext>
            </a:extLst>
          </p:cNvPr>
          <p:cNvCxnSpPr>
            <a:cxnSpLocks/>
          </p:cNvCxnSpPr>
          <p:nvPr/>
        </p:nvCxnSpPr>
        <p:spPr>
          <a:xfrm flipH="1">
            <a:off x="3413048" y="5407324"/>
            <a:ext cx="328244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F8838389-46E5-24FB-3994-45B8C2CED010}"/>
              </a:ext>
            </a:extLst>
          </p:cNvPr>
          <p:cNvCxnSpPr>
            <a:cxnSpLocks/>
          </p:cNvCxnSpPr>
          <p:nvPr/>
        </p:nvCxnSpPr>
        <p:spPr>
          <a:xfrm flipH="1">
            <a:off x="3413048" y="4998031"/>
            <a:ext cx="328244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843D100E-5A7C-D40A-492B-0B1912E5D25A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1757151" y="1780075"/>
            <a:ext cx="640379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54E7B700-4E4F-9461-4DA8-1829C2168201}"/>
              </a:ext>
            </a:extLst>
          </p:cNvPr>
          <p:cNvCxnSpPr>
            <a:cxnSpLocks/>
            <a:endCxn id="3" idx="3"/>
          </p:cNvCxnSpPr>
          <p:nvPr/>
        </p:nvCxnSpPr>
        <p:spPr>
          <a:xfrm flipH="1">
            <a:off x="3710504" y="1780075"/>
            <a:ext cx="655042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DFB9310B-D645-DB8C-50DE-C593C5CD803B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4365546" y="1780075"/>
            <a:ext cx="0" cy="35783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2DAADDE2-B8CE-AE56-B4FD-C7BCBBCB2649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1757151" y="1780075"/>
            <a:ext cx="0" cy="35783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10AA38D-5649-5023-5845-3884577E883D}"/>
              </a:ext>
            </a:extLst>
          </p:cNvPr>
          <p:cNvSpPr txBox="1"/>
          <p:nvPr/>
        </p:nvSpPr>
        <p:spPr>
          <a:xfrm>
            <a:off x="5854378" y="1217324"/>
            <a:ext cx="5900485" cy="4119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/>
              <a:t>의견</a:t>
            </a:r>
            <a:endParaRPr lang="en-US" altLang="ko-KR" sz="1600" b="1" dirty="0">
              <a:highlight>
                <a:srgbClr val="FFE4B3"/>
              </a:highlight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00" b="1" dirty="0">
              <a:highlight>
                <a:srgbClr val="FFE4B3"/>
              </a:highlight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00" b="1" dirty="0">
              <a:highlight>
                <a:srgbClr val="FFE4B3"/>
              </a:highlight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b="1" dirty="0">
                <a:highlight>
                  <a:srgbClr val="FFE4B3"/>
                </a:highlight>
              </a:rPr>
              <a:t>성능</a:t>
            </a:r>
            <a:endParaRPr lang="en-US" altLang="ko-KR" sz="12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b="1" dirty="0">
                <a:highlight>
                  <a:srgbClr val="CCECFF"/>
                </a:highlight>
              </a:rPr>
              <a:t>감성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ko-KR" altLang="en-US" sz="1100" dirty="0"/>
              <a:t>성능을 중요시 하는 유저</a:t>
            </a:r>
            <a:r>
              <a:rPr lang="en-US" altLang="ko-KR" sz="1100" dirty="0"/>
              <a:t>,</a:t>
            </a:r>
            <a:r>
              <a:rPr lang="ko-KR" altLang="en-US" sz="1100" dirty="0"/>
              <a:t> 감성을 중요시 하는 유저</a:t>
            </a:r>
            <a:r>
              <a:rPr lang="en-US" altLang="ko-KR" sz="1100" dirty="0"/>
              <a:t> </a:t>
            </a:r>
            <a:r>
              <a:rPr lang="ko-KR" altLang="en-US" sz="1100" dirty="0"/>
              <a:t>모두가 만족 할 수 있게끔</a:t>
            </a:r>
            <a:br>
              <a:rPr lang="en-US" altLang="ko-KR" sz="1100" dirty="0"/>
            </a:br>
            <a:r>
              <a:rPr lang="ko-KR" altLang="en-US" sz="1100" dirty="0"/>
              <a:t>서로 다른 방향성의 상품들을 판매 중인 것으로</a:t>
            </a:r>
            <a:r>
              <a:rPr lang="en-US" altLang="ko-KR" sz="1100" dirty="0"/>
              <a:t> </a:t>
            </a:r>
            <a:r>
              <a:rPr lang="ko-KR" altLang="en-US" sz="1100" dirty="0"/>
              <a:t>예상됩니다</a:t>
            </a:r>
            <a:r>
              <a:rPr lang="en-US" altLang="ko-KR" sz="11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b="1" dirty="0">
                <a:highlight>
                  <a:srgbClr val="E4D2F2"/>
                </a:highlight>
              </a:rPr>
              <a:t>복합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/>
              <a:t>싼 값으로 구매를 유도하고</a:t>
            </a:r>
            <a:r>
              <a:rPr lang="en-US" altLang="ko-KR" sz="1100" dirty="0"/>
              <a:t> </a:t>
            </a:r>
            <a:r>
              <a:rPr lang="ko-KR" altLang="en-US" sz="1100" dirty="0"/>
              <a:t>특정 방향성의 아이템의 결핍을 느끼게 하며</a:t>
            </a:r>
            <a:br>
              <a:rPr lang="en-US" altLang="ko-KR" sz="1100" dirty="0"/>
            </a:br>
            <a:r>
              <a:rPr lang="ko-KR" altLang="en-US" sz="1100" dirty="0"/>
              <a:t>추가 구매로 이어지도록 유도하는 판매 전략을 사용하는 것 같습니다</a:t>
            </a:r>
            <a:r>
              <a:rPr lang="en-US" altLang="ko-KR" sz="11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100" dirty="0"/>
          </a:p>
          <a:p>
            <a:pPr>
              <a:lnSpc>
                <a:spcPct val="150000"/>
              </a:lnSpc>
            </a:pPr>
            <a:endParaRPr lang="en-US" altLang="ko-KR" sz="1100" dirty="0"/>
          </a:p>
          <a:p>
            <a:pPr>
              <a:lnSpc>
                <a:spcPct val="150000"/>
              </a:lnSpc>
            </a:pPr>
            <a:r>
              <a:rPr lang="ko-KR" altLang="en-US" sz="1200" b="1" dirty="0"/>
              <a:t>가격 대비 효율을 생각한다면 </a:t>
            </a:r>
            <a:r>
              <a:rPr lang="ko-KR" altLang="en-US" sz="1200" b="1" dirty="0">
                <a:highlight>
                  <a:srgbClr val="E4D2F2"/>
                </a:highlight>
              </a:rPr>
              <a:t>복합 상품</a:t>
            </a:r>
            <a:r>
              <a:rPr lang="ko-KR" altLang="en-US" sz="1200" b="1" dirty="0">
                <a:highlight>
                  <a:srgbClr val="FFFF00"/>
                </a:highlight>
              </a:rPr>
              <a:t>이 주력 유료 상품인 것으로 예상됩니다</a:t>
            </a:r>
            <a:r>
              <a:rPr lang="en-US" altLang="ko-KR" sz="1200" b="1" dirty="0">
                <a:highlight>
                  <a:srgbClr val="FFFF00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9524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FAA8E-063C-541F-6B81-59DB8830F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2C471FC-8C78-8F0D-A751-B3F8F6003BD0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유료 상품 분석 </a:t>
            </a:r>
            <a:r>
              <a:rPr lang="en-US" altLang="ko-KR" sz="2000" b="1" dirty="0"/>
              <a:t>– </a:t>
            </a:r>
            <a:r>
              <a:rPr lang="ko-KR" altLang="en-US" sz="2000" b="1" dirty="0"/>
              <a:t>유저 과금 지표 분석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OO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사이트 기준 국내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OO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스토어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2025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년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6~8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월 평균 </a:t>
            </a:r>
            <a:endParaRPr lang="en-US" altLang="ko-KR" sz="2000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6E5B6809-C382-2FE9-5142-C06672B547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708463"/>
              </p:ext>
            </p:extLst>
          </p:nvPr>
        </p:nvGraphicFramePr>
        <p:xfrm>
          <a:off x="3258909" y="1257381"/>
          <a:ext cx="5674183" cy="14554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8685">
                  <a:extLst>
                    <a:ext uri="{9D8B030D-6E8A-4147-A177-3AD203B41FA5}">
                      <a16:colId xmlns:a16="http://schemas.microsoft.com/office/drawing/2014/main" val="4182792535"/>
                    </a:ext>
                  </a:extLst>
                </a:gridCol>
                <a:gridCol w="823866">
                  <a:extLst>
                    <a:ext uri="{9D8B030D-6E8A-4147-A177-3AD203B41FA5}">
                      <a16:colId xmlns:a16="http://schemas.microsoft.com/office/drawing/2014/main" val="442580249"/>
                    </a:ext>
                  </a:extLst>
                </a:gridCol>
                <a:gridCol w="1097873">
                  <a:extLst>
                    <a:ext uri="{9D8B030D-6E8A-4147-A177-3AD203B41FA5}">
                      <a16:colId xmlns:a16="http://schemas.microsoft.com/office/drawing/2014/main" val="2258235410"/>
                    </a:ext>
                  </a:extLst>
                </a:gridCol>
                <a:gridCol w="800015">
                  <a:extLst>
                    <a:ext uri="{9D8B030D-6E8A-4147-A177-3AD203B41FA5}">
                      <a16:colId xmlns:a16="http://schemas.microsoft.com/office/drawing/2014/main" val="2937145788"/>
                    </a:ext>
                  </a:extLst>
                </a:gridCol>
                <a:gridCol w="800015">
                  <a:extLst>
                    <a:ext uri="{9D8B030D-6E8A-4147-A177-3AD203B41FA5}">
                      <a16:colId xmlns:a16="http://schemas.microsoft.com/office/drawing/2014/main" val="455798201"/>
                    </a:ext>
                  </a:extLst>
                </a:gridCol>
                <a:gridCol w="1303729">
                  <a:extLst>
                    <a:ext uri="{9D8B030D-6E8A-4147-A177-3AD203B41FA5}">
                      <a16:colId xmlns:a16="http://schemas.microsoft.com/office/drawing/2014/main" val="1604122080"/>
                    </a:ext>
                  </a:extLst>
                </a:gridCol>
              </a:tblGrid>
              <a:tr h="5439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쿠키런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  <a:r>
                        <a:rPr lang="ko-KR" alt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킹덤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 PUR</a:t>
                      </a:r>
                      <a:br>
                        <a:rPr lang="en-US" sz="1200" b="1" u="none" strike="noStrike" dirty="0">
                          <a:effectLst/>
                        </a:rPr>
                      </a:br>
                      <a:r>
                        <a:rPr lang="en-US" sz="800" b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</a:rPr>
                        <a:t>Paying User Rate</a:t>
                      </a:r>
                      <a:endParaRPr lang="en-US" sz="12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 ARPPU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800" b="0" i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Average Revenue Per Paying User</a:t>
                      </a:r>
                      <a:r>
                        <a:rPr lang="en-US" sz="800" b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</a:rPr>
                        <a:t> </a:t>
                      </a:r>
                      <a:endParaRPr lang="en-US" sz="8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 AU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Average User</a:t>
                      </a: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 PU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Paying User</a:t>
                      </a: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1" u="none" strike="noStrike" dirty="0">
                          <a:effectLst/>
                        </a:rPr>
                        <a:t> 총 매출 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4478181"/>
                  </a:ext>
                </a:extLst>
              </a:tr>
              <a:tr h="3038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1" u="none" strike="noStrike" dirty="0">
                          <a:effectLst/>
                        </a:rPr>
                        <a:t>6</a:t>
                      </a:r>
                      <a:r>
                        <a:rPr lang="ko-KR" altLang="en-US" sz="1200" b="1" u="none" strike="noStrike" dirty="0">
                          <a:effectLst/>
                        </a:rPr>
                        <a:t>월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20.1%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 ₩        </a:t>
                      </a:r>
                      <a:r>
                        <a:rPr lang="en-US" altLang="ko-KR" sz="1100" u="none" strike="noStrike" dirty="0">
                          <a:effectLst/>
                        </a:rPr>
                        <a:t>6,964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507211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101793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 ₩  </a:t>
                      </a:r>
                      <a:r>
                        <a:rPr lang="en-US" altLang="ko-KR" sz="1100" u="none" strike="noStrike" dirty="0">
                          <a:effectLst/>
                        </a:rPr>
                        <a:t>708,912,300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4050948"/>
                  </a:ext>
                </a:extLst>
              </a:tr>
              <a:tr h="3038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1" u="none" strike="noStrike" dirty="0">
                          <a:effectLst/>
                        </a:rPr>
                        <a:t>7</a:t>
                      </a:r>
                      <a:r>
                        <a:rPr lang="ko-KR" altLang="en-US" sz="1200" b="1" u="none" strike="noStrike" dirty="0">
                          <a:effectLst/>
                        </a:rPr>
                        <a:t>월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19.5%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 ₩        </a:t>
                      </a:r>
                      <a:r>
                        <a:rPr lang="en-US" altLang="ko-KR" sz="1100" u="none" strike="noStrike" dirty="0">
                          <a:effectLst/>
                        </a:rPr>
                        <a:t>6,601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498975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97532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 ₩  </a:t>
                      </a:r>
                      <a:r>
                        <a:rPr lang="en-US" altLang="ko-KR" sz="1100" u="none" strike="noStrike" dirty="0">
                          <a:effectLst/>
                        </a:rPr>
                        <a:t>643,785,900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4164464"/>
                  </a:ext>
                </a:extLst>
              </a:tr>
              <a:tr h="3038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1" u="none" strike="noStrike" dirty="0">
                          <a:effectLst/>
                        </a:rPr>
                        <a:t>8</a:t>
                      </a:r>
                      <a:r>
                        <a:rPr lang="ko-KR" altLang="en-US" sz="1200" b="1" u="none" strike="noStrike" dirty="0">
                          <a:effectLst/>
                        </a:rPr>
                        <a:t>월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20.1%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 ₩        </a:t>
                      </a:r>
                      <a:r>
                        <a:rPr lang="en-US" altLang="ko-KR" sz="1100" u="none" strike="noStrike" dirty="0">
                          <a:effectLst/>
                        </a:rPr>
                        <a:t>6,630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479237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96221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 ₩  </a:t>
                      </a:r>
                      <a:r>
                        <a:rPr lang="en-US" altLang="ko-KR" sz="1100" u="none" strike="noStrike" dirty="0">
                          <a:effectLst/>
                        </a:rPr>
                        <a:t>637,925,300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667154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04AD5F24-999D-E6A7-B492-70EE4BA5CD4B}"/>
              </a:ext>
            </a:extLst>
          </p:cNvPr>
          <p:cNvSpPr txBox="1"/>
          <p:nvPr/>
        </p:nvSpPr>
        <p:spPr>
          <a:xfrm>
            <a:off x="2520462" y="4872882"/>
            <a:ext cx="7151076" cy="1418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b="1" dirty="0">
                <a:highlight>
                  <a:srgbClr val="FFFF00"/>
                </a:highlight>
              </a:rPr>
              <a:t>PUR</a:t>
            </a:r>
            <a:r>
              <a:rPr lang="ko-KR" altLang="en-US" sz="1600" b="1" dirty="0">
                <a:highlight>
                  <a:srgbClr val="FFFF00"/>
                </a:highlight>
              </a:rPr>
              <a:t>은 높지만 </a:t>
            </a:r>
            <a:r>
              <a:rPr lang="en-US" altLang="ko-KR" sz="1600" b="1" dirty="0">
                <a:highlight>
                  <a:srgbClr val="FFFF00"/>
                </a:highlight>
              </a:rPr>
              <a:t>ARPPU</a:t>
            </a:r>
            <a:r>
              <a:rPr lang="ko-KR" altLang="en-US" sz="1600" b="1" dirty="0">
                <a:highlight>
                  <a:srgbClr val="FFFF00"/>
                </a:highlight>
              </a:rPr>
              <a:t>가 낮습니다</a:t>
            </a:r>
            <a:r>
              <a:rPr lang="en-US" altLang="ko-KR" sz="1600" b="1" dirty="0">
                <a:highlight>
                  <a:srgbClr val="FFFF00"/>
                </a:highlight>
              </a:rPr>
              <a:t>.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같은 장르의 타 게임과 비교 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endParaRPr lang="en-US" altLang="ko-KR" sz="1600" b="1" dirty="0">
              <a:highlight>
                <a:srgbClr val="FFFF00"/>
              </a:highlight>
            </a:endParaRPr>
          </a:p>
          <a:p>
            <a:pPr>
              <a:lnSpc>
                <a:spcPct val="150000"/>
              </a:lnSpc>
            </a:pPr>
            <a:r>
              <a:rPr lang="en-US" altLang="ko-KR" sz="700" b="1" dirty="0"/>
              <a:t>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/>
              <a:t>AU</a:t>
            </a:r>
            <a:r>
              <a:rPr lang="ko-KR" altLang="en-US" sz="1200" dirty="0"/>
              <a:t> 확보보다 </a:t>
            </a:r>
            <a:r>
              <a:rPr lang="en-US" altLang="ko-KR" sz="1200" dirty="0"/>
              <a:t>PU </a:t>
            </a:r>
            <a:r>
              <a:rPr lang="ko-KR" altLang="en-US" sz="1200" dirty="0"/>
              <a:t>내에서 매출을 확보하는 단가 상승 전략을 활용하는 것이 좋을 것 같습니다</a:t>
            </a:r>
            <a:r>
              <a:rPr lang="en-US" altLang="ko-KR" sz="1200" dirty="0"/>
              <a:t>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/>
              <a:t>단가 상승 전략을 활용한다면 자기만족의 기능을 하는 </a:t>
            </a:r>
            <a:r>
              <a:rPr lang="ko-KR" altLang="en-US" sz="1200" b="1" dirty="0">
                <a:highlight>
                  <a:srgbClr val="CCECFF"/>
                </a:highlight>
              </a:rPr>
              <a:t>감성 아이템</a:t>
            </a:r>
            <a:r>
              <a:rPr lang="ko-KR" altLang="en-US" sz="1200" dirty="0"/>
              <a:t>이 아닌</a:t>
            </a:r>
            <a:br>
              <a:rPr lang="en-US" altLang="ko-KR" sz="1200" dirty="0"/>
            </a:br>
            <a:r>
              <a:rPr lang="ko-KR" altLang="en-US" sz="1200" dirty="0"/>
              <a:t>미 구매 시 남들보다 뒤쳐진다는 위협감이 들 수 있는</a:t>
            </a:r>
            <a:r>
              <a:rPr lang="en-US" altLang="ko-KR" sz="1200" dirty="0"/>
              <a:t> </a:t>
            </a:r>
            <a:r>
              <a:rPr lang="ko-KR" altLang="en-US" sz="1200" b="1" dirty="0">
                <a:highlight>
                  <a:srgbClr val="FFE4B3"/>
                </a:highlight>
              </a:rPr>
              <a:t>성능 아이템</a:t>
            </a:r>
            <a:r>
              <a:rPr lang="ko-KR" altLang="en-US" sz="1200" dirty="0"/>
              <a:t>을 고려하는 것이 좋아 보입니다</a:t>
            </a:r>
            <a:r>
              <a:rPr lang="en-US" altLang="ko-KR" sz="1200" dirty="0"/>
              <a:t>.</a:t>
            </a:r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33043B9A-8609-18B2-9313-46610D21B8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2014792"/>
              </p:ext>
            </p:extLst>
          </p:nvPr>
        </p:nvGraphicFramePr>
        <p:xfrm>
          <a:off x="3258908" y="3065131"/>
          <a:ext cx="5674182" cy="14554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3984">
                  <a:extLst>
                    <a:ext uri="{9D8B030D-6E8A-4147-A177-3AD203B41FA5}">
                      <a16:colId xmlns:a16="http://schemas.microsoft.com/office/drawing/2014/main" val="2347846185"/>
                    </a:ext>
                  </a:extLst>
                </a:gridCol>
                <a:gridCol w="837619">
                  <a:extLst>
                    <a:ext uri="{9D8B030D-6E8A-4147-A177-3AD203B41FA5}">
                      <a16:colId xmlns:a16="http://schemas.microsoft.com/office/drawing/2014/main" val="2635126249"/>
                    </a:ext>
                  </a:extLst>
                </a:gridCol>
                <a:gridCol w="1088820">
                  <a:extLst>
                    <a:ext uri="{9D8B030D-6E8A-4147-A177-3AD203B41FA5}">
                      <a16:colId xmlns:a16="http://schemas.microsoft.com/office/drawing/2014/main" val="4058769074"/>
                    </a:ext>
                  </a:extLst>
                </a:gridCol>
                <a:gridCol w="800015">
                  <a:extLst>
                    <a:ext uri="{9D8B030D-6E8A-4147-A177-3AD203B41FA5}">
                      <a16:colId xmlns:a16="http://schemas.microsoft.com/office/drawing/2014/main" val="1716116926"/>
                    </a:ext>
                  </a:extLst>
                </a:gridCol>
                <a:gridCol w="800015">
                  <a:extLst>
                    <a:ext uri="{9D8B030D-6E8A-4147-A177-3AD203B41FA5}">
                      <a16:colId xmlns:a16="http://schemas.microsoft.com/office/drawing/2014/main" val="2462786551"/>
                    </a:ext>
                  </a:extLst>
                </a:gridCol>
                <a:gridCol w="1303729">
                  <a:extLst>
                    <a:ext uri="{9D8B030D-6E8A-4147-A177-3AD203B41FA5}">
                      <a16:colId xmlns:a16="http://schemas.microsoft.com/office/drawing/2014/main" val="1061015045"/>
                    </a:ext>
                  </a:extLst>
                </a:gridCol>
              </a:tblGrid>
              <a:tr h="563973"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타 게임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</a:t>
                      </a:r>
                      <a:b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 PUR</a:t>
                      </a:r>
                      <a:br>
                        <a:rPr lang="en-US" sz="1200" b="1" u="none" strike="noStrike" dirty="0">
                          <a:effectLst/>
                        </a:rPr>
                      </a:br>
                      <a:r>
                        <a:rPr lang="en-US" sz="800" b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</a:rPr>
                        <a:t>Paying User Rate</a:t>
                      </a:r>
                      <a:endParaRPr lang="en-US" sz="12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 ARPPU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800" b="0" i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Average Revenue Per Paying User</a:t>
                      </a:r>
                      <a:r>
                        <a:rPr lang="en-US" sz="800" b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</a:rPr>
                        <a:t> </a:t>
                      </a:r>
                      <a:endParaRPr lang="en-US" sz="8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 AU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Average User</a:t>
                      </a: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 PU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Paying User</a:t>
                      </a: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1" u="none" strike="noStrike" dirty="0">
                          <a:effectLst/>
                        </a:rPr>
                        <a:t> 총 매출 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16" marR="11116" marT="111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395541"/>
                  </a:ext>
                </a:extLst>
              </a:tr>
              <a:tr h="2971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1" u="none" strike="noStrike" dirty="0">
                          <a:effectLst/>
                        </a:rPr>
                        <a:t>6</a:t>
                      </a:r>
                      <a:r>
                        <a:rPr lang="ko-KR" altLang="en-US" sz="1200" b="1" u="none" strike="noStrike" dirty="0">
                          <a:effectLst/>
                        </a:rPr>
                        <a:t>월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8.0%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 ₩       </a:t>
                      </a:r>
                      <a:r>
                        <a:rPr lang="en-US" altLang="ko-KR" sz="1100" u="none" strike="noStrike" dirty="0">
                          <a:effectLst/>
                        </a:rPr>
                        <a:t>29,368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-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-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 </a:t>
                      </a:r>
                      <a:r>
                        <a:rPr lang="en-US" altLang="ko-KR" sz="1100" u="none" strike="noStrike" dirty="0">
                          <a:effectLst/>
                        </a:rPr>
                        <a:t>-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361657"/>
                  </a:ext>
                </a:extLst>
              </a:tr>
              <a:tr h="2971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1" u="none" strike="noStrike" dirty="0">
                          <a:effectLst/>
                        </a:rPr>
                        <a:t>7</a:t>
                      </a:r>
                      <a:r>
                        <a:rPr lang="ko-KR" altLang="en-US" sz="1200" b="1" u="none" strike="noStrike" dirty="0">
                          <a:effectLst/>
                        </a:rPr>
                        <a:t>월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7.5%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 ₩       </a:t>
                      </a:r>
                      <a:r>
                        <a:rPr lang="en-US" altLang="ko-KR" sz="1100" u="none" strike="noStrike">
                          <a:effectLst/>
                        </a:rPr>
                        <a:t>28,757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-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-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 </a:t>
                      </a:r>
                      <a:r>
                        <a:rPr lang="en-US" altLang="ko-KR" sz="1100" u="none" strike="noStrike">
                          <a:effectLst/>
                        </a:rPr>
                        <a:t>-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145498"/>
                  </a:ext>
                </a:extLst>
              </a:tr>
              <a:tr h="2971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1" u="none" strike="noStrike" dirty="0">
                          <a:effectLst/>
                        </a:rPr>
                        <a:t>8</a:t>
                      </a:r>
                      <a:r>
                        <a:rPr lang="ko-KR" altLang="en-US" sz="1200" b="1" u="none" strike="noStrike" dirty="0">
                          <a:effectLst/>
                        </a:rPr>
                        <a:t>월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8.0%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 ₩       </a:t>
                      </a:r>
                      <a:r>
                        <a:rPr lang="en-US" altLang="ko-KR" sz="1100" u="none" strike="noStrike" dirty="0">
                          <a:effectLst/>
                        </a:rPr>
                        <a:t>25,985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-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-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 </a:t>
                      </a:r>
                      <a:r>
                        <a:rPr lang="en-US" altLang="ko-KR" sz="1100" u="none" strike="noStrike" dirty="0">
                          <a:effectLst/>
                        </a:rPr>
                        <a:t>-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1003194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9EA9BC7F-440C-8063-739A-F6135EBAD764}"/>
              </a:ext>
            </a:extLst>
          </p:cNvPr>
          <p:cNvSpPr/>
          <p:nvPr/>
        </p:nvSpPr>
        <p:spPr>
          <a:xfrm>
            <a:off x="4038610" y="1178169"/>
            <a:ext cx="2057389" cy="3420207"/>
          </a:xfrm>
          <a:prstGeom prst="rect">
            <a:avLst/>
          </a:prstGeom>
          <a:noFill/>
          <a:ln w="38100">
            <a:solidFill>
              <a:srgbClr val="FF0000">
                <a:alpha val="25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5465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D0828-D767-2704-F2D1-1554ECC2F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101A6D9-6140-9ADA-0C77-64744D9F683F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유저 분석</a:t>
            </a:r>
            <a:endParaRPr lang="en-US" altLang="ko-KR" sz="2000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9C1D5AE-41F6-7976-F8AF-B4B29B511C41}"/>
              </a:ext>
            </a:extLst>
          </p:cNvPr>
          <p:cNvGrpSpPr/>
          <p:nvPr/>
        </p:nvGrpSpPr>
        <p:grpSpPr>
          <a:xfrm>
            <a:off x="2565887" y="5150086"/>
            <a:ext cx="2074986" cy="668216"/>
            <a:chOff x="1441937" y="5750169"/>
            <a:chExt cx="2074986" cy="668216"/>
          </a:xfrm>
        </p:grpSpPr>
        <p:sp>
          <p:nvSpPr>
            <p:cNvPr id="22" name="사다리꼴 21">
              <a:extLst>
                <a:ext uri="{FF2B5EF4-FFF2-40B4-BE49-F238E27FC236}">
                  <a16:creationId xmlns:a16="http://schemas.microsoft.com/office/drawing/2014/main" id="{1494D2AE-5540-17CA-24FD-85A00A1D2538}"/>
                </a:ext>
              </a:extLst>
            </p:cNvPr>
            <p:cNvSpPr/>
            <p:nvPr/>
          </p:nvSpPr>
          <p:spPr>
            <a:xfrm rot="10800000">
              <a:off x="1441937" y="5750169"/>
              <a:ext cx="2074986" cy="668216"/>
            </a:xfrm>
            <a:prstGeom prst="trapezoid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4854E13-B8D2-A140-DCE0-A19CF5E2C80B}"/>
                </a:ext>
              </a:extLst>
            </p:cNvPr>
            <p:cNvSpPr txBox="1"/>
            <p:nvPr/>
          </p:nvSpPr>
          <p:spPr>
            <a:xfrm>
              <a:off x="2098554" y="5899611"/>
              <a:ext cx="761751" cy="369332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b="1" dirty="0">
                  <a:solidFill>
                    <a:schemeClr val="tx1"/>
                  </a:solidFill>
                  <a:effectLst>
                    <a:outerShdw blurRad="88900" sx="102000" sy="102000" algn="ctr" rotWithShape="0">
                      <a:schemeClr val="bg1"/>
                    </a:outerShdw>
                  </a:effectLst>
                </a:rPr>
                <a:t>충성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96DAE961-0460-DD24-8AEE-0F8B4037A9D2}"/>
              </a:ext>
            </a:extLst>
          </p:cNvPr>
          <p:cNvGrpSpPr/>
          <p:nvPr/>
        </p:nvGrpSpPr>
        <p:grpSpPr>
          <a:xfrm>
            <a:off x="1968010" y="2434899"/>
            <a:ext cx="3270740" cy="668216"/>
            <a:chOff x="844060" y="2129917"/>
            <a:chExt cx="3270740" cy="668216"/>
          </a:xfrm>
        </p:grpSpPr>
        <p:sp>
          <p:nvSpPr>
            <p:cNvPr id="13" name="사다리꼴 12">
              <a:extLst>
                <a:ext uri="{FF2B5EF4-FFF2-40B4-BE49-F238E27FC236}">
                  <a16:creationId xmlns:a16="http://schemas.microsoft.com/office/drawing/2014/main" id="{0AFB524D-D83B-91AC-2D11-0CB88D362104}"/>
                </a:ext>
              </a:extLst>
            </p:cNvPr>
            <p:cNvSpPr/>
            <p:nvPr/>
          </p:nvSpPr>
          <p:spPr>
            <a:xfrm rot="10800000">
              <a:off x="844060" y="2129917"/>
              <a:ext cx="3270740" cy="668216"/>
            </a:xfrm>
            <a:prstGeom prst="trapezoid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9754035-9E8F-2905-E2B7-EE68FB5A9652}"/>
                </a:ext>
              </a:extLst>
            </p:cNvPr>
            <p:cNvSpPr txBox="1"/>
            <p:nvPr/>
          </p:nvSpPr>
          <p:spPr>
            <a:xfrm>
              <a:off x="2098556" y="2279359"/>
              <a:ext cx="761750" cy="369332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b="1" dirty="0">
                  <a:solidFill>
                    <a:schemeClr val="tx1"/>
                  </a:solidFill>
                  <a:effectLst>
                    <a:outerShdw blurRad="88900" sx="102000" sy="102000" algn="ctr" rotWithShape="0">
                      <a:schemeClr val="bg1"/>
                    </a:outerShdw>
                  </a:effectLst>
                </a:rPr>
                <a:t>학습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B86E7CB8-FC56-250C-AEE3-70685AC72D63}"/>
              </a:ext>
            </a:extLst>
          </p:cNvPr>
          <p:cNvGrpSpPr/>
          <p:nvPr/>
        </p:nvGrpSpPr>
        <p:grpSpPr>
          <a:xfrm>
            <a:off x="2170233" y="3339962"/>
            <a:ext cx="2866294" cy="668216"/>
            <a:chOff x="1046283" y="3336668"/>
            <a:chExt cx="2866294" cy="668216"/>
          </a:xfrm>
        </p:grpSpPr>
        <p:sp>
          <p:nvSpPr>
            <p:cNvPr id="16" name="사다리꼴 15">
              <a:extLst>
                <a:ext uri="{FF2B5EF4-FFF2-40B4-BE49-F238E27FC236}">
                  <a16:creationId xmlns:a16="http://schemas.microsoft.com/office/drawing/2014/main" id="{88704B06-7F31-6CD9-BD96-B3BB20778F59}"/>
                </a:ext>
              </a:extLst>
            </p:cNvPr>
            <p:cNvSpPr/>
            <p:nvPr/>
          </p:nvSpPr>
          <p:spPr>
            <a:xfrm rot="10800000">
              <a:off x="1046283" y="3336668"/>
              <a:ext cx="2866294" cy="668216"/>
            </a:xfrm>
            <a:prstGeom prst="trapezoid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3EBDC86-CFC2-0AED-6AB4-272A2032329A}"/>
                </a:ext>
              </a:extLst>
            </p:cNvPr>
            <p:cNvSpPr txBox="1"/>
            <p:nvPr/>
          </p:nvSpPr>
          <p:spPr>
            <a:xfrm>
              <a:off x="2098555" y="3486110"/>
              <a:ext cx="761750" cy="369332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b="1" dirty="0">
                  <a:solidFill>
                    <a:schemeClr val="tx1"/>
                  </a:solidFill>
                  <a:effectLst>
                    <a:outerShdw blurRad="88900" sx="102000" sy="102000" algn="ctr" rotWithShape="0">
                      <a:schemeClr val="bg1"/>
                    </a:outerShdw>
                  </a:effectLst>
                </a:rPr>
                <a:t>잔류</a:t>
              </a: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BB67FDCA-7B73-E315-E0C5-134D43CC4CA7}"/>
              </a:ext>
            </a:extLst>
          </p:cNvPr>
          <p:cNvGrpSpPr/>
          <p:nvPr/>
        </p:nvGrpSpPr>
        <p:grpSpPr>
          <a:xfrm>
            <a:off x="2381249" y="4245025"/>
            <a:ext cx="2444262" cy="668216"/>
            <a:chOff x="1257299" y="4543419"/>
            <a:chExt cx="2444262" cy="668216"/>
          </a:xfrm>
        </p:grpSpPr>
        <p:sp>
          <p:nvSpPr>
            <p:cNvPr id="19" name="사다리꼴 18">
              <a:extLst>
                <a:ext uri="{FF2B5EF4-FFF2-40B4-BE49-F238E27FC236}">
                  <a16:creationId xmlns:a16="http://schemas.microsoft.com/office/drawing/2014/main" id="{06E85B54-2020-AAEA-40A3-24D267F46D34}"/>
                </a:ext>
              </a:extLst>
            </p:cNvPr>
            <p:cNvSpPr/>
            <p:nvPr/>
          </p:nvSpPr>
          <p:spPr>
            <a:xfrm rot="10800000">
              <a:off x="1257299" y="4543419"/>
              <a:ext cx="2444262" cy="668216"/>
            </a:xfrm>
            <a:prstGeom prst="trapezoid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74A8E8D-4546-AFC2-BD53-9826307E3670}"/>
                </a:ext>
              </a:extLst>
            </p:cNvPr>
            <p:cNvSpPr txBox="1"/>
            <p:nvPr/>
          </p:nvSpPr>
          <p:spPr>
            <a:xfrm>
              <a:off x="2098556" y="4692861"/>
              <a:ext cx="761750" cy="369332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b="1" dirty="0">
                  <a:solidFill>
                    <a:schemeClr val="tx1"/>
                  </a:solidFill>
                  <a:effectLst>
                    <a:outerShdw blurRad="88900" sx="102000" sy="102000" algn="ctr" rotWithShape="0">
                      <a:schemeClr val="bg1"/>
                    </a:outerShdw>
                  </a:effectLst>
                </a:rPr>
                <a:t>몰입</a:t>
              </a: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C3EBB695-0298-D66F-55BC-1326F4419E89}"/>
              </a:ext>
            </a:extLst>
          </p:cNvPr>
          <p:cNvGrpSpPr/>
          <p:nvPr/>
        </p:nvGrpSpPr>
        <p:grpSpPr>
          <a:xfrm>
            <a:off x="1792165" y="1529836"/>
            <a:ext cx="3622430" cy="668216"/>
            <a:chOff x="668215" y="923167"/>
            <a:chExt cx="3622430" cy="668216"/>
          </a:xfrm>
        </p:grpSpPr>
        <p:sp>
          <p:nvSpPr>
            <p:cNvPr id="2" name="사다리꼴 1">
              <a:extLst>
                <a:ext uri="{FF2B5EF4-FFF2-40B4-BE49-F238E27FC236}">
                  <a16:creationId xmlns:a16="http://schemas.microsoft.com/office/drawing/2014/main" id="{AF064B39-391A-B8A5-8A4D-A4300D1D2291}"/>
                </a:ext>
              </a:extLst>
            </p:cNvPr>
            <p:cNvSpPr/>
            <p:nvPr/>
          </p:nvSpPr>
          <p:spPr>
            <a:xfrm rot="10800000">
              <a:off x="668215" y="923167"/>
              <a:ext cx="3622430" cy="668216"/>
            </a:xfrm>
            <a:prstGeom prst="trapezoid">
              <a:avLst/>
            </a:prstGeom>
            <a:solidFill>
              <a:schemeClr val="bg1"/>
            </a:solidFill>
            <a:ln w="12700">
              <a:solidFill>
                <a:schemeClr val="tx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DF5084E-BDDC-01FE-EC00-7B59374257F9}"/>
                </a:ext>
              </a:extLst>
            </p:cNvPr>
            <p:cNvSpPr txBox="1"/>
            <p:nvPr/>
          </p:nvSpPr>
          <p:spPr>
            <a:xfrm>
              <a:off x="1814512" y="1072609"/>
              <a:ext cx="1329836" cy="369332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b="1" dirty="0">
                  <a:solidFill>
                    <a:schemeClr val="tx1"/>
                  </a:solidFill>
                  <a:effectLst>
                    <a:outerShdw blurRad="88900" sx="102000" sy="102000" algn="ctr" rotWithShape="0">
                      <a:schemeClr val="bg1"/>
                    </a:outerShdw>
                  </a:effectLst>
                </a:rPr>
                <a:t>유입</a:t>
              </a:r>
              <a:endParaRPr lang="ko-KR" altLang="en-US" b="1" dirty="0">
                <a:effectLst>
                  <a:outerShdw blurRad="88900" sx="102000" sy="102000" algn="ctr" rotWithShape="0">
                    <a:schemeClr val="bg1"/>
                  </a:outerShdw>
                </a:effectLst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7B0D3D6F-5800-B356-0526-3C84D5D3303C}"/>
              </a:ext>
            </a:extLst>
          </p:cNvPr>
          <p:cNvSpPr txBox="1"/>
          <p:nvPr/>
        </p:nvSpPr>
        <p:spPr>
          <a:xfrm>
            <a:off x="5957520" y="2757310"/>
            <a:ext cx="5003820" cy="1343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kumimoji="0" lang="en-US" altLang="ko-KR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‘</a:t>
            </a:r>
            <a:r>
              <a:rPr kumimoji="0" lang="ko-KR" altLang="en-US" sz="1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쿠키런</a:t>
            </a:r>
            <a:r>
              <a:rPr kumimoji="0" lang="en-US" altLang="ko-KR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</a:t>
            </a:r>
            <a:r>
              <a:rPr kumimoji="0" lang="ko-KR" altLang="en-US" sz="1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킹덤</a:t>
            </a:r>
            <a:r>
              <a:rPr kumimoji="0" lang="en-US" altLang="ko-KR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‘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유저층</a:t>
            </a:r>
            <a:r>
              <a:rPr kumimoji="0" lang="ko-KR" alt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을</a:t>
            </a:r>
            <a:b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5</a:t>
            </a:r>
            <a:r>
              <a:rPr lang="ko-KR" altLang="en-US" sz="14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단계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유형으로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ko-KR" altLang="en-US" sz="14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구분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하였습니다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  <a:endParaRPr lang="en-US" altLang="ko-KR" sz="1400" b="1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00" b="1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위 단계를 기준으로 </a:t>
            </a:r>
            <a:r>
              <a:rPr lang="ko-KR" altLang="en-US" sz="1400" b="1" dirty="0" err="1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퍼널</a:t>
            </a:r>
            <a:r>
              <a:rPr lang="ko-KR" altLang="en-US" sz="14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분석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을 하였습니다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18055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58CC0-EAAA-DF20-FCC8-6F2F852D7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8BF98A-6373-25AE-E840-663A946E6116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유저 분석</a:t>
            </a:r>
            <a:endParaRPr lang="en-US" altLang="ko-KR" sz="2000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470CD1B-7605-4944-D72F-D018D2C842CE}"/>
              </a:ext>
            </a:extLst>
          </p:cNvPr>
          <p:cNvGrpSpPr/>
          <p:nvPr/>
        </p:nvGrpSpPr>
        <p:grpSpPr>
          <a:xfrm>
            <a:off x="1424352" y="923167"/>
            <a:ext cx="3622430" cy="668216"/>
            <a:chOff x="668215" y="923167"/>
            <a:chExt cx="3622430" cy="668216"/>
          </a:xfrm>
        </p:grpSpPr>
        <p:sp>
          <p:nvSpPr>
            <p:cNvPr id="4" name="사다리꼴 3">
              <a:extLst>
                <a:ext uri="{FF2B5EF4-FFF2-40B4-BE49-F238E27FC236}">
                  <a16:creationId xmlns:a16="http://schemas.microsoft.com/office/drawing/2014/main" id="{DC608D90-5A8B-2F4E-36F5-88AB974E40F7}"/>
                </a:ext>
              </a:extLst>
            </p:cNvPr>
            <p:cNvSpPr/>
            <p:nvPr/>
          </p:nvSpPr>
          <p:spPr>
            <a:xfrm rot="10800000">
              <a:off x="668215" y="923167"/>
              <a:ext cx="3622430" cy="668216"/>
            </a:xfrm>
            <a:prstGeom prst="trapezoid">
              <a:avLst/>
            </a:prstGeom>
            <a:solidFill>
              <a:schemeClr val="bg1"/>
            </a:solidFill>
            <a:ln w="12700">
              <a:solidFill>
                <a:schemeClr val="tx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FB6F75D-4FA5-E4F9-4830-165F2EF13AD6}"/>
                </a:ext>
              </a:extLst>
            </p:cNvPr>
            <p:cNvSpPr txBox="1"/>
            <p:nvPr/>
          </p:nvSpPr>
          <p:spPr>
            <a:xfrm>
              <a:off x="1814512" y="1072609"/>
              <a:ext cx="1329836" cy="369332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b="1" dirty="0">
                  <a:solidFill>
                    <a:schemeClr val="tx1"/>
                  </a:solidFill>
                  <a:effectLst>
                    <a:outerShdw blurRad="88900" sx="102000" sy="102000" algn="ctr" rotWithShape="0">
                      <a:schemeClr val="bg1"/>
                    </a:outerShdw>
                  </a:effectLst>
                </a:rPr>
                <a:t>유입</a:t>
              </a:r>
              <a:endParaRPr lang="ko-KR" altLang="en-US" b="1" dirty="0">
                <a:effectLst>
                  <a:outerShdw blurRad="88900" sx="102000" sy="102000" algn="ctr" rotWithShape="0">
                    <a:schemeClr val="bg1"/>
                  </a:outerShdw>
                </a:effectLst>
              </a:endParaRPr>
            </a:p>
          </p:txBody>
        </p:sp>
      </p:grp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461FDCA-250E-6C09-BB1C-650E1192F9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915287"/>
              </p:ext>
            </p:extLst>
          </p:nvPr>
        </p:nvGraphicFramePr>
        <p:xfrm>
          <a:off x="1424352" y="4370148"/>
          <a:ext cx="3622430" cy="19423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11215">
                  <a:extLst>
                    <a:ext uri="{9D8B030D-6E8A-4147-A177-3AD203B41FA5}">
                      <a16:colId xmlns:a16="http://schemas.microsoft.com/office/drawing/2014/main" val="327429306"/>
                    </a:ext>
                  </a:extLst>
                </a:gridCol>
                <a:gridCol w="1811215">
                  <a:extLst>
                    <a:ext uri="{9D8B030D-6E8A-4147-A177-3AD203B41FA5}">
                      <a16:colId xmlns:a16="http://schemas.microsoft.com/office/drawing/2014/main" val="863518014"/>
                    </a:ext>
                  </a:extLst>
                </a:gridCol>
              </a:tblGrid>
              <a:tr h="3868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/>
                        <a:t>몰입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/>
                        <a:t>이탈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10057"/>
                  </a:ext>
                </a:extLst>
              </a:tr>
              <a:tr h="1555516"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b="0" i="0" dirty="0"/>
                        <a:t>첫 인상이 마음에 드니</a:t>
                      </a:r>
                      <a:br>
                        <a:rPr lang="en-US" altLang="ko-KR" sz="1100" b="0" i="0" dirty="0"/>
                      </a:br>
                      <a:r>
                        <a:rPr lang="ko-KR" altLang="en-US" sz="1100" b="0" i="0" dirty="0"/>
                        <a:t>조금만 더 해봐야겠다</a:t>
                      </a:r>
                      <a:r>
                        <a:rPr lang="en-US" altLang="ko-KR" sz="1100" b="0" i="0" dirty="0"/>
                        <a:t>.</a:t>
                      </a:r>
                      <a:endParaRPr lang="ko-KR" altLang="en-US" sz="1100" b="0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b="0" i="0" dirty="0"/>
                        <a:t>내 취향은 아니다</a:t>
                      </a:r>
                      <a:r>
                        <a:rPr lang="en-US" altLang="ko-KR" sz="1100" b="0" i="0" dirty="0"/>
                        <a:t>.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b="0" i="0" dirty="0"/>
                        <a:t>게임이 무슨 내용인지 알 수 없어</a:t>
                      </a:r>
                      <a:r>
                        <a:rPr lang="en-US" altLang="ko-KR" sz="1100" b="0" i="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0674291"/>
                  </a:ext>
                </a:extLst>
              </a:tr>
            </a:tbl>
          </a:graphicData>
        </a:graphic>
      </p:graphicFrame>
      <p:pic>
        <p:nvPicPr>
          <p:cNvPr id="8" name="그래픽 7" descr="사용자">
            <a:extLst>
              <a:ext uri="{FF2B5EF4-FFF2-40B4-BE49-F238E27FC236}">
                <a16:creationId xmlns:a16="http://schemas.microsoft.com/office/drawing/2014/main" id="{E7A78825-95F5-73A5-AD04-1326821CA6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61315" y="1740826"/>
            <a:ext cx="1839160" cy="1839156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15BBC6B-FDA2-4498-E09D-D7BF421F6AF4}"/>
              </a:ext>
            </a:extLst>
          </p:cNvPr>
          <p:cNvSpPr/>
          <p:nvPr/>
        </p:nvSpPr>
        <p:spPr>
          <a:xfrm>
            <a:off x="1424352" y="3429000"/>
            <a:ext cx="3622430" cy="835762"/>
          </a:xfrm>
          <a:prstGeom prst="roundRect">
            <a:avLst/>
          </a:prstGeom>
          <a:solidFill>
            <a:schemeClr val="bg1"/>
          </a:solidFill>
          <a:ln w="38100" cmpd="dbl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</a:rPr>
              <a:t>일단 한번 해보기나 하자</a:t>
            </a:r>
            <a:r>
              <a:rPr lang="en-US" altLang="ko-KR" sz="1100" dirty="0">
                <a:solidFill>
                  <a:schemeClr val="tx1"/>
                </a:solidFill>
              </a:rPr>
              <a:t>.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93B1A4-7483-7B50-2AE3-260488AE6E7E}"/>
              </a:ext>
            </a:extLst>
          </p:cNvPr>
          <p:cNvSpPr txBox="1"/>
          <p:nvPr/>
        </p:nvSpPr>
        <p:spPr>
          <a:xfrm>
            <a:off x="5763828" y="923166"/>
            <a:ext cx="5270518" cy="3195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/>
              <a:t>특성</a:t>
            </a:r>
            <a:endParaRPr lang="en-US" altLang="ko-KR" sz="1200" b="1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dirty="0"/>
              <a:t>게임의 특징을 알기 위해 설치하여 접속한 유저</a:t>
            </a:r>
            <a:endParaRPr lang="en-US" altLang="ko-KR" sz="1100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dirty="0"/>
              <a:t>첫 인상이 좋지 못할 때 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취향에 맞지 않음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,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 게임 이해 불가 등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)</a:t>
            </a:r>
            <a:b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ko-KR" altLang="en-US" sz="1100" dirty="0"/>
              <a:t>언제든지 이탈 가능하다</a:t>
            </a:r>
            <a:r>
              <a:rPr lang="en-US" altLang="ko-KR" sz="1100" dirty="0"/>
              <a:t>.</a:t>
            </a:r>
            <a:r>
              <a:rPr lang="ko-KR" altLang="en-US" sz="1100" dirty="0"/>
              <a:t> </a:t>
            </a:r>
            <a:endParaRPr lang="en-US" altLang="ko-KR" sz="1100" dirty="0"/>
          </a:p>
          <a:p>
            <a:pPr lvl="1">
              <a:lnSpc>
                <a:spcPct val="150000"/>
              </a:lnSpc>
            </a:pPr>
            <a:endParaRPr lang="en-US" altLang="ko-KR" sz="12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/>
              <a:t>핵심 서비스 로그</a:t>
            </a:r>
            <a:endParaRPr lang="en-US" altLang="ko-KR" sz="1200" b="1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100" dirty="0">
                <a:solidFill>
                  <a:prstClr val="black"/>
                </a:solidFill>
              </a:rPr>
              <a:t>튜토리얼 클리어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100" dirty="0">
                <a:solidFill>
                  <a:prstClr val="black"/>
                </a:solidFill>
              </a:rPr>
              <a:t>월드 </a:t>
            </a:r>
            <a:r>
              <a:rPr lang="en-US" altLang="ko-KR" sz="1100" dirty="0">
                <a:solidFill>
                  <a:prstClr val="black"/>
                </a:solidFill>
              </a:rPr>
              <a:t>1 </a:t>
            </a:r>
            <a:r>
              <a:rPr lang="ko-KR" altLang="en-US" sz="1100" dirty="0">
                <a:solidFill>
                  <a:prstClr val="black"/>
                </a:solidFill>
              </a:rPr>
              <a:t>클리어</a:t>
            </a:r>
            <a:endParaRPr lang="en-US" altLang="ko-KR" sz="1100" dirty="0">
              <a:solidFill>
                <a:prstClr val="black"/>
              </a:solidFill>
            </a:endParaRP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100" dirty="0">
                <a:solidFill>
                  <a:prstClr val="black"/>
                </a:solidFill>
              </a:rPr>
              <a:t>게임 삭제</a:t>
            </a:r>
            <a:endParaRPr lang="en-US" altLang="ko-KR" sz="1100" dirty="0">
              <a:solidFill>
                <a:prstClr val="black"/>
              </a:solidFill>
            </a:endParaRP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endParaRPr lang="en-US" altLang="ko-KR" sz="1100" dirty="0">
              <a:solidFill>
                <a:prstClr val="black"/>
              </a:solidFill>
            </a:endParaRP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endParaRPr lang="en-US" altLang="ko-KR" sz="1100" dirty="0">
              <a:solidFill>
                <a:prstClr val="black"/>
              </a:solidFill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/>
              <a:t>컨텐츠 소비 방식</a:t>
            </a:r>
            <a:endParaRPr lang="en-US" altLang="ko-KR" sz="1200" b="1" dirty="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DA4E1D80-0601-3716-1F78-B009284387BA}"/>
              </a:ext>
            </a:extLst>
          </p:cNvPr>
          <p:cNvSpPr/>
          <p:nvPr/>
        </p:nvSpPr>
        <p:spPr>
          <a:xfrm>
            <a:off x="3419178" y="2713486"/>
            <a:ext cx="72000" cy="72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5FF89BBC-30C8-C03D-36C3-7D041BA748F1}"/>
              </a:ext>
            </a:extLst>
          </p:cNvPr>
          <p:cNvSpPr/>
          <p:nvPr/>
        </p:nvSpPr>
        <p:spPr>
          <a:xfrm>
            <a:off x="3527178" y="2553274"/>
            <a:ext cx="144000" cy="144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10E62BD9-DE12-9046-C7B3-D9AADEC6FBDD}"/>
              </a:ext>
            </a:extLst>
          </p:cNvPr>
          <p:cNvSpPr/>
          <p:nvPr/>
        </p:nvSpPr>
        <p:spPr>
          <a:xfrm>
            <a:off x="3599178" y="1701251"/>
            <a:ext cx="1048235" cy="1048235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400" b="1" dirty="0">
                <a:solidFill>
                  <a:schemeClr val="tx1"/>
                </a:solidFill>
              </a:rPr>
              <a:t>?</a:t>
            </a:r>
            <a:endParaRPr lang="ko-KR" altLang="en-US" sz="5400" b="1" dirty="0">
              <a:solidFill>
                <a:schemeClr val="tx1"/>
              </a:solidFill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0719ED78-37C0-D306-0A0D-B0E1D2AB631B}"/>
              </a:ext>
            </a:extLst>
          </p:cNvPr>
          <p:cNvSpPr/>
          <p:nvPr/>
        </p:nvSpPr>
        <p:spPr>
          <a:xfrm>
            <a:off x="5949699" y="4522232"/>
            <a:ext cx="1489326" cy="750436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게임 설치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D950EA73-A8C6-2A20-E3F1-5822A68F5E01}"/>
              </a:ext>
            </a:extLst>
          </p:cNvPr>
          <p:cNvSpPr/>
          <p:nvPr/>
        </p:nvSpPr>
        <p:spPr>
          <a:xfrm>
            <a:off x="7710859" y="4522232"/>
            <a:ext cx="1489326" cy="750436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튜토리얼 및</a:t>
            </a:r>
            <a:br>
              <a:rPr lang="en-US" altLang="ko-KR" sz="1200" dirty="0">
                <a:solidFill>
                  <a:schemeClr val="tx1"/>
                </a:solidFill>
              </a:rPr>
            </a:br>
            <a:r>
              <a:rPr lang="ko-KR" altLang="en-US" sz="1200" dirty="0">
                <a:solidFill>
                  <a:schemeClr val="tx1"/>
                </a:solidFill>
              </a:rPr>
              <a:t>첫 판 클리어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CB7147ED-C540-BBD1-BB86-CBC29ED54A28}"/>
              </a:ext>
            </a:extLst>
          </p:cNvPr>
          <p:cNvSpPr/>
          <p:nvPr/>
        </p:nvSpPr>
        <p:spPr>
          <a:xfrm>
            <a:off x="9472019" y="5068216"/>
            <a:ext cx="1110022" cy="559314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게임 삭제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58393222-B3FB-BF63-4AE5-850999A328D9}"/>
              </a:ext>
            </a:extLst>
          </p:cNvPr>
          <p:cNvSpPr/>
          <p:nvPr/>
        </p:nvSpPr>
        <p:spPr>
          <a:xfrm>
            <a:off x="9472019" y="4264762"/>
            <a:ext cx="1110022" cy="559314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몰입 시작</a:t>
            </a: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CF0E33B-585E-4803-73C0-DA7B11D89E1F}"/>
              </a:ext>
            </a:extLst>
          </p:cNvPr>
          <p:cNvCxnSpPr>
            <a:cxnSpLocks/>
            <a:stCxn id="32" idx="3"/>
            <a:endCxn id="35" idx="1"/>
          </p:cNvCxnSpPr>
          <p:nvPr/>
        </p:nvCxnSpPr>
        <p:spPr>
          <a:xfrm>
            <a:off x="7439025" y="4897450"/>
            <a:ext cx="27183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F09E0359-78A5-DAD9-70F3-EC7C7BB465FF}"/>
              </a:ext>
            </a:extLst>
          </p:cNvPr>
          <p:cNvCxnSpPr>
            <a:cxnSpLocks/>
            <a:stCxn id="35" idx="3"/>
            <a:endCxn id="39" idx="1"/>
          </p:cNvCxnSpPr>
          <p:nvPr/>
        </p:nvCxnSpPr>
        <p:spPr>
          <a:xfrm flipV="1">
            <a:off x="9200185" y="4544419"/>
            <a:ext cx="271834" cy="35303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2A3DBFFE-B42A-FDE3-7B68-CDAC69091198}"/>
              </a:ext>
            </a:extLst>
          </p:cNvPr>
          <p:cNvCxnSpPr>
            <a:cxnSpLocks/>
            <a:stCxn id="35" idx="3"/>
            <a:endCxn id="38" idx="1"/>
          </p:cNvCxnSpPr>
          <p:nvPr/>
        </p:nvCxnSpPr>
        <p:spPr>
          <a:xfrm>
            <a:off x="9200185" y="4897450"/>
            <a:ext cx="271834" cy="45042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이등변 삼각형 51">
            <a:extLst>
              <a:ext uri="{FF2B5EF4-FFF2-40B4-BE49-F238E27FC236}">
                <a16:creationId xmlns:a16="http://schemas.microsoft.com/office/drawing/2014/main" id="{B58D16FF-3348-41C9-72FD-D3CE2F508318}"/>
              </a:ext>
            </a:extLst>
          </p:cNvPr>
          <p:cNvSpPr/>
          <p:nvPr/>
        </p:nvSpPr>
        <p:spPr>
          <a:xfrm rot="10800000">
            <a:off x="4810125" y="4091916"/>
            <a:ext cx="132560" cy="114277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20171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0D2A9-3602-5D44-C07B-523E7B331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6DFE99F-48ED-D453-FBFD-74CDA5EBD3C4}"/>
              </a:ext>
            </a:extLst>
          </p:cNvPr>
          <p:cNvSpPr/>
          <p:nvPr/>
        </p:nvSpPr>
        <p:spPr>
          <a:xfrm>
            <a:off x="6350603" y="3846881"/>
            <a:ext cx="4096968" cy="2353010"/>
          </a:xfrm>
          <a:prstGeom prst="roundRect">
            <a:avLst>
              <a:gd name="adj" fmla="val 4523"/>
            </a:avLst>
          </a:prstGeom>
          <a:solidFill>
            <a:schemeClr val="bg1"/>
          </a:solidFill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2C0CBE-4F8D-48F6-5016-A36B8169CE28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유저 분석</a:t>
            </a:r>
            <a:endParaRPr lang="en-US" altLang="ko-KR" sz="2000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9120C374-8291-960A-E4F8-979BFED6AA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815913"/>
              </p:ext>
            </p:extLst>
          </p:nvPr>
        </p:nvGraphicFramePr>
        <p:xfrm>
          <a:off x="1424352" y="4370148"/>
          <a:ext cx="3622430" cy="19423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11215">
                  <a:extLst>
                    <a:ext uri="{9D8B030D-6E8A-4147-A177-3AD203B41FA5}">
                      <a16:colId xmlns:a16="http://schemas.microsoft.com/office/drawing/2014/main" val="327429306"/>
                    </a:ext>
                  </a:extLst>
                </a:gridCol>
                <a:gridCol w="1811215">
                  <a:extLst>
                    <a:ext uri="{9D8B030D-6E8A-4147-A177-3AD203B41FA5}">
                      <a16:colId xmlns:a16="http://schemas.microsoft.com/office/drawing/2014/main" val="863518014"/>
                    </a:ext>
                  </a:extLst>
                </a:gridCol>
              </a:tblGrid>
              <a:tr h="3868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/>
                        <a:t>몰입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/>
                        <a:t>이탈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10057"/>
                  </a:ext>
                </a:extLst>
              </a:tr>
              <a:tr h="1555516"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b="0" i="0" dirty="0"/>
                        <a:t>이 정도면</a:t>
                      </a:r>
                      <a:br>
                        <a:rPr lang="en-US" altLang="ko-KR" sz="1100" b="0" i="0" dirty="0"/>
                      </a:br>
                      <a:r>
                        <a:rPr lang="ko-KR" altLang="en-US" sz="1100" b="0" i="0" dirty="0"/>
                        <a:t>꾸준히 할 만 하지</a:t>
                      </a:r>
                      <a:r>
                        <a:rPr lang="en-US" altLang="ko-KR" sz="1100" b="0" i="0" dirty="0"/>
                        <a:t>.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endParaRPr lang="en-US" altLang="ko-KR" sz="1100" b="0" i="0" dirty="0"/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b="0" i="0" dirty="0"/>
                        <a:t>어떤 게임인지</a:t>
                      </a:r>
                      <a:br>
                        <a:rPr lang="en-US" altLang="ko-KR" sz="1100" b="0" i="0" dirty="0"/>
                      </a:br>
                      <a:r>
                        <a:rPr lang="ko-KR" altLang="en-US" sz="1100" b="0" i="0" dirty="0"/>
                        <a:t>파악했고 익숙해졌어</a:t>
                      </a:r>
                      <a:r>
                        <a:rPr lang="en-US" altLang="ko-KR" sz="1100" b="0" i="0" dirty="0"/>
                        <a:t>.</a:t>
                      </a:r>
                      <a:endParaRPr lang="ko-KR" altLang="en-US" sz="1100" b="0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b="0" i="0" dirty="0"/>
                        <a:t>난 이 게임을 할</a:t>
                      </a:r>
                      <a:br>
                        <a:rPr lang="en-US" altLang="ko-KR" sz="1100" b="0" i="0" dirty="0"/>
                      </a:br>
                      <a:r>
                        <a:rPr lang="ko-KR" altLang="en-US" sz="1100" b="0" i="0" dirty="0"/>
                        <a:t>여건이 안돼</a:t>
                      </a:r>
                      <a:r>
                        <a:rPr lang="en-US" altLang="ko-KR" sz="1100" b="0" i="0" dirty="0"/>
                        <a:t>.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endParaRPr lang="en-US" altLang="ko-KR" sz="1100" b="0" i="0" dirty="0"/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b="0" i="0" dirty="0"/>
                        <a:t>게임의 진행 방식이</a:t>
                      </a:r>
                      <a:br>
                        <a:rPr lang="en-US" altLang="ko-KR" sz="1100" b="0" i="0" dirty="0"/>
                      </a:br>
                      <a:r>
                        <a:rPr lang="ko-KR" altLang="en-US" sz="1100" b="0" i="0" dirty="0"/>
                        <a:t>마음에 안 들어</a:t>
                      </a:r>
                      <a:r>
                        <a:rPr lang="en-US" altLang="ko-KR" sz="1100" b="0" i="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0674291"/>
                  </a:ext>
                </a:extLst>
              </a:tr>
            </a:tbl>
          </a:graphicData>
        </a:graphic>
      </p:graphicFrame>
      <p:pic>
        <p:nvPicPr>
          <p:cNvPr id="8" name="그래픽 7" descr="사용자">
            <a:extLst>
              <a:ext uri="{FF2B5EF4-FFF2-40B4-BE49-F238E27FC236}">
                <a16:creationId xmlns:a16="http://schemas.microsoft.com/office/drawing/2014/main" id="{D6B29981-DAB2-5D77-4731-652A2F6987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61315" y="1740826"/>
            <a:ext cx="1839160" cy="1839156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09746F6-EF5B-B0FE-8841-DECA1DC46F96}"/>
              </a:ext>
            </a:extLst>
          </p:cNvPr>
          <p:cNvSpPr/>
          <p:nvPr/>
        </p:nvSpPr>
        <p:spPr>
          <a:xfrm>
            <a:off x="1424352" y="3429000"/>
            <a:ext cx="3622430" cy="835762"/>
          </a:xfrm>
          <a:prstGeom prst="roundRect">
            <a:avLst/>
          </a:prstGeom>
          <a:solidFill>
            <a:schemeClr val="bg1"/>
          </a:solidFill>
          <a:ln w="38100" cmpd="dbl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</a:rPr>
              <a:t>어떤 식으로 게임이 진행되는 걸까</a:t>
            </a:r>
            <a:r>
              <a:rPr lang="en-US" altLang="ko-KR" sz="1100" dirty="0">
                <a:solidFill>
                  <a:schemeClr val="tx1"/>
                </a:solidFill>
              </a:rPr>
              <a:t>?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E8586D-08C1-C7B6-5A15-DD9AAE05EFEA}"/>
              </a:ext>
            </a:extLst>
          </p:cNvPr>
          <p:cNvSpPr txBox="1"/>
          <p:nvPr/>
        </p:nvSpPr>
        <p:spPr>
          <a:xfrm>
            <a:off x="5763828" y="923166"/>
            <a:ext cx="5270518" cy="2688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/>
              <a:t>특성</a:t>
            </a:r>
            <a:endParaRPr lang="en-US" altLang="ko-KR" sz="1200" b="1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dirty="0"/>
              <a:t>게임의 전체적인 흐름 방식을 이해하는 중인 유저</a:t>
            </a:r>
            <a:endParaRPr lang="en-US" altLang="ko-KR" sz="1100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dirty="0"/>
              <a:t>게임의 양상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플레이타임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컨텐츠 등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)</a:t>
            </a:r>
            <a:r>
              <a:rPr lang="ko-KR" altLang="en-US" sz="1100" dirty="0"/>
              <a:t>을 파악하고</a:t>
            </a:r>
            <a:br>
              <a:rPr lang="en-US" altLang="ko-KR" sz="1100" dirty="0"/>
            </a:br>
            <a:r>
              <a:rPr lang="ko-KR" altLang="en-US" sz="1100" dirty="0"/>
              <a:t>취향에 따라 몰입과 이탈이 정해진다</a:t>
            </a:r>
            <a:r>
              <a:rPr lang="en-US" altLang="ko-KR" sz="1100" dirty="0"/>
              <a:t>.</a:t>
            </a:r>
            <a:r>
              <a:rPr lang="ko-KR" altLang="en-US" sz="1100" dirty="0"/>
              <a:t> </a:t>
            </a:r>
            <a:endParaRPr lang="en-US" altLang="ko-KR" sz="1100" dirty="0"/>
          </a:p>
          <a:p>
            <a:pPr lvl="1">
              <a:lnSpc>
                <a:spcPct val="150000"/>
              </a:lnSpc>
            </a:pPr>
            <a:endParaRPr lang="en-US" altLang="ko-KR" sz="12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/>
              <a:t>핵심 서비스 로그</a:t>
            </a:r>
            <a:endParaRPr lang="en-US" altLang="ko-KR" sz="1200" b="1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100" dirty="0">
                <a:solidFill>
                  <a:prstClr val="black"/>
                </a:solidFill>
              </a:rPr>
              <a:t>마지막 접속일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100" dirty="0">
                <a:solidFill>
                  <a:prstClr val="black"/>
                </a:solidFill>
              </a:rPr>
              <a:t>마지막 접속 이후 재방문에 걸린 시간</a:t>
            </a:r>
            <a:endParaRPr lang="en-US" altLang="ko-KR" sz="1100" dirty="0">
              <a:solidFill>
                <a:prstClr val="black"/>
              </a:solidFill>
            </a:endParaRP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endParaRPr lang="en-US" altLang="ko-KR" sz="1100" dirty="0">
              <a:solidFill>
                <a:prstClr val="black"/>
              </a:solidFill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/>
              <a:t>컨텐츠 소비 방식</a:t>
            </a:r>
            <a:endParaRPr lang="en-US" altLang="ko-KR" sz="1200" b="1" dirty="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508F2BEB-F7A1-40E5-E5C1-0AF57C119D0A}"/>
              </a:ext>
            </a:extLst>
          </p:cNvPr>
          <p:cNvSpPr/>
          <p:nvPr/>
        </p:nvSpPr>
        <p:spPr>
          <a:xfrm>
            <a:off x="3419178" y="2713486"/>
            <a:ext cx="72000" cy="72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0CE3C34E-B937-79FC-89C8-8C7793AA673C}"/>
              </a:ext>
            </a:extLst>
          </p:cNvPr>
          <p:cNvSpPr/>
          <p:nvPr/>
        </p:nvSpPr>
        <p:spPr>
          <a:xfrm>
            <a:off x="3527178" y="2553274"/>
            <a:ext cx="144000" cy="144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1A3BCA20-D12C-4ED4-F860-EB39C10EA670}"/>
              </a:ext>
            </a:extLst>
          </p:cNvPr>
          <p:cNvSpPr/>
          <p:nvPr/>
        </p:nvSpPr>
        <p:spPr>
          <a:xfrm>
            <a:off x="3599178" y="1701251"/>
            <a:ext cx="1048235" cy="1048235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00" b="1" dirty="0">
              <a:solidFill>
                <a:schemeClr val="tx1"/>
              </a:solidFill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02D95A50-FEF7-1A3B-256D-61AC5E301A15}"/>
              </a:ext>
            </a:extLst>
          </p:cNvPr>
          <p:cNvSpPr/>
          <p:nvPr/>
        </p:nvSpPr>
        <p:spPr>
          <a:xfrm>
            <a:off x="7781925" y="4030725"/>
            <a:ext cx="1234324" cy="641761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스토리 컨텐츠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8812983-DB81-F8B9-D120-EDEF47C61B3C}"/>
              </a:ext>
            </a:extLst>
          </p:cNvPr>
          <p:cNvSpPr/>
          <p:nvPr/>
        </p:nvSpPr>
        <p:spPr>
          <a:xfrm>
            <a:off x="7511299" y="3628743"/>
            <a:ext cx="1775576" cy="282734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초보자 성장 가이드</a:t>
            </a: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E29ED0E3-F87B-C62C-D5B1-49AA95A559FB}"/>
              </a:ext>
            </a:extLst>
          </p:cNvPr>
          <p:cNvCxnSpPr>
            <a:cxnSpLocks/>
            <a:stCxn id="32" idx="3"/>
            <a:endCxn id="19" idx="0"/>
          </p:cNvCxnSpPr>
          <p:nvPr/>
        </p:nvCxnSpPr>
        <p:spPr>
          <a:xfrm>
            <a:off x="9016249" y="4351606"/>
            <a:ext cx="617162" cy="39781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40E9E19C-7A1D-9E62-E1EF-EA453075D29D}"/>
              </a:ext>
            </a:extLst>
          </p:cNvPr>
          <p:cNvGrpSpPr/>
          <p:nvPr/>
        </p:nvGrpSpPr>
        <p:grpSpPr>
          <a:xfrm>
            <a:off x="1600197" y="920388"/>
            <a:ext cx="3270740" cy="668216"/>
            <a:chOff x="844060" y="2129917"/>
            <a:chExt cx="3270740" cy="668216"/>
          </a:xfrm>
        </p:grpSpPr>
        <p:sp>
          <p:nvSpPr>
            <p:cNvPr id="5" name="사다리꼴 4">
              <a:extLst>
                <a:ext uri="{FF2B5EF4-FFF2-40B4-BE49-F238E27FC236}">
                  <a16:creationId xmlns:a16="http://schemas.microsoft.com/office/drawing/2014/main" id="{ECB09B62-5AC2-AC07-5A58-0042405DE13F}"/>
                </a:ext>
              </a:extLst>
            </p:cNvPr>
            <p:cNvSpPr/>
            <p:nvPr/>
          </p:nvSpPr>
          <p:spPr>
            <a:xfrm rot="10800000">
              <a:off x="844060" y="2129917"/>
              <a:ext cx="3270740" cy="668216"/>
            </a:xfrm>
            <a:prstGeom prst="trapezoid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9B2CFA0-7C0E-5C24-2E06-821A6D77564D}"/>
                </a:ext>
              </a:extLst>
            </p:cNvPr>
            <p:cNvSpPr txBox="1"/>
            <p:nvPr/>
          </p:nvSpPr>
          <p:spPr>
            <a:xfrm>
              <a:off x="2098556" y="2279359"/>
              <a:ext cx="761750" cy="369332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b="1" dirty="0">
                  <a:solidFill>
                    <a:schemeClr val="tx1"/>
                  </a:solidFill>
                  <a:effectLst>
                    <a:outerShdw blurRad="88900" sx="102000" sy="102000" algn="ctr" rotWithShape="0">
                      <a:schemeClr val="bg1"/>
                    </a:outerShdw>
                  </a:effectLst>
                </a:rPr>
                <a:t>학습</a:t>
              </a:r>
            </a:p>
          </p:txBody>
        </p:sp>
      </p:grpSp>
      <p:pic>
        <p:nvPicPr>
          <p:cNvPr id="13" name="그래픽 12" descr="톱니바퀴">
            <a:extLst>
              <a:ext uri="{FF2B5EF4-FFF2-40B4-BE49-F238E27FC236}">
                <a16:creationId xmlns:a16="http://schemas.microsoft.com/office/drawing/2014/main" id="{14F51668-8847-85D8-0D5F-C3527E04FC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71178" y="1774317"/>
            <a:ext cx="914400" cy="914400"/>
          </a:xfrm>
          <a:prstGeom prst="rect">
            <a:avLst/>
          </a:prstGeom>
        </p:spPr>
      </p:pic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C4F6D21-5858-2A84-A91A-A70FDE960FC2}"/>
              </a:ext>
            </a:extLst>
          </p:cNvPr>
          <p:cNvSpPr/>
          <p:nvPr/>
        </p:nvSpPr>
        <p:spPr>
          <a:xfrm>
            <a:off x="9016249" y="4749420"/>
            <a:ext cx="1234324" cy="641761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기타 컨텐츠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4B15592-EB74-95BA-47D9-E006B687BD6E}"/>
              </a:ext>
            </a:extLst>
          </p:cNvPr>
          <p:cNvSpPr/>
          <p:nvPr/>
        </p:nvSpPr>
        <p:spPr>
          <a:xfrm>
            <a:off x="7781925" y="5468116"/>
            <a:ext cx="1234324" cy="641761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하우징 컨텐츠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0DDB037-B253-FC3F-C958-DE83DFFFF1A7}"/>
              </a:ext>
            </a:extLst>
          </p:cNvPr>
          <p:cNvSpPr/>
          <p:nvPr/>
        </p:nvSpPr>
        <p:spPr>
          <a:xfrm>
            <a:off x="6526834" y="4749420"/>
            <a:ext cx="1234324" cy="641761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성장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0064D710-F4A3-3EAC-7DD6-08072A76F545}"/>
              </a:ext>
            </a:extLst>
          </p:cNvPr>
          <p:cNvCxnSpPr>
            <a:cxnSpLocks/>
            <a:stCxn id="19" idx="2"/>
            <a:endCxn id="20" idx="3"/>
          </p:cNvCxnSpPr>
          <p:nvPr/>
        </p:nvCxnSpPr>
        <p:spPr>
          <a:xfrm flipH="1">
            <a:off x="9016249" y="5391181"/>
            <a:ext cx="617162" cy="397816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D1CD40B0-0651-5F31-25B0-43EFCFF35F39}"/>
              </a:ext>
            </a:extLst>
          </p:cNvPr>
          <p:cNvCxnSpPr>
            <a:cxnSpLocks/>
            <a:endCxn id="21" idx="2"/>
          </p:cNvCxnSpPr>
          <p:nvPr/>
        </p:nvCxnSpPr>
        <p:spPr>
          <a:xfrm flipH="1" flipV="1">
            <a:off x="7143996" y="5391181"/>
            <a:ext cx="617162" cy="397816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88A25ACF-7654-5DB2-0065-1472A1FDD19F}"/>
              </a:ext>
            </a:extLst>
          </p:cNvPr>
          <p:cNvCxnSpPr>
            <a:cxnSpLocks/>
            <a:stCxn id="21" idx="0"/>
            <a:endCxn id="32" idx="1"/>
          </p:cNvCxnSpPr>
          <p:nvPr/>
        </p:nvCxnSpPr>
        <p:spPr>
          <a:xfrm flipV="1">
            <a:off x="7143996" y="4351606"/>
            <a:ext cx="637929" cy="39781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이등변 삼각형 43">
            <a:extLst>
              <a:ext uri="{FF2B5EF4-FFF2-40B4-BE49-F238E27FC236}">
                <a16:creationId xmlns:a16="http://schemas.microsoft.com/office/drawing/2014/main" id="{8A1DCE69-45B9-BCE4-87A8-2F460EBEEA4A}"/>
              </a:ext>
            </a:extLst>
          </p:cNvPr>
          <p:cNvSpPr/>
          <p:nvPr/>
        </p:nvSpPr>
        <p:spPr>
          <a:xfrm rot="10800000">
            <a:off x="4810125" y="4091916"/>
            <a:ext cx="132560" cy="114277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27333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A8F31-6056-6B20-E8E2-8FA6A1BF9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6544AB5-FF71-48F9-A410-B5C8B69379C4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유저 분석</a:t>
            </a:r>
            <a:endParaRPr lang="en-US" altLang="ko-KR" sz="2000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FA31F1D-9356-AA96-FE79-324635D56F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551321"/>
              </p:ext>
            </p:extLst>
          </p:nvPr>
        </p:nvGraphicFramePr>
        <p:xfrm>
          <a:off x="1424352" y="4370148"/>
          <a:ext cx="3622430" cy="19423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11215">
                  <a:extLst>
                    <a:ext uri="{9D8B030D-6E8A-4147-A177-3AD203B41FA5}">
                      <a16:colId xmlns:a16="http://schemas.microsoft.com/office/drawing/2014/main" val="327429306"/>
                    </a:ext>
                  </a:extLst>
                </a:gridCol>
                <a:gridCol w="1811215">
                  <a:extLst>
                    <a:ext uri="{9D8B030D-6E8A-4147-A177-3AD203B41FA5}">
                      <a16:colId xmlns:a16="http://schemas.microsoft.com/office/drawing/2014/main" val="863518014"/>
                    </a:ext>
                  </a:extLst>
                </a:gridCol>
              </a:tblGrid>
              <a:tr h="3868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/>
                        <a:t>몰입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/>
                        <a:t>이탈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10057"/>
                  </a:ext>
                </a:extLst>
              </a:tr>
              <a:tr h="1555516"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b="0" i="0" dirty="0"/>
                        <a:t>답답한 부분이 생겨서</a:t>
                      </a:r>
                      <a:br>
                        <a:rPr lang="en-US" altLang="ko-KR" sz="1100" b="0" i="0" dirty="0"/>
                      </a:br>
                      <a:r>
                        <a:rPr lang="ko-KR" altLang="en-US" sz="1100" b="0" i="0" dirty="0"/>
                        <a:t>현질을 해서라도</a:t>
                      </a:r>
                      <a:br>
                        <a:rPr lang="en-US" altLang="ko-KR" sz="1100" b="0" i="0" dirty="0"/>
                      </a:br>
                      <a:r>
                        <a:rPr lang="ko-KR" altLang="en-US" sz="1100" b="0" i="0" dirty="0"/>
                        <a:t>해소하고 싶어</a:t>
                      </a:r>
                      <a:r>
                        <a:rPr lang="en-US" altLang="ko-KR" sz="1100" b="0" i="0" dirty="0"/>
                        <a:t>.</a:t>
                      </a:r>
                    </a:p>
                    <a:p>
                      <a:pPr marL="171450" indent="-171450" algn="l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endParaRPr lang="en-US" altLang="ko-KR" sz="1100" b="0" i="0" dirty="0"/>
                    </a:p>
                    <a:p>
                      <a:pPr marL="171450" indent="-171450" algn="l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b="0" i="0" dirty="0"/>
                        <a:t>게임에 애정이 생겨서 좀 제대로 해보고 싶어</a:t>
                      </a:r>
                      <a:r>
                        <a:rPr lang="en-US" altLang="ko-KR" sz="1100" b="0" i="0" dirty="0"/>
                        <a:t>.</a:t>
                      </a:r>
                      <a:endParaRPr lang="ko-KR" altLang="en-US" sz="1100" b="0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b="0" i="0" dirty="0"/>
                        <a:t>하던 짓만 하니까 질려</a:t>
                      </a:r>
                      <a:r>
                        <a:rPr lang="en-US" altLang="ko-KR" sz="1100" b="0" i="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0674291"/>
                  </a:ext>
                </a:extLst>
              </a:tr>
            </a:tbl>
          </a:graphicData>
        </a:graphic>
      </p:graphicFrame>
      <p:pic>
        <p:nvPicPr>
          <p:cNvPr id="8" name="그래픽 7" descr="사용자">
            <a:extLst>
              <a:ext uri="{FF2B5EF4-FFF2-40B4-BE49-F238E27FC236}">
                <a16:creationId xmlns:a16="http://schemas.microsoft.com/office/drawing/2014/main" id="{59F161C1-8D1C-EA64-7F53-737ADBB9B4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61315" y="1740826"/>
            <a:ext cx="1839160" cy="1839156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67B2CEE-E3C9-67B5-2F58-08510473388E}"/>
              </a:ext>
            </a:extLst>
          </p:cNvPr>
          <p:cNvSpPr/>
          <p:nvPr/>
        </p:nvSpPr>
        <p:spPr>
          <a:xfrm>
            <a:off x="1424352" y="3429000"/>
            <a:ext cx="3622430" cy="835762"/>
          </a:xfrm>
          <a:prstGeom prst="roundRect">
            <a:avLst/>
          </a:prstGeom>
          <a:solidFill>
            <a:schemeClr val="bg1"/>
          </a:solidFill>
          <a:ln w="38100" cmpd="dbl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</a:rPr>
              <a:t>생각 날때마다 접속해서 놀아야지</a:t>
            </a:r>
            <a:r>
              <a:rPr lang="en-US" altLang="ko-KR" sz="1100" dirty="0">
                <a:solidFill>
                  <a:schemeClr val="tx1"/>
                </a:solidFill>
              </a:rPr>
              <a:t>~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F37CC1-21F3-4558-D62A-B12B248C70DB}"/>
              </a:ext>
            </a:extLst>
          </p:cNvPr>
          <p:cNvSpPr txBox="1"/>
          <p:nvPr/>
        </p:nvSpPr>
        <p:spPr>
          <a:xfrm>
            <a:off x="5763828" y="923166"/>
            <a:ext cx="5270518" cy="2918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/>
              <a:t>특성</a:t>
            </a:r>
            <a:endParaRPr lang="en-US" altLang="ko-KR" sz="1200" b="1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dirty="0"/>
              <a:t>과금 없이 게임 내 환경에 만족하여 정착한 유저</a:t>
            </a:r>
            <a:endParaRPr lang="en-US" altLang="ko-KR" sz="1100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dirty="0"/>
              <a:t>컨텐츠 소모 및 결핍의 해소를 위해 과금을 하면서 더 몰입될 수 있고</a:t>
            </a:r>
            <a:br>
              <a:rPr lang="en-US" altLang="ko-KR" sz="1100" dirty="0"/>
            </a:br>
            <a:r>
              <a:rPr lang="ko-KR" altLang="en-US" sz="1100" dirty="0"/>
              <a:t>게임 내 재미 요소와 환경에 흥미가 떨어지면</a:t>
            </a:r>
            <a:r>
              <a:rPr lang="en-US" altLang="ko-KR" sz="1100" dirty="0"/>
              <a:t> </a:t>
            </a:r>
            <a:r>
              <a:rPr lang="ko-KR" altLang="en-US" sz="1100" dirty="0"/>
              <a:t>이탈할 수 있다</a:t>
            </a:r>
            <a:r>
              <a:rPr lang="en-US" altLang="ko-KR" sz="1100" dirty="0"/>
              <a:t>.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1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/>
              <a:t>핵심 서비스 로그</a:t>
            </a:r>
            <a:endParaRPr lang="en-US" altLang="ko-KR" sz="1200" b="1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100" dirty="0">
                <a:solidFill>
                  <a:prstClr val="black"/>
                </a:solidFill>
              </a:rPr>
              <a:t>마지막 접속 이후 재방문에 걸린 시간</a:t>
            </a:r>
            <a:endParaRPr lang="en-US" altLang="ko-KR" sz="1100" dirty="0">
              <a:solidFill>
                <a:prstClr val="black"/>
              </a:solidFill>
            </a:endParaRP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100" dirty="0">
                <a:solidFill>
                  <a:prstClr val="black"/>
                </a:solidFill>
              </a:rPr>
              <a:t>결제 여부</a:t>
            </a:r>
            <a:endParaRPr lang="en-US" altLang="ko-KR" sz="1100" dirty="0">
              <a:solidFill>
                <a:prstClr val="black"/>
              </a:solidFill>
            </a:endParaRPr>
          </a:p>
          <a:p>
            <a:pPr lvl="1">
              <a:lnSpc>
                <a:spcPct val="150000"/>
              </a:lnSpc>
              <a:defRPr/>
            </a:pPr>
            <a:endParaRPr lang="en-US" altLang="ko-KR" sz="1100" dirty="0">
              <a:solidFill>
                <a:prstClr val="black"/>
              </a:solidFill>
            </a:endParaRPr>
          </a:p>
          <a:p>
            <a:pPr lvl="1">
              <a:lnSpc>
                <a:spcPct val="150000"/>
              </a:lnSpc>
              <a:defRPr/>
            </a:pPr>
            <a:endParaRPr lang="en-US" altLang="ko-KR" sz="1100" dirty="0">
              <a:solidFill>
                <a:prstClr val="black"/>
              </a:solidFill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/>
              <a:t>컨텐츠 소비 방식</a:t>
            </a:r>
            <a:endParaRPr lang="en-US" altLang="ko-KR" sz="1200" b="1" dirty="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15C34D57-FA0C-487E-3FC0-43BAF276AC0B}"/>
              </a:ext>
            </a:extLst>
          </p:cNvPr>
          <p:cNvSpPr/>
          <p:nvPr/>
        </p:nvSpPr>
        <p:spPr>
          <a:xfrm>
            <a:off x="3419178" y="2713486"/>
            <a:ext cx="72000" cy="72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83DB727B-6C9D-9363-FDC1-06F550F2D9AC}"/>
              </a:ext>
            </a:extLst>
          </p:cNvPr>
          <p:cNvSpPr/>
          <p:nvPr/>
        </p:nvSpPr>
        <p:spPr>
          <a:xfrm>
            <a:off x="3527178" y="2553274"/>
            <a:ext cx="144000" cy="144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4D576CA1-75A2-525B-1198-FEE93A45A941}"/>
              </a:ext>
            </a:extLst>
          </p:cNvPr>
          <p:cNvSpPr/>
          <p:nvPr/>
        </p:nvSpPr>
        <p:spPr>
          <a:xfrm>
            <a:off x="3599178" y="1701251"/>
            <a:ext cx="1048235" cy="1048235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00" b="1" dirty="0">
              <a:solidFill>
                <a:schemeClr val="tx1"/>
              </a:solidFill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D37D48D-2A49-63F9-57E6-C4EB9E776BB6}"/>
              </a:ext>
            </a:extLst>
          </p:cNvPr>
          <p:cNvGrpSpPr/>
          <p:nvPr/>
        </p:nvGrpSpPr>
        <p:grpSpPr>
          <a:xfrm>
            <a:off x="1802420" y="920868"/>
            <a:ext cx="2866294" cy="668216"/>
            <a:chOff x="1046283" y="3336668"/>
            <a:chExt cx="2866294" cy="668216"/>
          </a:xfrm>
        </p:grpSpPr>
        <p:sp>
          <p:nvSpPr>
            <p:cNvPr id="4" name="사다리꼴 3">
              <a:extLst>
                <a:ext uri="{FF2B5EF4-FFF2-40B4-BE49-F238E27FC236}">
                  <a16:creationId xmlns:a16="http://schemas.microsoft.com/office/drawing/2014/main" id="{195233A8-E515-751B-44E8-14DA3F271BDB}"/>
                </a:ext>
              </a:extLst>
            </p:cNvPr>
            <p:cNvSpPr/>
            <p:nvPr/>
          </p:nvSpPr>
          <p:spPr>
            <a:xfrm rot="10800000">
              <a:off x="1046283" y="3336668"/>
              <a:ext cx="2866294" cy="668216"/>
            </a:xfrm>
            <a:prstGeom prst="trapezoid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FDBA824-F863-15F7-9091-5F269C9D03CC}"/>
                </a:ext>
              </a:extLst>
            </p:cNvPr>
            <p:cNvSpPr txBox="1"/>
            <p:nvPr/>
          </p:nvSpPr>
          <p:spPr>
            <a:xfrm>
              <a:off x="2098555" y="3486110"/>
              <a:ext cx="761750" cy="369332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b="1" dirty="0">
                  <a:solidFill>
                    <a:schemeClr val="tx1"/>
                  </a:solidFill>
                  <a:effectLst>
                    <a:outerShdw blurRad="88900" sx="102000" sy="102000" algn="ctr" rotWithShape="0">
                      <a:schemeClr val="bg1"/>
                    </a:outerShdw>
                  </a:effectLst>
                </a:rPr>
                <a:t>잔류</a:t>
              </a:r>
            </a:p>
          </p:txBody>
        </p:sp>
      </p:grpSp>
      <p:pic>
        <p:nvPicPr>
          <p:cNvPr id="14" name="그래픽 13" descr="게임 컨트롤러">
            <a:extLst>
              <a:ext uri="{FF2B5EF4-FFF2-40B4-BE49-F238E27FC236}">
                <a16:creationId xmlns:a16="http://schemas.microsoft.com/office/drawing/2014/main" id="{D1D70EDE-7239-23B0-8DA8-81C0102C2B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43174" y="1828540"/>
            <a:ext cx="779292" cy="779292"/>
          </a:xfrm>
          <a:prstGeom prst="rect">
            <a:avLst/>
          </a:prstGeom>
        </p:spPr>
      </p:pic>
      <p:pic>
        <p:nvPicPr>
          <p:cNvPr id="23" name="그래픽 22" descr="악보">
            <a:extLst>
              <a:ext uri="{FF2B5EF4-FFF2-40B4-BE49-F238E27FC236}">
                <a16:creationId xmlns:a16="http://schemas.microsoft.com/office/drawing/2014/main" id="{AFA1D162-1CBE-986C-899A-B28CF972F6C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56743" y="2008320"/>
            <a:ext cx="401932" cy="401932"/>
          </a:xfrm>
          <a:prstGeom prst="rect">
            <a:avLst/>
          </a:prstGeom>
        </p:spPr>
      </p:pic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601214F9-DBE8-578C-38D2-026B51CF6672}"/>
              </a:ext>
            </a:extLst>
          </p:cNvPr>
          <p:cNvSpPr/>
          <p:nvPr/>
        </p:nvSpPr>
        <p:spPr>
          <a:xfrm>
            <a:off x="7924803" y="4371771"/>
            <a:ext cx="773770" cy="1686927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성장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A81975F8-F5AB-EDAB-C41B-2D105EB960CF}"/>
              </a:ext>
            </a:extLst>
          </p:cNvPr>
          <p:cNvSpPr/>
          <p:nvPr/>
        </p:nvSpPr>
        <p:spPr>
          <a:xfrm>
            <a:off x="6121391" y="4362980"/>
            <a:ext cx="748381" cy="715957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스토리</a:t>
            </a:r>
            <a:br>
              <a:rPr lang="en-US" altLang="ko-KR" sz="1200" dirty="0">
                <a:solidFill>
                  <a:schemeClr val="tx1"/>
                </a:solidFill>
              </a:rPr>
            </a:br>
            <a:r>
              <a:rPr lang="ko-KR" altLang="en-US" sz="1200" dirty="0">
                <a:solidFill>
                  <a:schemeClr val="tx1"/>
                </a:solidFill>
              </a:rPr>
              <a:t>컨텐츠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213D59C3-C0B3-A27C-3321-16946B33C524}"/>
              </a:ext>
            </a:extLst>
          </p:cNvPr>
          <p:cNvSpPr/>
          <p:nvPr/>
        </p:nvSpPr>
        <p:spPr>
          <a:xfrm>
            <a:off x="7035791" y="4362980"/>
            <a:ext cx="748381" cy="715957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기타</a:t>
            </a:r>
            <a:br>
              <a:rPr lang="en-US" altLang="ko-KR" sz="1200" dirty="0">
                <a:solidFill>
                  <a:schemeClr val="tx1"/>
                </a:solidFill>
              </a:rPr>
            </a:br>
            <a:r>
              <a:rPr lang="ko-KR" altLang="en-US" sz="1200" dirty="0">
                <a:solidFill>
                  <a:schemeClr val="tx1"/>
                </a:solidFill>
              </a:rPr>
              <a:t>컨텐츠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07248148-A84F-630A-2D51-252484838EDA}"/>
              </a:ext>
            </a:extLst>
          </p:cNvPr>
          <p:cNvSpPr/>
          <p:nvPr/>
        </p:nvSpPr>
        <p:spPr>
          <a:xfrm>
            <a:off x="6121391" y="5333956"/>
            <a:ext cx="1662781" cy="715957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chemeClr val="tx1"/>
                </a:solidFill>
              </a:rPr>
              <a:t>보상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E7DC7445-26EE-5A7C-6487-FF256488E396}"/>
              </a:ext>
            </a:extLst>
          </p:cNvPr>
          <p:cNvSpPr/>
          <p:nvPr/>
        </p:nvSpPr>
        <p:spPr>
          <a:xfrm>
            <a:off x="9134227" y="5342741"/>
            <a:ext cx="748381" cy="715957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하우징</a:t>
            </a:r>
            <a:br>
              <a:rPr lang="en-US" altLang="ko-KR" sz="1200" dirty="0">
                <a:solidFill>
                  <a:schemeClr val="tx1"/>
                </a:solidFill>
              </a:rPr>
            </a:br>
            <a:r>
              <a:rPr lang="ko-KR" altLang="en-US" sz="1200" dirty="0">
                <a:solidFill>
                  <a:schemeClr val="tx1"/>
                </a:solidFill>
              </a:rPr>
              <a:t>관리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5B1ACD7E-9E42-A10F-641D-5799660796C0}"/>
              </a:ext>
            </a:extLst>
          </p:cNvPr>
          <p:cNvSpPr/>
          <p:nvPr/>
        </p:nvSpPr>
        <p:spPr>
          <a:xfrm>
            <a:off x="10048629" y="5342741"/>
            <a:ext cx="748381" cy="715957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</a:rPr>
              <a:t>하우징</a:t>
            </a:r>
            <a:br>
              <a:rPr lang="en-US" altLang="ko-KR" sz="1100" dirty="0">
                <a:solidFill>
                  <a:schemeClr val="tx1"/>
                </a:solidFill>
              </a:rPr>
            </a:br>
            <a:r>
              <a:rPr lang="ko-KR" altLang="en-US" sz="1100" dirty="0">
                <a:solidFill>
                  <a:schemeClr val="tx1"/>
                </a:solidFill>
              </a:rPr>
              <a:t>레벨 업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6E247963-CC23-5D26-0BBC-0E76BADAA0C9}"/>
              </a:ext>
            </a:extLst>
          </p:cNvPr>
          <p:cNvCxnSpPr>
            <a:cxnSpLocks/>
            <a:stCxn id="37" idx="0"/>
          </p:cNvCxnSpPr>
          <p:nvPr/>
        </p:nvCxnSpPr>
        <p:spPr>
          <a:xfrm flipV="1">
            <a:off x="8311688" y="4174184"/>
            <a:ext cx="0" cy="197587"/>
          </a:xfrm>
          <a:prstGeom prst="straightConnector1">
            <a:avLst/>
          </a:prstGeom>
          <a:ln w="254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945D06DF-1E22-3A16-C188-833D70FFD022}"/>
              </a:ext>
            </a:extLst>
          </p:cNvPr>
          <p:cNvCxnSpPr>
            <a:cxnSpLocks/>
          </p:cNvCxnSpPr>
          <p:nvPr/>
        </p:nvCxnSpPr>
        <p:spPr>
          <a:xfrm flipH="1">
            <a:off x="6495581" y="4165393"/>
            <a:ext cx="1828800" cy="0"/>
          </a:xfrm>
          <a:prstGeom prst="straightConnector1">
            <a:avLst/>
          </a:prstGeom>
          <a:ln w="254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2E92C819-6547-CD18-A33F-BBFBE669CE7F}"/>
              </a:ext>
            </a:extLst>
          </p:cNvPr>
          <p:cNvCxnSpPr>
            <a:cxnSpLocks/>
            <a:endCxn id="38" idx="0"/>
          </p:cNvCxnSpPr>
          <p:nvPr/>
        </p:nvCxnSpPr>
        <p:spPr>
          <a:xfrm>
            <a:off x="6495581" y="4165393"/>
            <a:ext cx="1" cy="197587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E6F7384E-9086-4620-69DE-502F8223EBC0}"/>
              </a:ext>
            </a:extLst>
          </p:cNvPr>
          <p:cNvCxnSpPr>
            <a:cxnSpLocks/>
            <a:endCxn id="39" idx="0"/>
          </p:cNvCxnSpPr>
          <p:nvPr/>
        </p:nvCxnSpPr>
        <p:spPr>
          <a:xfrm>
            <a:off x="7409981" y="4165393"/>
            <a:ext cx="1" cy="197587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50C72BE1-F737-E721-50D5-192CC8BEE6FC}"/>
              </a:ext>
            </a:extLst>
          </p:cNvPr>
          <p:cNvCxnSpPr>
            <a:cxnSpLocks/>
            <a:stCxn id="38" idx="2"/>
          </p:cNvCxnSpPr>
          <p:nvPr/>
        </p:nvCxnSpPr>
        <p:spPr>
          <a:xfrm>
            <a:off x="6495582" y="5078937"/>
            <a:ext cx="0" cy="73488"/>
          </a:xfrm>
          <a:prstGeom prst="straightConnector1">
            <a:avLst/>
          </a:prstGeom>
          <a:ln w="254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29440E87-FD7E-8B03-6F85-A7AB87D7EE78}"/>
              </a:ext>
            </a:extLst>
          </p:cNvPr>
          <p:cNvCxnSpPr>
            <a:cxnSpLocks/>
            <a:stCxn id="39" idx="2"/>
          </p:cNvCxnSpPr>
          <p:nvPr/>
        </p:nvCxnSpPr>
        <p:spPr>
          <a:xfrm>
            <a:off x="7409982" y="5078937"/>
            <a:ext cx="0" cy="73488"/>
          </a:xfrm>
          <a:prstGeom prst="straightConnector1">
            <a:avLst/>
          </a:prstGeom>
          <a:ln w="254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FF143ED2-8153-9DC3-B0C0-66D1C0A5807B}"/>
              </a:ext>
            </a:extLst>
          </p:cNvPr>
          <p:cNvCxnSpPr>
            <a:cxnSpLocks/>
          </p:cNvCxnSpPr>
          <p:nvPr/>
        </p:nvCxnSpPr>
        <p:spPr>
          <a:xfrm flipH="1">
            <a:off x="6487526" y="5152425"/>
            <a:ext cx="922455" cy="0"/>
          </a:xfrm>
          <a:prstGeom prst="straightConnector1">
            <a:avLst/>
          </a:prstGeom>
          <a:ln w="254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62549D41-9972-1736-E091-9E494CBD0AAC}"/>
              </a:ext>
            </a:extLst>
          </p:cNvPr>
          <p:cNvCxnSpPr>
            <a:cxnSpLocks/>
          </p:cNvCxnSpPr>
          <p:nvPr/>
        </p:nvCxnSpPr>
        <p:spPr>
          <a:xfrm>
            <a:off x="6948752" y="5155968"/>
            <a:ext cx="0" cy="17147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2B7F3355-EC68-4D19-8BC4-63155A954679}"/>
              </a:ext>
            </a:extLst>
          </p:cNvPr>
          <p:cNvCxnSpPr>
            <a:cxnSpLocks/>
          </p:cNvCxnSpPr>
          <p:nvPr/>
        </p:nvCxnSpPr>
        <p:spPr>
          <a:xfrm flipH="1" flipV="1">
            <a:off x="10422819" y="5145154"/>
            <a:ext cx="1" cy="197586"/>
          </a:xfrm>
          <a:prstGeom prst="straightConnector1">
            <a:avLst/>
          </a:prstGeom>
          <a:ln w="254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924D743B-FE49-E344-C372-09F1DEAB4410}"/>
              </a:ext>
            </a:extLst>
          </p:cNvPr>
          <p:cNvCxnSpPr>
            <a:cxnSpLocks/>
          </p:cNvCxnSpPr>
          <p:nvPr/>
        </p:nvCxnSpPr>
        <p:spPr>
          <a:xfrm flipH="1">
            <a:off x="9508416" y="6256284"/>
            <a:ext cx="914403" cy="0"/>
          </a:xfrm>
          <a:prstGeom prst="straightConnector1">
            <a:avLst/>
          </a:prstGeom>
          <a:ln w="254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989360E5-1F3B-66C8-857D-D1A676A0FB18}"/>
              </a:ext>
            </a:extLst>
          </p:cNvPr>
          <p:cNvCxnSpPr>
            <a:cxnSpLocks/>
          </p:cNvCxnSpPr>
          <p:nvPr/>
        </p:nvCxnSpPr>
        <p:spPr>
          <a:xfrm flipH="1" flipV="1">
            <a:off x="9508416" y="6058698"/>
            <a:ext cx="1" cy="197586"/>
          </a:xfrm>
          <a:prstGeom prst="straightConnector1">
            <a:avLst/>
          </a:prstGeom>
          <a:ln w="254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96F68751-372A-CFAA-95C5-03FB16437F40}"/>
              </a:ext>
            </a:extLst>
          </p:cNvPr>
          <p:cNvCxnSpPr>
            <a:cxnSpLocks/>
            <a:endCxn id="43" idx="0"/>
          </p:cNvCxnSpPr>
          <p:nvPr/>
        </p:nvCxnSpPr>
        <p:spPr>
          <a:xfrm>
            <a:off x="9508416" y="5144249"/>
            <a:ext cx="2" cy="198492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2D14BB7E-FBB4-922B-D9D8-4691BA544B56}"/>
              </a:ext>
            </a:extLst>
          </p:cNvPr>
          <p:cNvCxnSpPr>
            <a:cxnSpLocks/>
            <a:endCxn id="44" idx="2"/>
          </p:cNvCxnSpPr>
          <p:nvPr/>
        </p:nvCxnSpPr>
        <p:spPr>
          <a:xfrm flipV="1">
            <a:off x="10422819" y="6058698"/>
            <a:ext cx="1" cy="197586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8C921564-5FF2-6802-E091-EA852D083710}"/>
              </a:ext>
            </a:extLst>
          </p:cNvPr>
          <p:cNvCxnSpPr>
            <a:cxnSpLocks/>
          </p:cNvCxnSpPr>
          <p:nvPr/>
        </p:nvCxnSpPr>
        <p:spPr>
          <a:xfrm flipH="1">
            <a:off x="9508416" y="5144701"/>
            <a:ext cx="914403" cy="0"/>
          </a:xfrm>
          <a:prstGeom prst="straightConnector1">
            <a:avLst/>
          </a:prstGeom>
          <a:ln w="254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D9D1F859-A3F0-1FB0-80C4-E7EFE31147E9}"/>
              </a:ext>
            </a:extLst>
          </p:cNvPr>
          <p:cNvCxnSpPr>
            <a:cxnSpLocks/>
            <a:stCxn id="43" idx="1"/>
          </p:cNvCxnSpPr>
          <p:nvPr/>
        </p:nvCxnSpPr>
        <p:spPr>
          <a:xfrm flipH="1">
            <a:off x="8698573" y="5700720"/>
            <a:ext cx="435654" cy="879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이등변 삼각형 98">
            <a:extLst>
              <a:ext uri="{FF2B5EF4-FFF2-40B4-BE49-F238E27FC236}">
                <a16:creationId xmlns:a16="http://schemas.microsoft.com/office/drawing/2014/main" id="{A48731B4-56DB-347F-0DD9-229CA3723CC4}"/>
              </a:ext>
            </a:extLst>
          </p:cNvPr>
          <p:cNvSpPr/>
          <p:nvPr/>
        </p:nvSpPr>
        <p:spPr>
          <a:xfrm rot="10800000">
            <a:off x="4810125" y="4091916"/>
            <a:ext cx="132560" cy="114277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8750E52F-21F0-2062-77CB-92AFBF7CB959}"/>
              </a:ext>
            </a:extLst>
          </p:cNvPr>
          <p:cNvCxnSpPr>
            <a:cxnSpLocks/>
          </p:cNvCxnSpPr>
          <p:nvPr/>
        </p:nvCxnSpPr>
        <p:spPr>
          <a:xfrm>
            <a:off x="7784172" y="5691935"/>
            <a:ext cx="21682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0988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C9FF2-0705-163E-EB69-F6C4972E9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래픽 7" descr="사용자">
            <a:extLst>
              <a:ext uri="{FF2B5EF4-FFF2-40B4-BE49-F238E27FC236}">
                <a16:creationId xmlns:a16="http://schemas.microsoft.com/office/drawing/2014/main" id="{10D5B33C-0923-7E3B-A41A-37D805A473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15987" y="1740826"/>
            <a:ext cx="1839160" cy="1839156"/>
          </a:xfrm>
          <a:prstGeom prst="rect">
            <a:avLst/>
          </a:prstGeom>
        </p:spPr>
      </p:pic>
      <p:pic>
        <p:nvPicPr>
          <p:cNvPr id="21" name="그래픽 20" descr="동전">
            <a:extLst>
              <a:ext uri="{FF2B5EF4-FFF2-40B4-BE49-F238E27FC236}">
                <a16:creationId xmlns:a16="http://schemas.microsoft.com/office/drawing/2014/main" id="{7B539754-3600-9730-20FD-02C8310C74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80630" y="2249014"/>
            <a:ext cx="748377" cy="748377"/>
          </a:xfrm>
          <a:prstGeom prst="rect">
            <a:avLst/>
          </a:prstGeom>
        </p:spPr>
      </p:pic>
      <p:pic>
        <p:nvPicPr>
          <p:cNvPr id="22" name="그래픽 21" descr="동전">
            <a:extLst>
              <a:ext uri="{FF2B5EF4-FFF2-40B4-BE49-F238E27FC236}">
                <a16:creationId xmlns:a16="http://schemas.microsoft.com/office/drawing/2014/main" id="{8FD0C1A7-2863-BDB9-F850-61DC5BABF2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94308" y="2728588"/>
            <a:ext cx="748377" cy="7483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0536F53-62B6-048E-6BF7-ECF1E353587F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유저 분석</a:t>
            </a:r>
            <a:endParaRPr lang="en-US" altLang="ko-KR" sz="2000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C42AE9A-FDB6-A523-DA7E-9A8A7F36AB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6846313"/>
              </p:ext>
            </p:extLst>
          </p:nvPr>
        </p:nvGraphicFramePr>
        <p:xfrm>
          <a:off x="1424352" y="4370148"/>
          <a:ext cx="3622430" cy="19423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11215">
                  <a:extLst>
                    <a:ext uri="{9D8B030D-6E8A-4147-A177-3AD203B41FA5}">
                      <a16:colId xmlns:a16="http://schemas.microsoft.com/office/drawing/2014/main" val="327429306"/>
                    </a:ext>
                  </a:extLst>
                </a:gridCol>
                <a:gridCol w="1811215">
                  <a:extLst>
                    <a:ext uri="{9D8B030D-6E8A-4147-A177-3AD203B41FA5}">
                      <a16:colId xmlns:a16="http://schemas.microsoft.com/office/drawing/2014/main" val="863518014"/>
                    </a:ext>
                  </a:extLst>
                </a:gridCol>
              </a:tblGrid>
              <a:tr h="3868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/>
                        <a:t>몰입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/>
                        <a:t>이탈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10057"/>
                  </a:ext>
                </a:extLst>
              </a:tr>
              <a:tr h="1555516"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i="0" dirty="0"/>
                        <a:t>최상위 컨텐츠까지</a:t>
                      </a:r>
                      <a:br>
                        <a:rPr lang="en-US" altLang="ko-KR" sz="1000" b="0" i="0" dirty="0"/>
                      </a:br>
                      <a:r>
                        <a:rPr lang="ko-KR" altLang="en-US" sz="1000" b="0" i="0" dirty="0"/>
                        <a:t>노릴만한 것 같은데</a:t>
                      </a:r>
                      <a:br>
                        <a:rPr lang="en-US" altLang="ko-KR" sz="1000" b="0" i="0" dirty="0"/>
                      </a:br>
                      <a:r>
                        <a:rPr lang="ko-KR" altLang="en-US" sz="1000" b="0" i="0" dirty="0"/>
                        <a:t>아쉽게 못 한단 말이지</a:t>
                      </a:r>
                      <a:r>
                        <a:rPr lang="en-US" altLang="ko-KR" sz="1000" b="0" i="0" dirty="0"/>
                        <a:t>,</a:t>
                      </a:r>
                      <a:br>
                        <a:rPr lang="en-US" altLang="ko-KR" sz="1000" b="0" i="0" dirty="0"/>
                      </a:br>
                      <a:r>
                        <a:rPr lang="ko-KR" altLang="en-US" sz="1000" b="0" i="0" dirty="0"/>
                        <a:t>정기적인 과금 외의</a:t>
                      </a:r>
                      <a:br>
                        <a:rPr lang="en-US" altLang="ko-KR" sz="1000" b="0" i="0" dirty="0"/>
                      </a:br>
                      <a:r>
                        <a:rPr lang="ko-KR" altLang="en-US" sz="1000" b="0" i="0" dirty="0"/>
                        <a:t>추가 상품까지 사야 겠어</a:t>
                      </a:r>
                      <a:r>
                        <a:rPr lang="en-US" altLang="ko-KR" sz="1000" b="0" i="0" dirty="0"/>
                        <a:t>.</a:t>
                      </a:r>
                    </a:p>
                    <a:p>
                      <a:pPr marL="171450" indent="-171450" algn="l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endParaRPr lang="en-US" altLang="ko-KR" sz="1000" b="0" i="0" dirty="0"/>
                    </a:p>
                    <a:p>
                      <a:pPr marL="171450" indent="-171450" algn="l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i="0" dirty="0"/>
                        <a:t>내 목표는 처음부터</a:t>
                      </a:r>
                      <a:br>
                        <a:rPr lang="en-US" altLang="ko-KR" sz="1000" b="0" i="0" dirty="0"/>
                      </a:br>
                      <a:r>
                        <a:rPr lang="ko-KR" altLang="en-US" sz="1000" b="0" i="0" dirty="0"/>
                        <a:t>서버 최강이었어</a:t>
                      </a:r>
                      <a:r>
                        <a:rPr lang="en-US" altLang="ko-KR" sz="1000" b="0" i="0" dirty="0"/>
                        <a:t>!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i="0" dirty="0"/>
                        <a:t>과금을 더 하는 건 힘들고</a:t>
                      </a:r>
                      <a:br>
                        <a:rPr lang="en-US" altLang="ko-KR" sz="1000" b="0" i="0" dirty="0"/>
                      </a:br>
                      <a:r>
                        <a:rPr lang="ko-KR" altLang="en-US" sz="1000" b="0" i="0" dirty="0"/>
                        <a:t>지금 컨텐츠는</a:t>
                      </a:r>
                      <a:r>
                        <a:rPr lang="en-US" altLang="ko-KR" sz="1000" b="0" i="0" dirty="0"/>
                        <a:t> </a:t>
                      </a:r>
                      <a:r>
                        <a:rPr lang="ko-KR" altLang="en-US" sz="1000" b="0" i="0" dirty="0"/>
                        <a:t>질렸어</a:t>
                      </a:r>
                      <a:r>
                        <a:rPr lang="en-US" altLang="ko-KR" sz="1000" b="0" i="0" dirty="0"/>
                        <a:t>.</a:t>
                      </a:r>
                      <a:endParaRPr lang="en-US" altLang="ko-KR" sz="1050" b="0" i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0674291"/>
                  </a:ext>
                </a:extLst>
              </a:tr>
            </a:tbl>
          </a:graphicData>
        </a:graphic>
      </p:graphicFrame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007292E-4BD8-D4C8-A5F4-F7A7AA0E1FD2}"/>
              </a:ext>
            </a:extLst>
          </p:cNvPr>
          <p:cNvSpPr/>
          <p:nvPr/>
        </p:nvSpPr>
        <p:spPr>
          <a:xfrm>
            <a:off x="1424352" y="3429000"/>
            <a:ext cx="3622430" cy="835762"/>
          </a:xfrm>
          <a:prstGeom prst="roundRect">
            <a:avLst/>
          </a:prstGeom>
          <a:solidFill>
            <a:schemeClr val="bg1"/>
          </a:solidFill>
          <a:ln w="38100" cmpd="dbl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</a:rPr>
              <a:t>확실히 현질을 해야 게임이 편해</a:t>
            </a:r>
            <a:r>
              <a:rPr lang="en-US" altLang="ko-KR" sz="1100" dirty="0">
                <a:solidFill>
                  <a:schemeClr val="tx1"/>
                </a:solidFill>
              </a:rPr>
              <a:t>.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92146C-158C-A1A6-7DAB-1A280E9BDBA8}"/>
              </a:ext>
            </a:extLst>
          </p:cNvPr>
          <p:cNvSpPr txBox="1"/>
          <p:nvPr/>
        </p:nvSpPr>
        <p:spPr>
          <a:xfrm>
            <a:off x="5763828" y="923166"/>
            <a:ext cx="5507910" cy="2918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/>
              <a:t>특성</a:t>
            </a:r>
            <a:endParaRPr lang="en-US" altLang="ko-KR" sz="1200" b="1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dirty="0"/>
              <a:t>효율 좋은 유료 상품을 주로 이용해 넓은 범위의 컨텐츠를 소비하는 유저</a:t>
            </a:r>
            <a:endParaRPr lang="en-US" altLang="ko-KR" sz="1100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dirty="0"/>
              <a:t>최상위 컨텐츠를 목표로 두는 순간 몰입될 수 있고</a:t>
            </a:r>
            <a:br>
              <a:rPr lang="en-US" altLang="ko-KR" sz="1100" dirty="0"/>
            </a:br>
            <a:r>
              <a:rPr lang="ko-KR" altLang="en-US" sz="1100" dirty="0"/>
              <a:t>현재 소비하는 컨텐츠의 비용을 감당 할 수 없게 되거나</a:t>
            </a:r>
            <a:br>
              <a:rPr lang="en-US" altLang="ko-KR" sz="1100" dirty="0"/>
            </a:br>
            <a:r>
              <a:rPr lang="ko-KR" altLang="en-US" sz="1100" dirty="0"/>
              <a:t>게임 내 재미 요소와 환경에 흥미가 떨어지면</a:t>
            </a:r>
            <a:r>
              <a:rPr lang="en-US" altLang="ko-KR" sz="1100" dirty="0"/>
              <a:t> </a:t>
            </a:r>
            <a:r>
              <a:rPr lang="ko-KR" altLang="en-US" sz="1100" dirty="0"/>
              <a:t>이탈할 수 있다</a:t>
            </a:r>
            <a:r>
              <a:rPr lang="en-US" altLang="ko-KR" sz="1100" dirty="0"/>
              <a:t>.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1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/>
              <a:t>핵심 서비스 로그</a:t>
            </a:r>
            <a:endParaRPr lang="en-US" altLang="ko-KR" sz="1200" b="1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100" dirty="0">
                <a:solidFill>
                  <a:prstClr val="black"/>
                </a:solidFill>
              </a:rPr>
              <a:t>유료 상품 구매 품목</a:t>
            </a:r>
            <a:endParaRPr lang="en-US" altLang="ko-KR" sz="1100" dirty="0">
              <a:solidFill>
                <a:prstClr val="black"/>
              </a:solidFill>
            </a:endParaRP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100" dirty="0">
                <a:solidFill>
                  <a:prstClr val="black"/>
                </a:solidFill>
              </a:rPr>
              <a:t>유료 상품 구매 경로</a:t>
            </a:r>
            <a:endParaRPr lang="en-US" altLang="ko-KR" sz="1100" dirty="0">
              <a:solidFill>
                <a:prstClr val="black"/>
              </a:solidFill>
            </a:endParaRP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endParaRPr lang="en-US" altLang="ko-KR" sz="1100" dirty="0">
              <a:solidFill>
                <a:prstClr val="black"/>
              </a:solidFill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/>
              <a:t>컨텐츠 소비 방식</a:t>
            </a:r>
            <a:endParaRPr lang="en-US" altLang="ko-KR" sz="1200" b="1" dirty="0"/>
          </a:p>
        </p:txBody>
      </p:sp>
      <p:pic>
        <p:nvPicPr>
          <p:cNvPr id="14" name="그래픽 13" descr="게임 컨트롤러">
            <a:extLst>
              <a:ext uri="{FF2B5EF4-FFF2-40B4-BE49-F238E27FC236}">
                <a16:creationId xmlns:a16="http://schemas.microsoft.com/office/drawing/2014/main" id="{3CCE70AD-BCD1-5640-0DBA-DC7C1D5279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53779" y="2799320"/>
            <a:ext cx="715405" cy="715405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3D5603B4-812E-9D31-A998-6B4C7087097D}"/>
              </a:ext>
            </a:extLst>
          </p:cNvPr>
          <p:cNvGrpSpPr/>
          <p:nvPr/>
        </p:nvGrpSpPr>
        <p:grpSpPr>
          <a:xfrm>
            <a:off x="2013436" y="917882"/>
            <a:ext cx="2444262" cy="668216"/>
            <a:chOff x="1257299" y="4543419"/>
            <a:chExt cx="2444262" cy="668216"/>
          </a:xfrm>
        </p:grpSpPr>
        <p:sp>
          <p:nvSpPr>
            <p:cNvPr id="5" name="사다리꼴 4">
              <a:extLst>
                <a:ext uri="{FF2B5EF4-FFF2-40B4-BE49-F238E27FC236}">
                  <a16:creationId xmlns:a16="http://schemas.microsoft.com/office/drawing/2014/main" id="{B1115BF5-CDDF-2144-39E5-F2C775975380}"/>
                </a:ext>
              </a:extLst>
            </p:cNvPr>
            <p:cNvSpPr/>
            <p:nvPr/>
          </p:nvSpPr>
          <p:spPr>
            <a:xfrm rot="10800000">
              <a:off x="1257299" y="4543419"/>
              <a:ext cx="2444262" cy="668216"/>
            </a:xfrm>
            <a:prstGeom prst="trapezoid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865203A-8474-BB4A-4083-3230CA10B2AF}"/>
                </a:ext>
              </a:extLst>
            </p:cNvPr>
            <p:cNvSpPr txBox="1"/>
            <p:nvPr/>
          </p:nvSpPr>
          <p:spPr>
            <a:xfrm>
              <a:off x="2098556" y="4692861"/>
              <a:ext cx="761750" cy="369332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b="1" dirty="0">
                  <a:solidFill>
                    <a:schemeClr val="tx1"/>
                  </a:solidFill>
                  <a:effectLst>
                    <a:outerShdw blurRad="88900" sx="102000" sy="102000" algn="ctr" rotWithShape="0">
                      <a:schemeClr val="bg1"/>
                    </a:outerShdw>
                  </a:effectLst>
                </a:rPr>
                <a:t>몰입</a:t>
              </a:r>
            </a:p>
          </p:txBody>
        </p:sp>
      </p:grpSp>
      <p:pic>
        <p:nvPicPr>
          <p:cNvPr id="19" name="그래픽 18" descr="동전">
            <a:extLst>
              <a:ext uri="{FF2B5EF4-FFF2-40B4-BE49-F238E27FC236}">
                <a16:creationId xmlns:a16="http://schemas.microsoft.com/office/drawing/2014/main" id="{78549233-7892-F029-2269-CAE59D0D3FC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12205" y="2714755"/>
            <a:ext cx="748377" cy="748377"/>
          </a:xfrm>
          <a:prstGeom prst="rect">
            <a:avLst/>
          </a:prstGeom>
        </p:spPr>
      </p:pic>
      <p:sp>
        <p:nvSpPr>
          <p:cNvPr id="25" name="이등변 삼각형 24">
            <a:extLst>
              <a:ext uri="{FF2B5EF4-FFF2-40B4-BE49-F238E27FC236}">
                <a16:creationId xmlns:a16="http://schemas.microsoft.com/office/drawing/2014/main" id="{5B4E1D2B-EB9E-C496-63CD-0C2AE09B45D8}"/>
              </a:ext>
            </a:extLst>
          </p:cNvPr>
          <p:cNvSpPr/>
          <p:nvPr/>
        </p:nvSpPr>
        <p:spPr>
          <a:xfrm rot="10800000">
            <a:off x="4810125" y="4091916"/>
            <a:ext cx="132560" cy="114277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485063D3-9348-FE09-6F77-8A61E870FD50}"/>
              </a:ext>
            </a:extLst>
          </p:cNvPr>
          <p:cNvSpPr/>
          <p:nvPr/>
        </p:nvSpPr>
        <p:spPr>
          <a:xfrm>
            <a:off x="7924803" y="4362979"/>
            <a:ext cx="773770" cy="168692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400" b="1" dirty="0">
                <a:solidFill>
                  <a:schemeClr val="tx1"/>
                </a:solidFill>
              </a:rPr>
              <a:t>성장</a:t>
            </a:r>
            <a:endParaRPr lang="en-US" altLang="ko-KR" sz="1400" b="1" dirty="0">
              <a:solidFill>
                <a:schemeClr val="tx1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960DF97-CE98-46A6-14DD-3DFD8C801B1A}"/>
              </a:ext>
            </a:extLst>
          </p:cNvPr>
          <p:cNvSpPr/>
          <p:nvPr/>
        </p:nvSpPr>
        <p:spPr>
          <a:xfrm>
            <a:off x="6121391" y="4362980"/>
            <a:ext cx="748381" cy="71595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b="1" dirty="0">
                <a:solidFill>
                  <a:schemeClr val="tx1"/>
                </a:solidFill>
              </a:rPr>
              <a:t>스토리</a:t>
            </a:r>
            <a:br>
              <a:rPr lang="en-US" altLang="ko-KR" sz="1200" b="1" dirty="0">
                <a:solidFill>
                  <a:schemeClr val="tx1"/>
                </a:solidFill>
              </a:rPr>
            </a:br>
            <a:r>
              <a:rPr lang="ko-KR" altLang="en-US" sz="1200" b="1" dirty="0">
                <a:solidFill>
                  <a:schemeClr val="tx1"/>
                </a:solidFill>
              </a:rPr>
              <a:t>컨텐츠</a:t>
            </a:r>
            <a:endParaRPr lang="en-US" altLang="ko-KR" sz="1200" b="1" dirty="0">
              <a:solidFill>
                <a:schemeClr val="tx1"/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53C76B4-B3E0-6E9E-1D22-E9CE64B4263E}"/>
              </a:ext>
            </a:extLst>
          </p:cNvPr>
          <p:cNvSpPr/>
          <p:nvPr/>
        </p:nvSpPr>
        <p:spPr>
          <a:xfrm>
            <a:off x="7035791" y="4362980"/>
            <a:ext cx="748381" cy="71595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b="1" dirty="0">
                <a:solidFill>
                  <a:schemeClr val="tx1"/>
                </a:solidFill>
              </a:rPr>
              <a:t>기타</a:t>
            </a:r>
            <a:br>
              <a:rPr lang="en-US" altLang="ko-KR" sz="1200" b="1" dirty="0">
                <a:solidFill>
                  <a:schemeClr val="tx1"/>
                </a:solidFill>
              </a:rPr>
            </a:br>
            <a:r>
              <a:rPr lang="ko-KR" altLang="en-US" sz="1200" b="1" dirty="0">
                <a:solidFill>
                  <a:schemeClr val="tx1"/>
                </a:solidFill>
              </a:rPr>
              <a:t>컨텐츠</a:t>
            </a:r>
            <a:endParaRPr lang="en-US" altLang="ko-KR" sz="1200" b="1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E30F981-44B6-25E7-8DF6-41BFB8DC102A}"/>
              </a:ext>
            </a:extLst>
          </p:cNvPr>
          <p:cNvSpPr/>
          <p:nvPr/>
        </p:nvSpPr>
        <p:spPr>
          <a:xfrm>
            <a:off x="6121391" y="5333956"/>
            <a:ext cx="1662781" cy="71595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dirty="0">
                <a:solidFill>
                  <a:schemeClr val="tx1"/>
                </a:solidFill>
              </a:rPr>
              <a:t>보상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EE3A92C8-E4E1-602D-3405-073A0A7EB666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8311688" y="4165392"/>
            <a:ext cx="0" cy="197587"/>
          </a:xfrm>
          <a:prstGeom prst="straightConnector1">
            <a:avLst/>
          </a:prstGeom>
          <a:ln w="254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A396081A-5024-4436-9F4B-86BCD85A23B4}"/>
              </a:ext>
            </a:extLst>
          </p:cNvPr>
          <p:cNvCxnSpPr>
            <a:cxnSpLocks/>
          </p:cNvCxnSpPr>
          <p:nvPr/>
        </p:nvCxnSpPr>
        <p:spPr>
          <a:xfrm flipH="1">
            <a:off x="6495581" y="4165393"/>
            <a:ext cx="1828800" cy="0"/>
          </a:xfrm>
          <a:prstGeom prst="straightConnector1">
            <a:avLst/>
          </a:prstGeom>
          <a:ln w="254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A6F9B132-5E0E-B558-20AB-823F381528BE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6495581" y="4165393"/>
            <a:ext cx="1" cy="197587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C57DF068-FD6F-F73A-4820-DA60DC8C6AEC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7409981" y="4165393"/>
            <a:ext cx="1" cy="197587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91794A28-BEB7-FFBB-3427-800A28A73ACB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6495582" y="5078937"/>
            <a:ext cx="0" cy="73488"/>
          </a:xfrm>
          <a:prstGeom prst="straightConnector1">
            <a:avLst/>
          </a:prstGeom>
          <a:ln w="254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37B161D0-4EB8-DBD3-292F-D0544449D41E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7409982" y="5078937"/>
            <a:ext cx="0" cy="73488"/>
          </a:xfrm>
          <a:prstGeom prst="straightConnector1">
            <a:avLst/>
          </a:prstGeom>
          <a:ln w="254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C124D2B0-7887-C285-337B-36F036FFCEB0}"/>
              </a:ext>
            </a:extLst>
          </p:cNvPr>
          <p:cNvCxnSpPr>
            <a:cxnSpLocks/>
          </p:cNvCxnSpPr>
          <p:nvPr/>
        </p:nvCxnSpPr>
        <p:spPr>
          <a:xfrm flipH="1">
            <a:off x="6487526" y="5152425"/>
            <a:ext cx="922455" cy="0"/>
          </a:xfrm>
          <a:prstGeom prst="straightConnector1">
            <a:avLst/>
          </a:prstGeom>
          <a:ln w="254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70B4024A-95F0-555C-3F2B-D9FD625F5830}"/>
              </a:ext>
            </a:extLst>
          </p:cNvPr>
          <p:cNvCxnSpPr>
            <a:cxnSpLocks/>
          </p:cNvCxnSpPr>
          <p:nvPr/>
        </p:nvCxnSpPr>
        <p:spPr>
          <a:xfrm>
            <a:off x="6948752" y="5155968"/>
            <a:ext cx="0" cy="17147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999FB4CA-81DB-C271-4FD1-38B4D44F3E3D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7784172" y="5691935"/>
            <a:ext cx="21682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98D4C703-E457-08EB-6860-B25721272266}"/>
              </a:ext>
            </a:extLst>
          </p:cNvPr>
          <p:cNvSpPr/>
          <p:nvPr/>
        </p:nvSpPr>
        <p:spPr>
          <a:xfrm>
            <a:off x="9134227" y="4362979"/>
            <a:ext cx="748381" cy="715955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유료</a:t>
            </a:r>
            <a:br>
              <a:rPr lang="en-US" altLang="ko-KR" sz="1200" dirty="0">
                <a:solidFill>
                  <a:schemeClr val="tx1"/>
                </a:solidFill>
              </a:rPr>
            </a:br>
            <a:r>
              <a:rPr lang="ko-KR" altLang="en-US" sz="1200" dirty="0">
                <a:solidFill>
                  <a:schemeClr val="tx1"/>
                </a:solidFill>
              </a:rPr>
              <a:t>패스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0A8F85A-F869-EE87-9E6F-615B9B221AB3}"/>
              </a:ext>
            </a:extLst>
          </p:cNvPr>
          <p:cNvCxnSpPr>
            <a:cxnSpLocks/>
          </p:cNvCxnSpPr>
          <p:nvPr/>
        </p:nvCxnSpPr>
        <p:spPr>
          <a:xfrm>
            <a:off x="9363808" y="5078934"/>
            <a:ext cx="0" cy="248509"/>
          </a:xfrm>
          <a:prstGeom prst="straightConnector1">
            <a:avLst/>
          </a:prstGeom>
          <a:ln w="25400">
            <a:solidFill>
              <a:srgbClr val="7030A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28E31D83-727F-5AB7-213A-55B1E0DD9CDD}"/>
              </a:ext>
            </a:extLst>
          </p:cNvPr>
          <p:cNvCxnSpPr>
            <a:cxnSpLocks/>
            <a:stCxn id="39" idx="1"/>
          </p:cNvCxnSpPr>
          <p:nvPr/>
        </p:nvCxnSpPr>
        <p:spPr>
          <a:xfrm flipH="1">
            <a:off x="8698573" y="4720957"/>
            <a:ext cx="435654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C42EA1DE-B4D3-50AF-6D8B-4C7C28F35D3C}"/>
              </a:ext>
            </a:extLst>
          </p:cNvPr>
          <p:cNvSpPr/>
          <p:nvPr/>
        </p:nvSpPr>
        <p:spPr>
          <a:xfrm>
            <a:off x="9134227" y="5342741"/>
            <a:ext cx="748381" cy="715957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하우징</a:t>
            </a:r>
            <a:br>
              <a:rPr lang="en-US" altLang="ko-KR" sz="1200" dirty="0">
                <a:solidFill>
                  <a:schemeClr val="tx1"/>
                </a:solidFill>
              </a:rPr>
            </a:br>
            <a:r>
              <a:rPr lang="ko-KR" altLang="en-US" sz="1200" dirty="0">
                <a:solidFill>
                  <a:schemeClr val="tx1"/>
                </a:solidFill>
              </a:rPr>
              <a:t>관리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37489DF4-9F00-B74A-E9E1-0F271280C34C}"/>
              </a:ext>
            </a:extLst>
          </p:cNvPr>
          <p:cNvSpPr/>
          <p:nvPr/>
        </p:nvSpPr>
        <p:spPr>
          <a:xfrm>
            <a:off x="10048629" y="5342741"/>
            <a:ext cx="748381" cy="715957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</a:rPr>
              <a:t>하우징</a:t>
            </a:r>
            <a:br>
              <a:rPr lang="en-US" altLang="ko-KR" sz="1100" dirty="0">
                <a:solidFill>
                  <a:schemeClr val="tx1"/>
                </a:solidFill>
              </a:rPr>
            </a:br>
            <a:r>
              <a:rPr lang="ko-KR" altLang="en-US" sz="1100" dirty="0">
                <a:solidFill>
                  <a:schemeClr val="tx1"/>
                </a:solidFill>
              </a:rPr>
              <a:t>레벨 업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770AFF9E-8B03-648C-21E6-7F30B87D3881}"/>
              </a:ext>
            </a:extLst>
          </p:cNvPr>
          <p:cNvCxnSpPr>
            <a:cxnSpLocks/>
          </p:cNvCxnSpPr>
          <p:nvPr/>
        </p:nvCxnSpPr>
        <p:spPr>
          <a:xfrm flipH="1" flipV="1">
            <a:off x="10422819" y="5145154"/>
            <a:ext cx="1" cy="197586"/>
          </a:xfrm>
          <a:prstGeom prst="straightConnector1">
            <a:avLst/>
          </a:prstGeom>
          <a:ln w="254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6C638E7D-6358-9AEA-BC22-A029C3E4C302}"/>
              </a:ext>
            </a:extLst>
          </p:cNvPr>
          <p:cNvCxnSpPr>
            <a:cxnSpLocks/>
          </p:cNvCxnSpPr>
          <p:nvPr/>
        </p:nvCxnSpPr>
        <p:spPr>
          <a:xfrm flipH="1">
            <a:off x="9508416" y="6256284"/>
            <a:ext cx="914403" cy="0"/>
          </a:xfrm>
          <a:prstGeom prst="straightConnector1">
            <a:avLst/>
          </a:prstGeom>
          <a:ln w="254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11CF68B1-8B93-9559-BAD6-15FE400A489C}"/>
              </a:ext>
            </a:extLst>
          </p:cNvPr>
          <p:cNvCxnSpPr>
            <a:cxnSpLocks/>
          </p:cNvCxnSpPr>
          <p:nvPr/>
        </p:nvCxnSpPr>
        <p:spPr>
          <a:xfrm flipH="1" flipV="1">
            <a:off x="9508416" y="6058698"/>
            <a:ext cx="1" cy="197586"/>
          </a:xfrm>
          <a:prstGeom prst="straightConnector1">
            <a:avLst/>
          </a:prstGeom>
          <a:ln w="254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D2090F3F-7C14-8051-D408-6FF06D2DB826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9508416" y="5144249"/>
            <a:ext cx="2" cy="198492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8BA01425-A29D-5660-A22F-908B7060D70D}"/>
              </a:ext>
            </a:extLst>
          </p:cNvPr>
          <p:cNvCxnSpPr>
            <a:cxnSpLocks/>
            <a:endCxn id="38" idx="2"/>
          </p:cNvCxnSpPr>
          <p:nvPr/>
        </p:nvCxnSpPr>
        <p:spPr>
          <a:xfrm flipV="1">
            <a:off x="10422819" y="6058698"/>
            <a:ext cx="1" cy="197586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9BA6EB26-E545-1DB1-B63F-ACCE55889C0E}"/>
              </a:ext>
            </a:extLst>
          </p:cNvPr>
          <p:cNvCxnSpPr>
            <a:cxnSpLocks/>
          </p:cNvCxnSpPr>
          <p:nvPr/>
        </p:nvCxnSpPr>
        <p:spPr>
          <a:xfrm flipH="1">
            <a:off x="9508416" y="5144701"/>
            <a:ext cx="914403" cy="0"/>
          </a:xfrm>
          <a:prstGeom prst="straightConnector1">
            <a:avLst/>
          </a:prstGeom>
          <a:ln w="254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B2AD7F43-0384-1908-C5B4-DAF2C70119F0}"/>
              </a:ext>
            </a:extLst>
          </p:cNvPr>
          <p:cNvCxnSpPr>
            <a:cxnSpLocks/>
            <a:stCxn id="37" idx="1"/>
          </p:cNvCxnSpPr>
          <p:nvPr/>
        </p:nvCxnSpPr>
        <p:spPr>
          <a:xfrm flipH="1">
            <a:off x="8698573" y="5700720"/>
            <a:ext cx="435654" cy="879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22272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4308F-4522-7A51-043B-DF5956C14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그룹 48">
            <a:extLst>
              <a:ext uri="{FF2B5EF4-FFF2-40B4-BE49-F238E27FC236}">
                <a16:creationId xmlns:a16="http://schemas.microsoft.com/office/drawing/2014/main" id="{6DD80197-FE68-16E5-2B28-7804EDC3562E}"/>
              </a:ext>
            </a:extLst>
          </p:cNvPr>
          <p:cNvGrpSpPr/>
          <p:nvPr/>
        </p:nvGrpSpPr>
        <p:grpSpPr>
          <a:xfrm>
            <a:off x="1502109" y="2551703"/>
            <a:ext cx="3491918" cy="981275"/>
            <a:chOff x="5590702" y="4518708"/>
            <a:chExt cx="3491918" cy="981275"/>
          </a:xfrm>
        </p:grpSpPr>
        <p:pic>
          <p:nvPicPr>
            <p:cNvPr id="35" name="그래픽 34" descr="돈 봉투">
              <a:extLst>
                <a:ext uri="{FF2B5EF4-FFF2-40B4-BE49-F238E27FC236}">
                  <a16:creationId xmlns:a16="http://schemas.microsoft.com/office/drawing/2014/main" id="{8519EF7B-9875-6B98-833A-0823D3331E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 rot="18802465">
              <a:off x="5590702" y="4585583"/>
              <a:ext cx="914400" cy="914400"/>
            </a:xfrm>
            <a:custGeom>
              <a:avLst/>
              <a:gdLst>
                <a:gd name="connsiteX0" fmla="*/ 914400 w 914400"/>
                <a:gd name="connsiteY0" fmla="*/ 0 h 914400"/>
                <a:gd name="connsiteX1" fmla="*/ 914400 w 914400"/>
                <a:gd name="connsiteY1" fmla="*/ 914400 h 914400"/>
                <a:gd name="connsiteX2" fmla="*/ 593358 w 914400"/>
                <a:gd name="connsiteY2" fmla="*/ 914400 h 914400"/>
                <a:gd name="connsiteX3" fmla="*/ 0 w 914400"/>
                <a:gd name="connsiteY3" fmla="*/ 286380 h 914400"/>
                <a:gd name="connsiteX4" fmla="*/ 0 w 914400"/>
                <a:gd name="connsiteY4" fmla="*/ 0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914400" y="914400"/>
                  </a:lnTo>
                  <a:lnTo>
                    <a:pt x="593358" y="914400"/>
                  </a:lnTo>
                  <a:lnTo>
                    <a:pt x="0" y="286380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37" name="그래픽 36" descr="돈 봉투">
              <a:extLst>
                <a:ext uri="{FF2B5EF4-FFF2-40B4-BE49-F238E27FC236}">
                  <a16:creationId xmlns:a16="http://schemas.microsoft.com/office/drawing/2014/main" id="{0F1652BB-8533-6560-0F02-903B788034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b="6203"/>
            <a:stretch>
              <a:fillRect/>
            </a:stretch>
          </p:blipFill>
          <p:spPr>
            <a:xfrm rot="810059" flipH="1">
              <a:off x="5822805" y="4518708"/>
              <a:ext cx="914400" cy="857683"/>
            </a:xfrm>
            <a:custGeom>
              <a:avLst/>
              <a:gdLst>
                <a:gd name="connsiteX0" fmla="*/ 914400 w 914400"/>
                <a:gd name="connsiteY0" fmla="*/ 0 h 857683"/>
                <a:gd name="connsiteX1" fmla="*/ 0 w 914400"/>
                <a:gd name="connsiteY1" fmla="*/ 0 h 857683"/>
                <a:gd name="connsiteX2" fmla="*/ 0 w 914400"/>
                <a:gd name="connsiteY2" fmla="*/ 638138 h 857683"/>
                <a:gd name="connsiteX3" fmla="*/ 914400 w 914400"/>
                <a:gd name="connsiteY3" fmla="*/ 857683 h 857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4400" h="857683">
                  <a:moveTo>
                    <a:pt x="914400" y="0"/>
                  </a:moveTo>
                  <a:lnTo>
                    <a:pt x="0" y="0"/>
                  </a:lnTo>
                  <a:lnTo>
                    <a:pt x="0" y="638138"/>
                  </a:lnTo>
                  <a:lnTo>
                    <a:pt x="914400" y="857683"/>
                  </a:lnTo>
                  <a:close/>
                </a:path>
              </a:pathLst>
            </a:custGeom>
          </p:spPr>
        </p:pic>
        <p:pic>
          <p:nvPicPr>
            <p:cNvPr id="42" name="그래픽 41" descr="돈 봉투">
              <a:extLst>
                <a:ext uri="{FF2B5EF4-FFF2-40B4-BE49-F238E27FC236}">
                  <a16:creationId xmlns:a16="http://schemas.microsoft.com/office/drawing/2014/main" id="{F184F738-5841-641B-3F2C-F1E2D11624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 rot="1542514" flipH="1">
              <a:off x="8168220" y="4567243"/>
              <a:ext cx="914400" cy="914400"/>
            </a:xfrm>
            <a:custGeom>
              <a:avLst/>
              <a:gdLst>
                <a:gd name="connsiteX0" fmla="*/ 914400 w 914400"/>
                <a:gd name="connsiteY0" fmla="*/ 0 h 914400"/>
                <a:gd name="connsiteX1" fmla="*/ 914400 w 914400"/>
                <a:gd name="connsiteY1" fmla="*/ 914400 h 914400"/>
                <a:gd name="connsiteX2" fmla="*/ 853479 w 914400"/>
                <a:gd name="connsiteY2" fmla="*/ 914400 h 914400"/>
                <a:gd name="connsiteX3" fmla="*/ 0 w 914400"/>
                <a:gd name="connsiteY3" fmla="*/ 503491 h 914400"/>
                <a:gd name="connsiteX4" fmla="*/ 0 w 914400"/>
                <a:gd name="connsiteY4" fmla="*/ 0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914400" y="914400"/>
                  </a:lnTo>
                  <a:lnTo>
                    <a:pt x="853479" y="914400"/>
                  </a:lnTo>
                  <a:lnTo>
                    <a:pt x="0" y="503491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39" name="그래픽 38" descr="돈 봉투">
              <a:extLst>
                <a:ext uri="{FF2B5EF4-FFF2-40B4-BE49-F238E27FC236}">
                  <a16:creationId xmlns:a16="http://schemas.microsoft.com/office/drawing/2014/main" id="{C13351F3-E8B0-6E2E-C201-94F8B364B6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 rot="1617271" flipH="1">
              <a:off x="6103985" y="4527723"/>
              <a:ext cx="914400" cy="914400"/>
            </a:xfrm>
            <a:custGeom>
              <a:avLst/>
              <a:gdLst>
                <a:gd name="connsiteX0" fmla="*/ 914400 w 914400"/>
                <a:gd name="connsiteY0" fmla="*/ 0 h 914400"/>
                <a:gd name="connsiteX1" fmla="*/ 0 w 914400"/>
                <a:gd name="connsiteY1" fmla="*/ 0 h 914400"/>
                <a:gd name="connsiteX2" fmla="*/ 0 w 914400"/>
                <a:gd name="connsiteY2" fmla="*/ 530835 h 914400"/>
                <a:gd name="connsiteX3" fmla="*/ 754268 w 914400"/>
                <a:gd name="connsiteY3" fmla="*/ 914400 h 914400"/>
                <a:gd name="connsiteX4" fmla="*/ 914400 w 914400"/>
                <a:gd name="connsiteY4" fmla="*/ 914400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530835"/>
                  </a:lnTo>
                  <a:lnTo>
                    <a:pt x="754268" y="914400"/>
                  </a:lnTo>
                  <a:lnTo>
                    <a:pt x="914400" y="914400"/>
                  </a:lnTo>
                  <a:close/>
                </a:path>
              </a:pathLst>
            </a:custGeom>
          </p:spPr>
        </p:pic>
        <p:pic>
          <p:nvPicPr>
            <p:cNvPr id="57" name="그래픽 56" descr="돈 봉투">
              <a:extLst>
                <a:ext uri="{FF2B5EF4-FFF2-40B4-BE49-F238E27FC236}">
                  <a16:creationId xmlns:a16="http://schemas.microsoft.com/office/drawing/2014/main" id="{8FF32CE3-E583-C939-8A38-668224182D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b="6203"/>
            <a:stretch>
              <a:fillRect/>
            </a:stretch>
          </p:blipFill>
          <p:spPr>
            <a:xfrm rot="20789941">
              <a:off x="7638750" y="4525389"/>
              <a:ext cx="914400" cy="857683"/>
            </a:xfrm>
            <a:custGeom>
              <a:avLst/>
              <a:gdLst>
                <a:gd name="connsiteX0" fmla="*/ 914400 w 914400"/>
                <a:gd name="connsiteY0" fmla="*/ 0 h 857683"/>
                <a:gd name="connsiteX1" fmla="*/ 0 w 914400"/>
                <a:gd name="connsiteY1" fmla="*/ 0 h 857683"/>
                <a:gd name="connsiteX2" fmla="*/ 0 w 914400"/>
                <a:gd name="connsiteY2" fmla="*/ 638138 h 857683"/>
                <a:gd name="connsiteX3" fmla="*/ 914400 w 914400"/>
                <a:gd name="connsiteY3" fmla="*/ 857683 h 857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4400" h="857683">
                  <a:moveTo>
                    <a:pt x="914400" y="0"/>
                  </a:moveTo>
                  <a:lnTo>
                    <a:pt x="0" y="0"/>
                  </a:lnTo>
                  <a:lnTo>
                    <a:pt x="0" y="638138"/>
                  </a:lnTo>
                  <a:lnTo>
                    <a:pt x="914400" y="857683"/>
                  </a:lnTo>
                  <a:close/>
                </a:path>
              </a:pathLst>
            </a:custGeom>
          </p:spPr>
        </p:pic>
        <p:pic>
          <p:nvPicPr>
            <p:cNvPr id="58" name="그래픽 57" descr="돈 봉투">
              <a:extLst>
                <a:ext uri="{FF2B5EF4-FFF2-40B4-BE49-F238E27FC236}">
                  <a16:creationId xmlns:a16="http://schemas.microsoft.com/office/drawing/2014/main" id="{A3A42345-E2D9-38A9-6A7B-5AC34895C9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 rot="19982729">
              <a:off x="7919930" y="4534404"/>
              <a:ext cx="914400" cy="914400"/>
            </a:xfrm>
            <a:custGeom>
              <a:avLst/>
              <a:gdLst>
                <a:gd name="connsiteX0" fmla="*/ 914400 w 914400"/>
                <a:gd name="connsiteY0" fmla="*/ 0 h 914400"/>
                <a:gd name="connsiteX1" fmla="*/ 0 w 914400"/>
                <a:gd name="connsiteY1" fmla="*/ 0 h 914400"/>
                <a:gd name="connsiteX2" fmla="*/ 0 w 914400"/>
                <a:gd name="connsiteY2" fmla="*/ 530835 h 914400"/>
                <a:gd name="connsiteX3" fmla="*/ 754268 w 914400"/>
                <a:gd name="connsiteY3" fmla="*/ 914400 h 914400"/>
                <a:gd name="connsiteX4" fmla="*/ 914400 w 914400"/>
                <a:gd name="connsiteY4" fmla="*/ 914400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" h="914400">
                  <a:moveTo>
                    <a:pt x="914400" y="0"/>
                  </a:moveTo>
                  <a:lnTo>
                    <a:pt x="0" y="0"/>
                  </a:lnTo>
                  <a:lnTo>
                    <a:pt x="0" y="530835"/>
                  </a:lnTo>
                  <a:lnTo>
                    <a:pt x="754268" y="914400"/>
                  </a:lnTo>
                  <a:lnTo>
                    <a:pt x="914400" y="914400"/>
                  </a:lnTo>
                  <a:close/>
                </a:path>
              </a:pathLst>
            </a:custGeom>
          </p:spPr>
        </p:pic>
      </p:grpSp>
      <p:pic>
        <p:nvPicPr>
          <p:cNvPr id="8" name="그래픽 7" descr="사용자">
            <a:extLst>
              <a:ext uri="{FF2B5EF4-FFF2-40B4-BE49-F238E27FC236}">
                <a16:creationId xmlns:a16="http://schemas.microsoft.com/office/drawing/2014/main" id="{70C25288-8F36-A0CF-F97E-F079542A9A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11209" y="1740324"/>
            <a:ext cx="1839160" cy="18391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552A3EA-9704-23E2-ED81-91D18EA46E3E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유저 분석</a:t>
            </a:r>
            <a:endParaRPr lang="en-US" altLang="ko-KR" sz="2000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D8709C22-9FEF-7C14-BD87-4AA04F4DDE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5145776"/>
              </p:ext>
            </p:extLst>
          </p:nvPr>
        </p:nvGraphicFramePr>
        <p:xfrm>
          <a:off x="1424352" y="4370148"/>
          <a:ext cx="3622430" cy="19423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11215">
                  <a:extLst>
                    <a:ext uri="{9D8B030D-6E8A-4147-A177-3AD203B41FA5}">
                      <a16:colId xmlns:a16="http://schemas.microsoft.com/office/drawing/2014/main" val="327429306"/>
                    </a:ext>
                  </a:extLst>
                </a:gridCol>
                <a:gridCol w="1811215">
                  <a:extLst>
                    <a:ext uri="{9D8B030D-6E8A-4147-A177-3AD203B41FA5}">
                      <a16:colId xmlns:a16="http://schemas.microsoft.com/office/drawing/2014/main" val="863518014"/>
                    </a:ext>
                  </a:extLst>
                </a:gridCol>
              </a:tblGrid>
              <a:tr h="3868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/>
                        <a:t>정착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/>
                        <a:t>이탈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10057"/>
                  </a:ext>
                </a:extLst>
              </a:tr>
              <a:tr h="1555516"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b="0" i="0" dirty="0"/>
                        <a:t>신규</a:t>
                      </a:r>
                      <a:r>
                        <a:rPr lang="en-US" altLang="ko-KR" sz="1100" b="0" i="0" dirty="0"/>
                        <a:t> </a:t>
                      </a:r>
                      <a:r>
                        <a:rPr lang="ko-KR" altLang="en-US" sz="1100" b="0" i="0" dirty="0"/>
                        <a:t>캐릭터와 컨텐츠</a:t>
                      </a:r>
                      <a:r>
                        <a:rPr lang="en-US" altLang="ko-KR" sz="1100" b="0" i="0" dirty="0"/>
                        <a:t>?</a:t>
                      </a:r>
                      <a:br>
                        <a:rPr lang="en-US" altLang="ko-KR" sz="1100" b="0" i="0" dirty="0"/>
                      </a:br>
                      <a:r>
                        <a:rPr lang="ko-KR" altLang="en-US" sz="1100" b="0" i="0" dirty="0"/>
                        <a:t>지를 게 또 생겼으니</a:t>
                      </a:r>
                      <a:br>
                        <a:rPr lang="en-US" altLang="ko-KR" sz="1100" b="0" i="0" dirty="0"/>
                      </a:br>
                      <a:r>
                        <a:rPr lang="ko-KR" altLang="en-US" sz="1100" b="0" i="0" dirty="0"/>
                        <a:t>질러야지</a:t>
                      </a:r>
                      <a:r>
                        <a:rPr lang="en-US" altLang="ko-KR" sz="1100" b="0" i="0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50" b="0" i="0" dirty="0"/>
                        <a:t>할거 더 안내주면</a:t>
                      </a:r>
                      <a:br>
                        <a:rPr lang="en-US" altLang="ko-KR" sz="1050" b="0" i="0" dirty="0"/>
                      </a:br>
                      <a:r>
                        <a:rPr lang="ko-KR" altLang="en-US" sz="1050" b="0" i="0" dirty="0"/>
                        <a:t>딴 게임 하러 가야지</a:t>
                      </a:r>
                      <a:r>
                        <a:rPr lang="en-US" altLang="ko-KR" sz="1050" b="0" i="0" dirty="0"/>
                        <a:t>.</a:t>
                      </a:r>
                    </a:p>
                    <a:p>
                      <a:pPr marL="171450" indent="-171450" algn="l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endParaRPr lang="en-US" altLang="ko-KR" sz="1050" b="0" i="0" dirty="0"/>
                    </a:p>
                    <a:p>
                      <a:pPr marL="171450" indent="-171450" algn="l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50" b="0" i="0" dirty="0"/>
                        <a:t>돈을 </a:t>
                      </a:r>
                      <a:r>
                        <a:rPr lang="ko-KR" altLang="en-US" sz="1050" b="0" i="0" dirty="0" err="1"/>
                        <a:t>이렇게나</a:t>
                      </a:r>
                      <a:r>
                        <a:rPr lang="ko-KR" altLang="en-US" sz="1050" b="0" i="0" dirty="0"/>
                        <a:t> 지르는데</a:t>
                      </a:r>
                      <a:br>
                        <a:rPr lang="en-US" altLang="ko-KR" sz="1050" b="0" i="0" dirty="0"/>
                      </a:br>
                      <a:r>
                        <a:rPr lang="ko-KR" altLang="en-US" sz="1050" b="0" i="0" dirty="0"/>
                        <a:t>지른 템 가치는</a:t>
                      </a:r>
                      <a:br>
                        <a:rPr lang="en-US" altLang="ko-KR" sz="1050" b="0" i="0" dirty="0"/>
                      </a:br>
                      <a:r>
                        <a:rPr lang="ko-KR" altLang="en-US" sz="1050" b="0" i="0" dirty="0"/>
                        <a:t>계속 떨어지고</a:t>
                      </a:r>
                      <a:r>
                        <a:rPr lang="en-US" altLang="ko-KR" sz="1050" b="0" i="0" dirty="0"/>
                        <a:t>,</a:t>
                      </a:r>
                      <a:br>
                        <a:rPr lang="en-US" altLang="ko-KR" sz="1050" b="0" i="0" dirty="0"/>
                      </a:br>
                      <a:r>
                        <a:rPr lang="ko-KR" altLang="en-US" sz="1050" b="0" i="0" dirty="0"/>
                        <a:t>하는 컨텐츠가</a:t>
                      </a:r>
                      <a:br>
                        <a:rPr lang="en-US" altLang="ko-KR" sz="1050" b="0" i="0" dirty="0"/>
                      </a:br>
                      <a:r>
                        <a:rPr lang="ko-KR" altLang="en-US" sz="1050" b="0" i="0" dirty="0"/>
                        <a:t>달라지는 것도 아니고</a:t>
                      </a:r>
                      <a:r>
                        <a:rPr lang="en-US" altLang="ko-KR" sz="1050" b="0" i="0" dirty="0"/>
                        <a:t>......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0674291"/>
                  </a:ext>
                </a:extLst>
              </a:tr>
            </a:tbl>
          </a:graphicData>
        </a:graphic>
      </p:graphicFrame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5918711-06C0-4885-54C7-592693237C60}"/>
              </a:ext>
            </a:extLst>
          </p:cNvPr>
          <p:cNvSpPr/>
          <p:nvPr/>
        </p:nvSpPr>
        <p:spPr>
          <a:xfrm>
            <a:off x="1424352" y="3429000"/>
            <a:ext cx="3622430" cy="835762"/>
          </a:xfrm>
          <a:prstGeom prst="roundRect">
            <a:avLst/>
          </a:prstGeom>
          <a:solidFill>
            <a:schemeClr val="bg1"/>
          </a:solidFill>
          <a:ln w="38100" cmpd="dbl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</a:rPr>
              <a:t>　　　　　게임에선 내가 왕</a:t>
            </a:r>
            <a:r>
              <a:rPr lang="en-US" altLang="ko-KR" sz="1100" dirty="0">
                <a:solidFill>
                  <a:schemeClr val="tx1"/>
                </a:solidFill>
              </a:rPr>
              <a:t>.</a:t>
            </a:r>
            <a:br>
              <a:rPr lang="en-US" altLang="ko-KR" sz="1100" dirty="0">
                <a:solidFill>
                  <a:schemeClr val="tx1"/>
                </a:solidFill>
              </a:rPr>
            </a:br>
            <a:r>
              <a:rPr lang="ko-KR" altLang="en-US" sz="1100" dirty="0">
                <a:solidFill>
                  <a:schemeClr val="tx1"/>
                </a:solidFill>
              </a:rPr>
              <a:t>　　　　　게임 회사 입장에서도 내가 왕</a:t>
            </a:r>
            <a:r>
              <a:rPr lang="en-US" altLang="ko-KR" sz="1100" dirty="0">
                <a:solidFill>
                  <a:schemeClr val="tx1"/>
                </a:solidFill>
              </a:rPr>
              <a:t>.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882FAF-6225-B406-9ABE-0683F758EE2C}"/>
              </a:ext>
            </a:extLst>
          </p:cNvPr>
          <p:cNvSpPr txBox="1"/>
          <p:nvPr/>
        </p:nvSpPr>
        <p:spPr>
          <a:xfrm>
            <a:off x="5763828" y="923166"/>
            <a:ext cx="5270518" cy="2918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/>
              <a:t>특성</a:t>
            </a:r>
            <a:endParaRPr lang="en-US" altLang="ko-KR" sz="1200" b="1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dirty="0"/>
              <a:t>가성비 유료 상품 외의 추가 유료 상품을 구매하며</a:t>
            </a:r>
            <a:br>
              <a:rPr lang="en-US" altLang="ko-KR" sz="1100" dirty="0"/>
            </a:br>
            <a:r>
              <a:rPr lang="ko-KR" altLang="en-US" sz="1100" dirty="0"/>
              <a:t>최상위 컨텐츠를 즐기는 유저</a:t>
            </a:r>
            <a:endParaRPr lang="en-US" altLang="ko-KR" sz="1100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dirty="0"/>
              <a:t>높은 </a:t>
            </a:r>
            <a:r>
              <a:rPr lang="ko-KR" altLang="en-US" sz="1100" dirty="0" err="1"/>
              <a:t>과금량과</a:t>
            </a:r>
            <a:r>
              <a:rPr lang="ko-KR" altLang="en-US" sz="1100" dirty="0"/>
              <a:t> 충성심의 유저이나</a:t>
            </a:r>
            <a:br>
              <a:rPr lang="en-US" altLang="ko-KR" sz="1100" dirty="0"/>
            </a:br>
            <a:r>
              <a:rPr lang="ko-KR" altLang="en-US" sz="1100" dirty="0"/>
              <a:t>투자한 아이템의 가치가 떨어지는 위협을 느끼거나</a:t>
            </a:r>
            <a:br>
              <a:rPr lang="en-US" altLang="ko-KR" sz="1100" dirty="0"/>
            </a:br>
            <a:r>
              <a:rPr lang="ko-KR" altLang="en-US" sz="1100" dirty="0"/>
              <a:t>투자할 컨텐츠가 없다고 느껴질 때 이탈할 수 있다</a:t>
            </a:r>
            <a:r>
              <a:rPr lang="en-US" altLang="ko-KR" sz="1100" dirty="0"/>
              <a:t>.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1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/>
              <a:t>핵심 서비스 로그</a:t>
            </a:r>
            <a:endParaRPr lang="en-US" altLang="ko-KR" sz="1200" b="1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100" dirty="0">
                <a:solidFill>
                  <a:prstClr val="black"/>
                </a:solidFill>
              </a:rPr>
              <a:t>유료 상품 구매 품목</a:t>
            </a:r>
            <a:endParaRPr lang="en-US" altLang="ko-KR" sz="1100" dirty="0">
              <a:solidFill>
                <a:prstClr val="black"/>
              </a:solidFill>
            </a:endParaRP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endParaRPr lang="en-US" altLang="ko-KR" sz="1100" dirty="0">
              <a:solidFill>
                <a:prstClr val="black"/>
              </a:solidFill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/>
              <a:t>컨텐츠 소비 방식</a:t>
            </a:r>
            <a:endParaRPr lang="en-US" altLang="ko-KR" sz="1200" b="1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0EA668A-BCEA-D225-9AE3-0823628B010C}"/>
              </a:ext>
            </a:extLst>
          </p:cNvPr>
          <p:cNvGrpSpPr/>
          <p:nvPr/>
        </p:nvGrpSpPr>
        <p:grpSpPr>
          <a:xfrm>
            <a:off x="2198074" y="922665"/>
            <a:ext cx="2074986" cy="668216"/>
            <a:chOff x="1441937" y="5750169"/>
            <a:chExt cx="2074986" cy="668216"/>
          </a:xfrm>
        </p:grpSpPr>
        <p:sp>
          <p:nvSpPr>
            <p:cNvPr id="4" name="사다리꼴 3">
              <a:extLst>
                <a:ext uri="{FF2B5EF4-FFF2-40B4-BE49-F238E27FC236}">
                  <a16:creationId xmlns:a16="http://schemas.microsoft.com/office/drawing/2014/main" id="{25BCDF6C-AE6D-FE32-C64E-CA7ABE9B46C0}"/>
                </a:ext>
              </a:extLst>
            </p:cNvPr>
            <p:cNvSpPr/>
            <p:nvPr/>
          </p:nvSpPr>
          <p:spPr>
            <a:xfrm rot="10800000">
              <a:off x="1441937" y="5750169"/>
              <a:ext cx="2074986" cy="668216"/>
            </a:xfrm>
            <a:prstGeom prst="trapezoid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F6B9317-041A-BB40-E358-C1F72FE40676}"/>
                </a:ext>
              </a:extLst>
            </p:cNvPr>
            <p:cNvSpPr txBox="1"/>
            <p:nvPr/>
          </p:nvSpPr>
          <p:spPr>
            <a:xfrm>
              <a:off x="2098554" y="5899611"/>
              <a:ext cx="761751" cy="369332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b="1" dirty="0">
                  <a:solidFill>
                    <a:schemeClr val="tx1"/>
                  </a:solidFill>
                  <a:effectLst>
                    <a:outerShdw blurRad="88900" sx="102000" sy="102000" algn="ctr" rotWithShape="0">
                      <a:schemeClr val="bg1"/>
                    </a:outerShdw>
                  </a:effectLst>
                </a:rPr>
                <a:t>충성</a:t>
              </a:r>
            </a:p>
          </p:txBody>
        </p:sp>
      </p:grpSp>
      <p:sp>
        <p:nvSpPr>
          <p:cNvPr id="12" name="이등변 삼각형 11">
            <a:extLst>
              <a:ext uri="{FF2B5EF4-FFF2-40B4-BE49-F238E27FC236}">
                <a16:creationId xmlns:a16="http://schemas.microsoft.com/office/drawing/2014/main" id="{58AAED40-EA12-03F2-660D-690F4ADAF6E0}"/>
              </a:ext>
            </a:extLst>
          </p:cNvPr>
          <p:cNvSpPr/>
          <p:nvPr/>
        </p:nvSpPr>
        <p:spPr>
          <a:xfrm rot="10800000">
            <a:off x="4810125" y="4091916"/>
            <a:ext cx="132560" cy="114277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래픽 12" descr="게임 컨트롤러">
            <a:extLst>
              <a:ext uri="{FF2B5EF4-FFF2-40B4-BE49-F238E27FC236}">
                <a16:creationId xmlns:a16="http://schemas.microsoft.com/office/drawing/2014/main" id="{386D7E52-3BEF-C261-1E7A-A96BF83507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73087" y="2799320"/>
            <a:ext cx="715405" cy="715405"/>
          </a:xfrm>
          <a:prstGeom prst="rect">
            <a:avLst/>
          </a:prstGeom>
        </p:spPr>
      </p:pic>
      <p:pic>
        <p:nvPicPr>
          <p:cNvPr id="18" name="그래픽 17" descr="왕관">
            <a:extLst>
              <a:ext uri="{FF2B5EF4-FFF2-40B4-BE49-F238E27FC236}">
                <a16:creationId xmlns:a16="http://schemas.microsoft.com/office/drawing/2014/main" id="{3E32531D-3373-728A-188A-4C95303C86C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9800000">
            <a:off x="2614488" y="1637373"/>
            <a:ext cx="741994" cy="523860"/>
          </a:xfrm>
          <a:prstGeom prst="rect">
            <a:avLst/>
          </a:prstGeom>
        </p:spPr>
      </p:pic>
      <p:pic>
        <p:nvPicPr>
          <p:cNvPr id="26" name="그래픽 25" descr="선글라스">
            <a:extLst>
              <a:ext uri="{FF2B5EF4-FFF2-40B4-BE49-F238E27FC236}">
                <a16:creationId xmlns:a16="http://schemas.microsoft.com/office/drawing/2014/main" id="{37F9D45A-D23D-5632-DF50-DC861C6D5C0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854726" y="1949692"/>
            <a:ext cx="752124" cy="752124"/>
          </a:xfrm>
          <a:prstGeom prst="rect">
            <a:avLst/>
          </a:prstGeom>
        </p:spPr>
      </p:pic>
      <p:pic>
        <p:nvPicPr>
          <p:cNvPr id="50" name="그래픽 49" descr="동전">
            <a:extLst>
              <a:ext uri="{FF2B5EF4-FFF2-40B4-BE49-F238E27FC236}">
                <a16:creationId xmlns:a16="http://schemas.microsoft.com/office/drawing/2014/main" id="{B023DA5F-AA97-9278-9579-0B9264B17DC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20700000">
            <a:off x="1990709" y="1616623"/>
            <a:ext cx="487712" cy="487712"/>
          </a:xfrm>
          <a:prstGeom prst="rect">
            <a:avLst/>
          </a:prstGeom>
        </p:spPr>
      </p:pic>
      <p:pic>
        <p:nvPicPr>
          <p:cNvPr id="51" name="그래픽 50" descr="동전">
            <a:extLst>
              <a:ext uri="{FF2B5EF4-FFF2-40B4-BE49-F238E27FC236}">
                <a16:creationId xmlns:a16="http://schemas.microsoft.com/office/drawing/2014/main" id="{650E6545-7D48-1C83-A3C3-06A7C3612D8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2756341">
            <a:off x="3501994" y="2426716"/>
            <a:ext cx="487712" cy="487712"/>
          </a:xfrm>
          <a:prstGeom prst="rect">
            <a:avLst/>
          </a:prstGeom>
        </p:spPr>
      </p:pic>
      <p:pic>
        <p:nvPicPr>
          <p:cNvPr id="53" name="그래픽 52" descr="동전">
            <a:extLst>
              <a:ext uri="{FF2B5EF4-FFF2-40B4-BE49-F238E27FC236}">
                <a16:creationId xmlns:a16="http://schemas.microsoft.com/office/drawing/2014/main" id="{3EE15D7E-7C36-17FE-3F39-4A28C3442E7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490496">
            <a:off x="3915886" y="2090146"/>
            <a:ext cx="487712" cy="487712"/>
          </a:xfrm>
          <a:prstGeom prst="rect">
            <a:avLst/>
          </a:prstGeom>
        </p:spPr>
      </p:pic>
      <p:sp>
        <p:nvSpPr>
          <p:cNvPr id="54" name="별: 꼭짓점 4개 53">
            <a:extLst>
              <a:ext uri="{FF2B5EF4-FFF2-40B4-BE49-F238E27FC236}">
                <a16:creationId xmlns:a16="http://schemas.microsoft.com/office/drawing/2014/main" id="{499F50C6-73FD-2E75-9B88-4CAD72F3D75C}"/>
              </a:ext>
            </a:extLst>
          </p:cNvPr>
          <p:cNvSpPr/>
          <p:nvPr/>
        </p:nvSpPr>
        <p:spPr>
          <a:xfrm>
            <a:off x="3381507" y="1892406"/>
            <a:ext cx="469869" cy="521219"/>
          </a:xfrm>
          <a:prstGeom prst="star4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이등변 삼각형 1">
            <a:extLst>
              <a:ext uri="{FF2B5EF4-FFF2-40B4-BE49-F238E27FC236}">
                <a16:creationId xmlns:a16="http://schemas.microsoft.com/office/drawing/2014/main" id="{A15A462F-0CD0-C95E-24DD-2FC0CB278A6F}"/>
              </a:ext>
            </a:extLst>
          </p:cNvPr>
          <p:cNvSpPr/>
          <p:nvPr/>
        </p:nvSpPr>
        <p:spPr>
          <a:xfrm rot="10800000">
            <a:off x="4810125" y="4091916"/>
            <a:ext cx="132560" cy="114277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EF2B762-D1BF-2127-D7A7-86A7B5BC8DA5}"/>
              </a:ext>
            </a:extLst>
          </p:cNvPr>
          <p:cNvSpPr/>
          <p:nvPr/>
        </p:nvSpPr>
        <p:spPr>
          <a:xfrm>
            <a:off x="7924803" y="4362979"/>
            <a:ext cx="773770" cy="1686927"/>
          </a:xfrm>
          <a:prstGeom prst="roundRect">
            <a:avLst/>
          </a:prstGeom>
          <a:solidFill>
            <a:schemeClr val="bg1"/>
          </a:solidFill>
          <a:ln w="508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000" b="1" dirty="0">
                <a:solidFill>
                  <a:schemeClr val="tx1"/>
                </a:solidFill>
              </a:rPr>
              <a:t>성장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F356F78-20AD-D017-79A4-35DDEB2C520B}"/>
              </a:ext>
            </a:extLst>
          </p:cNvPr>
          <p:cNvSpPr/>
          <p:nvPr/>
        </p:nvSpPr>
        <p:spPr>
          <a:xfrm>
            <a:off x="6155578" y="4395687"/>
            <a:ext cx="680008" cy="650544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</a:rPr>
              <a:t>스토리</a:t>
            </a:r>
            <a:br>
              <a:rPr lang="en-US" altLang="ko-KR" sz="1100" dirty="0">
                <a:solidFill>
                  <a:schemeClr val="tx1"/>
                </a:solidFill>
              </a:rPr>
            </a:br>
            <a:r>
              <a:rPr lang="en-US" altLang="ko-KR" sz="1100" dirty="0">
                <a:solidFill>
                  <a:schemeClr val="tx1"/>
                </a:solidFill>
              </a:rPr>
              <a:t>-</a:t>
            </a:r>
            <a:r>
              <a:rPr lang="ko-KR" altLang="en-US" sz="1100" dirty="0">
                <a:solidFill>
                  <a:schemeClr val="tx1"/>
                </a:solidFill>
              </a:rPr>
              <a:t>完</a:t>
            </a:r>
            <a:r>
              <a:rPr lang="en-US" altLang="ko-KR" sz="1100" dirty="0">
                <a:solidFill>
                  <a:schemeClr val="tx1"/>
                </a:solidFill>
              </a:rPr>
              <a:t>-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8B44CD4-ED5A-D8DA-074C-1DB53C246CB2}"/>
              </a:ext>
            </a:extLst>
          </p:cNvPr>
          <p:cNvSpPr/>
          <p:nvPr/>
        </p:nvSpPr>
        <p:spPr>
          <a:xfrm>
            <a:off x="7008328" y="4338254"/>
            <a:ext cx="803308" cy="765410"/>
          </a:xfrm>
          <a:prstGeom prst="roundRect">
            <a:avLst/>
          </a:prstGeom>
          <a:solidFill>
            <a:schemeClr val="bg1"/>
          </a:solidFill>
          <a:ln w="508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400" b="1" dirty="0">
                <a:solidFill>
                  <a:schemeClr val="tx1"/>
                </a:solidFill>
              </a:rPr>
              <a:t>기타</a:t>
            </a:r>
            <a:br>
              <a:rPr lang="en-US" altLang="ko-KR" sz="1400" b="1" dirty="0">
                <a:solidFill>
                  <a:schemeClr val="tx1"/>
                </a:solidFill>
              </a:rPr>
            </a:br>
            <a:r>
              <a:rPr lang="ko-KR" altLang="en-US" sz="1400" b="1" dirty="0">
                <a:solidFill>
                  <a:schemeClr val="tx1"/>
                </a:solidFill>
              </a:rPr>
              <a:t>컨텐츠</a:t>
            </a:r>
            <a:endParaRPr lang="en-US" altLang="ko-KR" sz="1400" b="1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310C61F-8C97-68CC-54E5-017040E2582E}"/>
              </a:ext>
            </a:extLst>
          </p:cNvPr>
          <p:cNvSpPr/>
          <p:nvPr/>
        </p:nvSpPr>
        <p:spPr>
          <a:xfrm>
            <a:off x="6121391" y="5333956"/>
            <a:ext cx="1662781" cy="715957"/>
          </a:xfrm>
          <a:prstGeom prst="roundRect">
            <a:avLst/>
          </a:prstGeom>
          <a:solidFill>
            <a:schemeClr val="bg1"/>
          </a:solidFill>
          <a:ln w="508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1" dirty="0">
                <a:solidFill>
                  <a:schemeClr val="tx1"/>
                </a:solidFill>
              </a:rPr>
              <a:t>보상</a:t>
            </a:r>
            <a:endParaRPr kumimoji="0" lang="ko-KR" altLang="en-US" sz="105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27107A9-8E52-78AF-A306-3BCF0D3CD1C4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8311688" y="4165392"/>
            <a:ext cx="0" cy="197587"/>
          </a:xfrm>
          <a:prstGeom prst="straightConnector1">
            <a:avLst/>
          </a:prstGeom>
          <a:ln w="254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FC0185A7-3A90-8DFD-5497-B6623723276F}"/>
              </a:ext>
            </a:extLst>
          </p:cNvPr>
          <p:cNvCxnSpPr>
            <a:cxnSpLocks/>
          </p:cNvCxnSpPr>
          <p:nvPr/>
        </p:nvCxnSpPr>
        <p:spPr>
          <a:xfrm flipH="1">
            <a:off x="7409981" y="4165393"/>
            <a:ext cx="914400" cy="0"/>
          </a:xfrm>
          <a:prstGeom prst="straightConnector1">
            <a:avLst/>
          </a:prstGeom>
          <a:ln w="254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82A775E1-7716-A2DA-5964-6C1184D87B51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7409981" y="4165393"/>
            <a:ext cx="1" cy="17286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7CA6A763-E211-07BB-C597-05AC8B806E84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7409982" y="5103664"/>
            <a:ext cx="0" cy="48761"/>
          </a:xfrm>
          <a:prstGeom prst="straightConnector1">
            <a:avLst/>
          </a:prstGeom>
          <a:ln w="254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F355FA13-7BA2-0418-CB71-EA743A098D61}"/>
              </a:ext>
            </a:extLst>
          </p:cNvPr>
          <p:cNvCxnSpPr>
            <a:cxnSpLocks/>
          </p:cNvCxnSpPr>
          <p:nvPr/>
        </p:nvCxnSpPr>
        <p:spPr>
          <a:xfrm flipH="1">
            <a:off x="6948752" y="5152425"/>
            <a:ext cx="461229" cy="0"/>
          </a:xfrm>
          <a:prstGeom prst="straightConnector1">
            <a:avLst/>
          </a:prstGeom>
          <a:ln w="254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311368D4-F91B-22EC-2C1E-A74DA615E2FE}"/>
              </a:ext>
            </a:extLst>
          </p:cNvPr>
          <p:cNvCxnSpPr>
            <a:cxnSpLocks/>
          </p:cNvCxnSpPr>
          <p:nvPr/>
        </p:nvCxnSpPr>
        <p:spPr>
          <a:xfrm>
            <a:off x="6948752" y="5155968"/>
            <a:ext cx="0" cy="17147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DFE2D9AE-294E-8907-1D1F-28C4BFC6E19D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7784172" y="5691935"/>
            <a:ext cx="21682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0307CD00-1146-BA96-7015-75293435B3CC}"/>
              </a:ext>
            </a:extLst>
          </p:cNvPr>
          <p:cNvSpPr/>
          <p:nvPr/>
        </p:nvSpPr>
        <p:spPr>
          <a:xfrm>
            <a:off x="10048629" y="4364984"/>
            <a:ext cx="748381" cy="715955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추가</a:t>
            </a:r>
            <a:br>
              <a:rPr lang="en-US" altLang="ko-KR" sz="1100" dirty="0">
                <a:solidFill>
                  <a:schemeClr val="tx1"/>
                </a:solidFill>
              </a:rPr>
            </a:br>
            <a:r>
              <a:rPr lang="ko-KR" altLang="en-US" sz="1100" dirty="0">
                <a:solidFill>
                  <a:schemeClr val="tx1"/>
                </a:solidFill>
              </a:rPr>
              <a:t>유료</a:t>
            </a:r>
            <a:br>
              <a:rPr lang="en-US" altLang="ko-KR" sz="1100" dirty="0">
                <a:solidFill>
                  <a:schemeClr val="tx1"/>
                </a:solidFill>
              </a:rPr>
            </a:br>
            <a:r>
              <a:rPr lang="ko-KR" altLang="en-US" sz="1100" dirty="0">
                <a:solidFill>
                  <a:schemeClr val="tx1"/>
                </a:solidFill>
              </a:rPr>
              <a:t>상품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ABE2FC91-547D-3842-535D-AD5B1F6A2FFF}"/>
              </a:ext>
            </a:extLst>
          </p:cNvPr>
          <p:cNvCxnSpPr>
            <a:cxnSpLocks/>
            <a:endCxn id="45" idx="0"/>
          </p:cNvCxnSpPr>
          <p:nvPr/>
        </p:nvCxnSpPr>
        <p:spPr>
          <a:xfrm>
            <a:off x="10422820" y="4177135"/>
            <a:ext cx="0" cy="187849"/>
          </a:xfrm>
          <a:prstGeom prst="straightConnector1">
            <a:avLst/>
          </a:prstGeom>
          <a:ln w="25400">
            <a:solidFill>
              <a:srgbClr val="FF0000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D1E03F2F-502A-9968-46BF-60ED732B7392}"/>
              </a:ext>
            </a:extLst>
          </p:cNvPr>
          <p:cNvCxnSpPr>
            <a:cxnSpLocks/>
          </p:cNvCxnSpPr>
          <p:nvPr/>
        </p:nvCxnSpPr>
        <p:spPr>
          <a:xfrm flipH="1">
            <a:off x="8572500" y="4168343"/>
            <a:ext cx="1850319" cy="0"/>
          </a:xfrm>
          <a:prstGeom prst="straightConnector1">
            <a:avLst/>
          </a:prstGeom>
          <a:ln w="25400">
            <a:solidFill>
              <a:srgbClr val="FF0000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725B2F14-5C2E-7419-C617-5E800F647D35}"/>
              </a:ext>
            </a:extLst>
          </p:cNvPr>
          <p:cNvCxnSpPr>
            <a:cxnSpLocks/>
          </p:cNvCxnSpPr>
          <p:nvPr/>
        </p:nvCxnSpPr>
        <p:spPr>
          <a:xfrm>
            <a:off x="8572500" y="4165392"/>
            <a:ext cx="0" cy="197587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7A53412-278E-34BC-8FBC-10B6E95EB093}"/>
              </a:ext>
            </a:extLst>
          </p:cNvPr>
          <p:cNvSpPr/>
          <p:nvPr/>
        </p:nvSpPr>
        <p:spPr>
          <a:xfrm>
            <a:off x="9134227" y="4362979"/>
            <a:ext cx="748381" cy="715955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유료</a:t>
            </a:r>
            <a:br>
              <a:rPr lang="en-US" altLang="ko-KR" sz="1200" dirty="0">
                <a:solidFill>
                  <a:schemeClr val="tx1"/>
                </a:solidFill>
              </a:rPr>
            </a:br>
            <a:r>
              <a:rPr lang="ko-KR" altLang="en-US" sz="1200" dirty="0">
                <a:solidFill>
                  <a:schemeClr val="tx1"/>
                </a:solidFill>
              </a:rPr>
              <a:t>패스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83679888-71F7-4A9C-A68C-06242CEB528D}"/>
              </a:ext>
            </a:extLst>
          </p:cNvPr>
          <p:cNvCxnSpPr>
            <a:cxnSpLocks/>
          </p:cNvCxnSpPr>
          <p:nvPr/>
        </p:nvCxnSpPr>
        <p:spPr>
          <a:xfrm>
            <a:off x="9363808" y="5078934"/>
            <a:ext cx="0" cy="248509"/>
          </a:xfrm>
          <a:prstGeom prst="straightConnector1">
            <a:avLst/>
          </a:prstGeom>
          <a:ln w="25400">
            <a:solidFill>
              <a:srgbClr val="7030A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E33EE06D-8D08-DA5B-71AE-334541E091F3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8698573" y="4720957"/>
            <a:ext cx="435654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282C416F-3FA8-8D93-782C-8B2630C8C901}"/>
              </a:ext>
            </a:extLst>
          </p:cNvPr>
          <p:cNvSpPr/>
          <p:nvPr/>
        </p:nvSpPr>
        <p:spPr>
          <a:xfrm>
            <a:off x="9134227" y="5342741"/>
            <a:ext cx="748381" cy="715957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하우징</a:t>
            </a:r>
            <a:br>
              <a:rPr lang="en-US" altLang="ko-KR" sz="1200" dirty="0">
                <a:solidFill>
                  <a:schemeClr val="tx1"/>
                </a:solidFill>
              </a:rPr>
            </a:br>
            <a:r>
              <a:rPr lang="ko-KR" altLang="en-US" sz="1200" dirty="0">
                <a:solidFill>
                  <a:schemeClr val="tx1"/>
                </a:solidFill>
              </a:rPr>
              <a:t>관리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6E04675E-5C4C-975B-6775-0E5894CAF606}"/>
              </a:ext>
            </a:extLst>
          </p:cNvPr>
          <p:cNvSpPr/>
          <p:nvPr/>
        </p:nvSpPr>
        <p:spPr>
          <a:xfrm>
            <a:off x="10048629" y="5342741"/>
            <a:ext cx="748381" cy="715957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</a:rPr>
              <a:t>하우징</a:t>
            </a:r>
            <a:br>
              <a:rPr lang="en-US" altLang="ko-KR" sz="1100" dirty="0">
                <a:solidFill>
                  <a:schemeClr val="tx1"/>
                </a:solidFill>
              </a:rPr>
            </a:br>
            <a:r>
              <a:rPr lang="ko-KR" altLang="en-US" sz="1100" dirty="0">
                <a:solidFill>
                  <a:schemeClr val="tx1"/>
                </a:solidFill>
              </a:rPr>
              <a:t>레벨 업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7489E3E5-BBBC-D4A4-E739-CA918E5A7719}"/>
              </a:ext>
            </a:extLst>
          </p:cNvPr>
          <p:cNvCxnSpPr>
            <a:cxnSpLocks/>
          </p:cNvCxnSpPr>
          <p:nvPr/>
        </p:nvCxnSpPr>
        <p:spPr>
          <a:xfrm flipH="1" flipV="1">
            <a:off x="10422819" y="5145154"/>
            <a:ext cx="1" cy="197586"/>
          </a:xfrm>
          <a:prstGeom prst="straightConnector1">
            <a:avLst/>
          </a:prstGeom>
          <a:ln w="254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A99DA049-D5D7-C716-6BB5-C5AC79C6FF8F}"/>
              </a:ext>
            </a:extLst>
          </p:cNvPr>
          <p:cNvCxnSpPr>
            <a:cxnSpLocks/>
          </p:cNvCxnSpPr>
          <p:nvPr/>
        </p:nvCxnSpPr>
        <p:spPr>
          <a:xfrm flipH="1">
            <a:off x="9508416" y="6256284"/>
            <a:ext cx="914403" cy="0"/>
          </a:xfrm>
          <a:prstGeom prst="straightConnector1">
            <a:avLst/>
          </a:prstGeom>
          <a:ln w="254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128BB316-52AD-9770-5268-935853E88666}"/>
              </a:ext>
            </a:extLst>
          </p:cNvPr>
          <p:cNvCxnSpPr>
            <a:cxnSpLocks/>
          </p:cNvCxnSpPr>
          <p:nvPr/>
        </p:nvCxnSpPr>
        <p:spPr>
          <a:xfrm flipH="1" flipV="1">
            <a:off x="9508416" y="6058698"/>
            <a:ext cx="1" cy="197586"/>
          </a:xfrm>
          <a:prstGeom prst="straightConnector1">
            <a:avLst/>
          </a:prstGeom>
          <a:ln w="254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EDD8209A-11E0-6354-3D4E-21D8D84B89E6}"/>
              </a:ext>
            </a:extLst>
          </p:cNvPr>
          <p:cNvCxnSpPr>
            <a:cxnSpLocks/>
            <a:endCxn id="48" idx="0"/>
          </p:cNvCxnSpPr>
          <p:nvPr/>
        </p:nvCxnSpPr>
        <p:spPr>
          <a:xfrm>
            <a:off x="9508416" y="5144249"/>
            <a:ext cx="2" cy="198492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FFF916EC-D550-79C2-5DA2-9540603942F1}"/>
              </a:ext>
            </a:extLst>
          </p:cNvPr>
          <p:cNvCxnSpPr>
            <a:cxnSpLocks/>
            <a:endCxn id="52" idx="2"/>
          </p:cNvCxnSpPr>
          <p:nvPr/>
        </p:nvCxnSpPr>
        <p:spPr>
          <a:xfrm flipV="1">
            <a:off x="10422819" y="6058698"/>
            <a:ext cx="1" cy="197586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CC3D9388-E165-9BD3-278B-85E3ED5CFCEC}"/>
              </a:ext>
            </a:extLst>
          </p:cNvPr>
          <p:cNvCxnSpPr>
            <a:cxnSpLocks/>
          </p:cNvCxnSpPr>
          <p:nvPr/>
        </p:nvCxnSpPr>
        <p:spPr>
          <a:xfrm flipH="1">
            <a:off x="9508416" y="5144701"/>
            <a:ext cx="914403" cy="0"/>
          </a:xfrm>
          <a:prstGeom prst="straightConnector1">
            <a:avLst/>
          </a:prstGeom>
          <a:ln w="254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A4BF1B66-D0E0-E4C2-2285-222A4F640376}"/>
              </a:ext>
            </a:extLst>
          </p:cNvPr>
          <p:cNvCxnSpPr>
            <a:cxnSpLocks/>
            <a:stCxn id="48" idx="1"/>
          </p:cNvCxnSpPr>
          <p:nvPr/>
        </p:nvCxnSpPr>
        <p:spPr>
          <a:xfrm flipH="1">
            <a:off x="8698573" y="5700720"/>
            <a:ext cx="435654" cy="879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7581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F1475-AD71-E937-A7A3-BB76DD5B8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2D4C4E9-FABA-F23C-3C08-A28805A756A4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유저 분석 </a:t>
            </a:r>
            <a:r>
              <a:rPr lang="en-US" altLang="ko-KR" sz="2000" b="1" dirty="0"/>
              <a:t>– </a:t>
            </a:r>
            <a:r>
              <a:rPr lang="ko-KR" altLang="en-US" sz="2000" b="1" dirty="0"/>
              <a:t>유저 </a:t>
            </a:r>
            <a:r>
              <a:rPr lang="ko-KR" altLang="en-US" sz="2000" b="1" dirty="0" err="1"/>
              <a:t>퍼널</a:t>
            </a:r>
            <a:r>
              <a:rPr lang="ko-KR" altLang="en-US" sz="2000" b="1" dirty="0"/>
              <a:t> 분석 </a:t>
            </a: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</a:rPr>
              <a:t>OO</a:t>
            </a:r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</a:rPr>
              <a:t>사이트 기준 국내 </a:t>
            </a: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</a:rPr>
              <a:t>OO</a:t>
            </a:r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</a:rPr>
              <a:t>스토어 </a:t>
            </a: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</a:rPr>
              <a:t>2025</a:t>
            </a:r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</a:rPr>
              <a:t>년 </a:t>
            </a: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</a:rPr>
              <a:t>6~8</a:t>
            </a:r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</a:rPr>
              <a:t>월 </a:t>
            </a: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</a:rPr>
              <a:t>NRU 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(New Registered User)</a:t>
            </a:r>
            <a:endParaRPr lang="en-US" altLang="ko-KR" sz="2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사다리꼴 1">
            <a:extLst>
              <a:ext uri="{FF2B5EF4-FFF2-40B4-BE49-F238E27FC236}">
                <a16:creationId xmlns:a16="http://schemas.microsoft.com/office/drawing/2014/main" id="{4645043B-847D-9D33-E8F9-275FE0F17007}"/>
              </a:ext>
            </a:extLst>
          </p:cNvPr>
          <p:cNvSpPr/>
          <p:nvPr/>
        </p:nvSpPr>
        <p:spPr>
          <a:xfrm rot="10800000">
            <a:off x="1661630" y="923167"/>
            <a:ext cx="3622430" cy="668216"/>
          </a:xfrm>
          <a:prstGeom prst="trapezoid">
            <a:avLst/>
          </a:prstGeom>
          <a:solidFill>
            <a:schemeClr val="bg1"/>
          </a:solidFill>
          <a:ln w="12700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사다리꼴 12">
            <a:extLst>
              <a:ext uri="{FF2B5EF4-FFF2-40B4-BE49-F238E27FC236}">
                <a16:creationId xmlns:a16="http://schemas.microsoft.com/office/drawing/2014/main" id="{1DD1DC05-DDCB-5AA3-A940-8B7F31C96ECB}"/>
              </a:ext>
            </a:extLst>
          </p:cNvPr>
          <p:cNvSpPr/>
          <p:nvPr/>
        </p:nvSpPr>
        <p:spPr>
          <a:xfrm rot="10800000">
            <a:off x="1837475" y="2129917"/>
            <a:ext cx="3270740" cy="668216"/>
          </a:xfrm>
          <a:prstGeom prst="trapezoid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사다리꼴 15">
            <a:extLst>
              <a:ext uri="{FF2B5EF4-FFF2-40B4-BE49-F238E27FC236}">
                <a16:creationId xmlns:a16="http://schemas.microsoft.com/office/drawing/2014/main" id="{CC9CACB0-6996-2047-0BB8-9CC94A79FB87}"/>
              </a:ext>
            </a:extLst>
          </p:cNvPr>
          <p:cNvSpPr/>
          <p:nvPr/>
        </p:nvSpPr>
        <p:spPr>
          <a:xfrm rot="10800000">
            <a:off x="2039698" y="3336668"/>
            <a:ext cx="2866294" cy="668216"/>
          </a:xfrm>
          <a:prstGeom prst="trapezoid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사다리꼴 18">
            <a:extLst>
              <a:ext uri="{FF2B5EF4-FFF2-40B4-BE49-F238E27FC236}">
                <a16:creationId xmlns:a16="http://schemas.microsoft.com/office/drawing/2014/main" id="{6EBD01B3-61EE-BE35-0F26-3CE5DA4EE867}"/>
              </a:ext>
            </a:extLst>
          </p:cNvPr>
          <p:cNvSpPr/>
          <p:nvPr/>
        </p:nvSpPr>
        <p:spPr>
          <a:xfrm rot="10800000">
            <a:off x="2250714" y="4543419"/>
            <a:ext cx="2444262" cy="668216"/>
          </a:xfrm>
          <a:prstGeom prst="trapezoid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사다리꼴 21">
            <a:extLst>
              <a:ext uri="{FF2B5EF4-FFF2-40B4-BE49-F238E27FC236}">
                <a16:creationId xmlns:a16="http://schemas.microsoft.com/office/drawing/2014/main" id="{E5D781CB-BF16-AB0D-428D-07FEC7427731}"/>
              </a:ext>
            </a:extLst>
          </p:cNvPr>
          <p:cNvSpPr/>
          <p:nvPr/>
        </p:nvSpPr>
        <p:spPr>
          <a:xfrm rot="10800000">
            <a:off x="2435352" y="5750169"/>
            <a:ext cx="2074986" cy="668216"/>
          </a:xfrm>
          <a:prstGeom prst="trapezoid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CBA238-1DC1-A5E3-E09B-6D57B7FE5D4A}"/>
              </a:ext>
            </a:extLst>
          </p:cNvPr>
          <p:cNvSpPr txBox="1"/>
          <p:nvPr/>
        </p:nvSpPr>
        <p:spPr>
          <a:xfrm>
            <a:off x="3091969" y="5899611"/>
            <a:ext cx="761751" cy="369332"/>
          </a:xfrm>
          <a:prstGeom prst="rect">
            <a:avLst/>
          </a:prstGeom>
          <a:solidFill>
            <a:schemeClr val="bg1">
              <a:alpha val="50000"/>
            </a:schemeClr>
          </a:solidFill>
          <a:effectLst/>
        </p:spPr>
        <p:txBody>
          <a:bodyPr wrap="square">
            <a:spAutoFit/>
          </a:bodyPr>
          <a:lstStyle/>
          <a:p>
            <a:pPr algn="ctr"/>
            <a:r>
              <a:rPr lang="ko-KR" altLang="en-US" b="1" dirty="0">
                <a:solidFill>
                  <a:schemeClr val="tx1"/>
                </a:solidFill>
                <a:effectLst>
                  <a:outerShdw blurRad="88900" sx="102000" sy="102000" algn="ctr" rotWithShape="0">
                    <a:schemeClr val="bg1"/>
                  </a:outerShdw>
                </a:effectLst>
              </a:rPr>
              <a:t>충성</a:t>
            </a:r>
          </a:p>
        </p:txBody>
      </p:sp>
      <p:sp>
        <p:nvSpPr>
          <p:cNvPr id="29" name="이등변 삼각형 28">
            <a:extLst>
              <a:ext uri="{FF2B5EF4-FFF2-40B4-BE49-F238E27FC236}">
                <a16:creationId xmlns:a16="http://schemas.microsoft.com/office/drawing/2014/main" id="{57A1B3FA-89C0-E7B6-9739-58C9CC7D40BC}"/>
              </a:ext>
            </a:extLst>
          </p:cNvPr>
          <p:cNvSpPr/>
          <p:nvPr/>
        </p:nvSpPr>
        <p:spPr>
          <a:xfrm rot="10800000">
            <a:off x="3296998" y="1674947"/>
            <a:ext cx="351692" cy="380249"/>
          </a:xfrm>
          <a:prstGeom prst="triangl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이등변 삼각형 29">
            <a:extLst>
              <a:ext uri="{FF2B5EF4-FFF2-40B4-BE49-F238E27FC236}">
                <a16:creationId xmlns:a16="http://schemas.microsoft.com/office/drawing/2014/main" id="{A914F874-23FB-425E-2250-24D172F784EC}"/>
              </a:ext>
            </a:extLst>
          </p:cNvPr>
          <p:cNvSpPr/>
          <p:nvPr/>
        </p:nvSpPr>
        <p:spPr>
          <a:xfrm rot="10800000">
            <a:off x="3296998" y="2872854"/>
            <a:ext cx="351692" cy="380249"/>
          </a:xfrm>
          <a:prstGeom prst="triangl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이등변 삼각형 30">
            <a:extLst>
              <a:ext uri="{FF2B5EF4-FFF2-40B4-BE49-F238E27FC236}">
                <a16:creationId xmlns:a16="http://schemas.microsoft.com/office/drawing/2014/main" id="{6E113824-23E8-A411-ABAA-00C13B42728F}"/>
              </a:ext>
            </a:extLst>
          </p:cNvPr>
          <p:cNvSpPr/>
          <p:nvPr/>
        </p:nvSpPr>
        <p:spPr>
          <a:xfrm rot="10800000">
            <a:off x="3296998" y="4084027"/>
            <a:ext cx="351692" cy="380249"/>
          </a:xfrm>
          <a:prstGeom prst="triangl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이등변 삼각형 31">
            <a:extLst>
              <a:ext uri="{FF2B5EF4-FFF2-40B4-BE49-F238E27FC236}">
                <a16:creationId xmlns:a16="http://schemas.microsoft.com/office/drawing/2014/main" id="{18526B80-7263-6968-B607-12177B6D44D9}"/>
              </a:ext>
            </a:extLst>
          </p:cNvPr>
          <p:cNvSpPr/>
          <p:nvPr/>
        </p:nvSpPr>
        <p:spPr>
          <a:xfrm rot="10800000">
            <a:off x="3296998" y="5290777"/>
            <a:ext cx="351692" cy="380249"/>
          </a:xfrm>
          <a:prstGeom prst="triangl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6C88B6B-8DA9-8D88-72C8-CE27D81BE6A8}"/>
              </a:ext>
            </a:extLst>
          </p:cNvPr>
          <p:cNvSpPr txBox="1"/>
          <p:nvPr/>
        </p:nvSpPr>
        <p:spPr>
          <a:xfrm>
            <a:off x="4032559" y="1118775"/>
            <a:ext cx="726958" cy="276999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200" b="1" dirty="0"/>
              <a:t>100.0%</a:t>
            </a:r>
            <a:endParaRPr lang="ko-KR" altLang="en-US" sz="12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6062025-C29C-B471-DF0C-AEDFA027DC73}"/>
              </a:ext>
            </a:extLst>
          </p:cNvPr>
          <p:cNvSpPr txBox="1"/>
          <p:nvPr/>
        </p:nvSpPr>
        <p:spPr>
          <a:xfrm>
            <a:off x="3853719" y="5945724"/>
            <a:ext cx="542319" cy="276999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200" b="1" dirty="0"/>
              <a:t>0.7%</a:t>
            </a:r>
            <a:endParaRPr lang="ko-KR" altLang="en-US" sz="12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781A7D1-2658-1FD7-2DCB-1ED56A36E0D9}"/>
              </a:ext>
            </a:extLst>
          </p:cNvPr>
          <p:cNvSpPr txBox="1"/>
          <p:nvPr/>
        </p:nvSpPr>
        <p:spPr>
          <a:xfrm>
            <a:off x="1925400" y="1644543"/>
            <a:ext cx="309488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/>
              <a:t>TS </a:t>
            </a:r>
            <a:r>
              <a:rPr lang="ko-KR" altLang="en-US" sz="1100" dirty="0"/>
              <a:t>≥</a:t>
            </a:r>
            <a:r>
              <a:rPr lang="en-US" altLang="ko-KR" sz="1100" dirty="0"/>
              <a:t> 10m</a:t>
            </a:r>
            <a:br>
              <a:rPr lang="en-US" altLang="ko-KR" sz="1100" dirty="0"/>
            </a:b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Time Spent</a:t>
            </a:r>
            <a:endParaRPr lang="ko-KR" altLang="en-US" sz="11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BDD1EF4-6CBE-8F1E-BFD0-40E8B2ECC1DD}"/>
              </a:ext>
            </a:extLst>
          </p:cNvPr>
          <p:cNvSpPr txBox="1"/>
          <p:nvPr/>
        </p:nvSpPr>
        <p:spPr>
          <a:xfrm>
            <a:off x="1925400" y="5257748"/>
            <a:ext cx="309488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/>
              <a:t>LTV </a:t>
            </a:r>
            <a:r>
              <a:rPr lang="ko-KR" altLang="en-US" sz="1100" dirty="0"/>
              <a:t>≥ </a:t>
            </a:r>
            <a:r>
              <a:rPr lang="en-US" altLang="ko-KR" sz="1100" dirty="0"/>
              <a:t>\ 75,000</a:t>
            </a:r>
            <a:br>
              <a:rPr lang="en-US" altLang="ko-KR" sz="1100" dirty="0"/>
            </a:b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Life Time Value</a:t>
            </a:r>
            <a:endParaRPr lang="ko-KR" altLang="en-US" sz="11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F68DB37-BFEC-3BAA-4973-96F3B32666AB}"/>
              </a:ext>
            </a:extLst>
          </p:cNvPr>
          <p:cNvSpPr txBox="1"/>
          <p:nvPr/>
        </p:nvSpPr>
        <p:spPr>
          <a:xfrm>
            <a:off x="6301326" y="1436795"/>
            <a:ext cx="3669897" cy="783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highlight>
                  <a:srgbClr val="FFFF00"/>
                </a:highlight>
              </a:rPr>
              <a:t>2</a:t>
            </a:r>
            <a:r>
              <a:rPr lang="ko-KR" altLang="en-US" sz="1600" b="1" dirty="0">
                <a:highlight>
                  <a:srgbClr val="FFFF00"/>
                </a:highlight>
              </a:rPr>
              <a:t>가지 경우에서</a:t>
            </a:r>
            <a:br>
              <a:rPr lang="en-US" altLang="ko-KR" sz="1600" b="1" dirty="0">
                <a:highlight>
                  <a:srgbClr val="FFFF00"/>
                </a:highlight>
              </a:rPr>
            </a:br>
            <a:r>
              <a:rPr lang="ko-KR" altLang="en-US" sz="1600" b="1" dirty="0">
                <a:highlight>
                  <a:srgbClr val="FFFF00"/>
                </a:highlight>
              </a:rPr>
              <a:t>낮은 전환율을 보이는 모습입니다</a:t>
            </a:r>
            <a:r>
              <a:rPr lang="en-US" altLang="ko-KR" sz="1600" b="1" dirty="0">
                <a:highlight>
                  <a:srgbClr val="FFFF00"/>
                </a:highlight>
              </a:rPr>
              <a:t>.</a:t>
            </a: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13006433-BEC4-2228-15EA-7C5D4016D0B5}"/>
              </a:ext>
            </a:extLst>
          </p:cNvPr>
          <p:cNvSpPr/>
          <p:nvPr/>
        </p:nvSpPr>
        <p:spPr>
          <a:xfrm>
            <a:off x="3853718" y="2142818"/>
            <a:ext cx="648000" cy="648000"/>
          </a:xfrm>
          <a:prstGeom prst="roundRect">
            <a:avLst>
              <a:gd name="adj" fmla="val 50000"/>
            </a:avLst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9DA860-C646-3CDC-F152-3AA0161BDE48}"/>
              </a:ext>
            </a:extLst>
          </p:cNvPr>
          <p:cNvSpPr txBox="1"/>
          <p:nvPr/>
        </p:nvSpPr>
        <p:spPr>
          <a:xfrm>
            <a:off x="3091971" y="2279359"/>
            <a:ext cx="761750" cy="369332"/>
          </a:xfrm>
          <a:prstGeom prst="rect">
            <a:avLst/>
          </a:prstGeom>
          <a:solidFill>
            <a:schemeClr val="bg1">
              <a:alpha val="50000"/>
            </a:schemeClr>
          </a:solidFill>
          <a:effectLst/>
        </p:spPr>
        <p:txBody>
          <a:bodyPr wrap="square">
            <a:spAutoFit/>
          </a:bodyPr>
          <a:lstStyle/>
          <a:p>
            <a:pPr algn="ctr"/>
            <a:r>
              <a:rPr lang="ko-KR" altLang="en-US" b="1" dirty="0">
                <a:solidFill>
                  <a:schemeClr val="tx1"/>
                </a:solidFill>
                <a:effectLst>
                  <a:outerShdw blurRad="88900" sx="102000" sy="102000" algn="ctr" rotWithShape="0">
                    <a:schemeClr val="bg1"/>
                  </a:outerShdw>
                </a:effectLst>
              </a:rPr>
              <a:t>학습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54B6DA2-0752-73AE-ED5A-E1FB9F418AF6}"/>
              </a:ext>
            </a:extLst>
          </p:cNvPr>
          <p:cNvSpPr txBox="1"/>
          <p:nvPr/>
        </p:nvSpPr>
        <p:spPr>
          <a:xfrm>
            <a:off x="3853719" y="2325525"/>
            <a:ext cx="656618" cy="276999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200" b="1" dirty="0"/>
              <a:t>87.2%</a:t>
            </a:r>
            <a:endParaRPr lang="ko-KR" altLang="en-US" sz="12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D6F1CE0-9A73-5329-CE9A-DF15ABF49F16}"/>
              </a:ext>
            </a:extLst>
          </p:cNvPr>
          <p:cNvSpPr txBox="1"/>
          <p:nvPr/>
        </p:nvSpPr>
        <p:spPr>
          <a:xfrm>
            <a:off x="1925400" y="2850851"/>
            <a:ext cx="30948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/>
              <a:t>D7RU</a:t>
            </a:r>
            <a:br>
              <a:rPr lang="en-US" altLang="ko-KR" sz="1100" dirty="0"/>
            </a:b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Day 7 Retention User</a:t>
            </a:r>
            <a:endParaRPr lang="ko-KR" altLang="en-US" sz="11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4A60728-A97A-B943-EF74-636DD5ED43FC}"/>
              </a:ext>
            </a:extLst>
          </p:cNvPr>
          <p:cNvSpPr txBox="1"/>
          <p:nvPr/>
        </p:nvSpPr>
        <p:spPr>
          <a:xfrm>
            <a:off x="1925400" y="4062431"/>
            <a:ext cx="309488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/>
              <a:t>NPU</a:t>
            </a:r>
            <a:br>
              <a:rPr lang="en-US" altLang="ko-KR" sz="1100" dirty="0"/>
            </a:b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New Paying User</a:t>
            </a:r>
            <a:endParaRPr lang="ko-KR" altLang="en-US" sz="11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8CD4CE21-5BF4-D12C-41F1-67A319C5AE72}"/>
              </a:ext>
            </a:extLst>
          </p:cNvPr>
          <p:cNvSpPr/>
          <p:nvPr/>
        </p:nvSpPr>
        <p:spPr>
          <a:xfrm>
            <a:off x="3853718" y="3335561"/>
            <a:ext cx="648000" cy="648000"/>
          </a:xfrm>
          <a:prstGeom prst="roundRect">
            <a:avLst>
              <a:gd name="adj" fmla="val 50000"/>
            </a:avLst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4BDE61F0-5434-0ABC-2300-BF685C5BC6C3}"/>
              </a:ext>
            </a:extLst>
          </p:cNvPr>
          <p:cNvSpPr/>
          <p:nvPr/>
        </p:nvSpPr>
        <p:spPr>
          <a:xfrm>
            <a:off x="3853718" y="4553526"/>
            <a:ext cx="648000" cy="648000"/>
          </a:xfrm>
          <a:prstGeom prst="roundRect">
            <a:avLst>
              <a:gd name="adj" fmla="val 50000"/>
            </a:avLst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AC0B67-3C00-6D2B-36E2-A7A8C23B60D6}"/>
              </a:ext>
            </a:extLst>
          </p:cNvPr>
          <p:cNvSpPr txBox="1"/>
          <p:nvPr/>
        </p:nvSpPr>
        <p:spPr>
          <a:xfrm>
            <a:off x="3091970" y="3486110"/>
            <a:ext cx="761750" cy="369332"/>
          </a:xfrm>
          <a:prstGeom prst="rect">
            <a:avLst/>
          </a:prstGeom>
          <a:solidFill>
            <a:schemeClr val="bg1">
              <a:alpha val="50000"/>
            </a:schemeClr>
          </a:solidFill>
          <a:effectLst/>
        </p:spPr>
        <p:txBody>
          <a:bodyPr wrap="square">
            <a:spAutoFit/>
          </a:bodyPr>
          <a:lstStyle/>
          <a:p>
            <a:pPr algn="ctr"/>
            <a:r>
              <a:rPr lang="ko-KR" altLang="en-US" b="1" dirty="0">
                <a:solidFill>
                  <a:schemeClr val="tx1"/>
                </a:solidFill>
                <a:effectLst>
                  <a:outerShdw blurRad="88900" sx="102000" sy="102000" algn="ctr" rotWithShape="0">
                    <a:schemeClr val="bg1"/>
                  </a:outerShdw>
                </a:effectLst>
              </a:rPr>
              <a:t>잔류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EC9E2B8-5E5A-31C5-2A41-244F9CFF0546}"/>
              </a:ext>
            </a:extLst>
          </p:cNvPr>
          <p:cNvSpPr txBox="1"/>
          <p:nvPr/>
        </p:nvSpPr>
        <p:spPr>
          <a:xfrm>
            <a:off x="3853719" y="3532276"/>
            <a:ext cx="656618" cy="276999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200" b="1" dirty="0"/>
              <a:t>43.7%</a:t>
            </a:r>
            <a:endParaRPr lang="ko-KR" altLang="en-US" sz="12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31EC24-B1F9-3309-2B52-44F83FACC71F}"/>
              </a:ext>
            </a:extLst>
          </p:cNvPr>
          <p:cNvSpPr txBox="1"/>
          <p:nvPr/>
        </p:nvSpPr>
        <p:spPr>
          <a:xfrm>
            <a:off x="3091971" y="4692861"/>
            <a:ext cx="761750" cy="369332"/>
          </a:xfrm>
          <a:prstGeom prst="rect">
            <a:avLst/>
          </a:prstGeom>
          <a:solidFill>
            <a:schemeClr val="bg1">
              <a:alpha val="50000"/>
            </a:schemeClr>
          </a:solidFill>
          <a:effectLst/>
        </p:spPr>
        <p:txBody>
          <a:bodyPr wrap="square">
            <a:spAutoFit/>
          </a:bodyPr>
          <a:lstStyle/>
          <a:p>
            <a:pPr algn="ctr"/>
            <a:r>
              <a:rPr lang="ko-KR" altLang="en-US" b="1" dirty="0">
                <a:solidFill>
                  <a:schemeClr val="tx1"/>
                </a:solidFill>
                <a:effectLst>
                  <a:outerShdw blurRad="88900" sx="102000" sy="102000" algn="ctr" rotWithShape="0">
                    <a:schemeClr val="bg1"/>
                  </a:outerShdw>
                </a:effectLst>
              </a:rPr>
              <a:t>몰입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6DB6625-B165-D272-AA45-ACCEB796E2A6}"/>
              </a:ext>
            </a:extLst>
          </p:cNvPr>
          <p:cNvSpPr txBox="1"/>
          <p:nvPr/>
        </p:nvSpPr>
        <p:spPr>
          <a:xfrm>
            <a:off x="3853719" y="4739027"/>
            <a:ext cx="656618" cy="276999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200" b="1" dirty="0"/>
              <a:t>10.8%</a:t>
            </a:r>
            <a:endParaRPr lang="ko-KR" altLang="en-US" sz="1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D8B33D-AD48-DD59-1D96-AA52A478EB76}"/>
              </a:ext>
            </a:extLst>
          </p:cNvPr>
          <p:cNvSpPr txBox="1"/>
          <p:nvPr/>
        </p:nvSpPr>
        <p:spPr>
          <a:xfrm>
            <a:off x="2807927" y="1072609"/>
            <a:ext cx="1329836" cy="369332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lang="ko-KR" altLang="en-US" b="1" dirty="0">
                <a:solidFill>
                  <a:schemeClr val="tx1"/>
                </a:solidFill>
                <a:effectLst>
                  <a:outerShdw blurRad="88900" sx="102000" sy="102000" algn="ctr" rotWithShape="0">
                    <a:schemeClr val="bg1"/>
                  </a:outerShdw>
                </a:effectLst>
              </a:rPr>
              <a:t>유입</a:t>
            </a:r>
            <a:r>
              <a:rPr lang="en-US" altLang="ko-KR" sz="1400" b="1" dirty="0">
                <a:effectLst>
                  <a:outerShdw blurRad="88900" sx="102000" sy="102000" algn="ctr" rotWithShape="0">
                    <a:schemeClr val="bg1"/>
                  </a:outerShdw>
                </a:effectLst>
              </a:rPr>
              <a:t>(NRU)</a:t>
            </a:r>
            <a:endParaRPr lang="ko-KR" altLang="en-US" b="1" dirty="0">
              <a:effectLst>
                <a:outerShdw blurRad="88900" sx="102000" sy="102000" algn="ctr" rotWithShape="0">
                  <a:schemeClr val="bg1"/>
                </a:outerShdw>
              </a:effectLst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676425-2EF8-36B5-709E-70C812E958D8}"/>
              </a:ext>
            </a:extLst>
          </p:cNvPr>
          <p:cNvSpPr txBox="1"/>
          <p:nvPr/>
        </p:nvSpPr>
        <p:spPr>
          <a:xfrm>
            <a:off x="6608804" y="4505356"/>
            <a:ext cx="326087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b="1" dirty="0"/>
              <a:t>학습 유저</a:t>
            </a:r>
            <a:endParaRPr lang="en-US" altLang="ko-KR" sz="1400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ko-KR" altLang="en-US" sz="1200" dirty="0"/>
              <a:t>신규 유저 </a:t>
            </a:r>
            <a:r>
              <a:rPr lang="ko-KR" altLang="en-US" sz="1200" dirty="0" err="1"/>
              <a:t>리텐션</a:t>
            </a:r>
            <a:r>
              <a:rPr lang="ko-KR" altLang="en-US" sz="1200" dirty="0"/>
              <a:t> 개선 필요</a:t>
            </a:r>
          </a:p>
          <a:p>
            <a:pPr lvl="1"/>
            <a:endParaRPr lang="ko-KR" altLang="en-US" sz="12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b="1" dirty="0"/>
              <a:t>잔류 유저</a:t>
            </a:r>
            <a:endParaRPr lang="en-US" altLang="ko-KR" sz="1400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ko-KR" altLang="en-US" sz="1200" dirty="0"/>
              <a:t>첫 과금 유도 개선 필요</a:t>
            </a:r>
          </a:p>
        </p:txBody>
      </p: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7635B871-64BC-A03D-FB28-C455B0D6EE77}"/>
              </a:ext>
            </a:extLst>
          </p:cNvPr>
          <p:cNvGrpSpPr/>
          <p:nvPr/>
        </p:nvGrpSpPr>
        <p:grpSpPr>
          <a:xfrm>
            <a:off x="6113343" y="2606223"/>
            <a:ext cx="1917880" cy="1559520"/>
            <a:chOff x="9769556" y="4906570"/>
            <a:chExt cx="1917880" cy="1559520"/>
          </a:xfrm>
        </p:grpSpPr>
        <p:pic>
          <p:nvPicPr>
            <p:cNvPr id="67" name="그래픽 66" descr="사용자">
              <a:extLst>
                <a:ext uri="{FF2B5EF4-FFF2-40B4-BE49-F238E27FC236}">
                  <a16:creationId xmlns:a16="http://schemas.microsoft.com/office/drawing/2014/main" id="{A3290C17-DB8E-88BD-D04B-B5F01E1807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81307" y="5387655"/>
              <a:ext cx="1078437" cy="1078435"/>
            </a:xfrm>
            <a:prstGeom prst="rect">
              <a:avLst/>
            </a:prstGeom>
          </p:spPr>
        </p:pic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350ACC03-91FD-9D70-08A7-61DE21DD9E3F}"/>
                </a:ext>
              </a:extLst>
            </p:cNvPr>
            <p:cNvSpPr/>
            <p:nvPr/>
          </p:nvSpPr>
          <p:spPr>
            <a:xfrm>
              <a:off x="10836161" y="5957998"/>
              <a:ext cx="42219" cy="4221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0B2C96F3-3AFC-1D95-4997-F5D0A36F0954}"/>
                </a:ext>
              </a:extLst>
            </p:cNvPr>
            <p:cNvSpPr/>
            <p:nvPr/>
          </p:nvSpPr>
          <p:spPr>
            <a:xfrm>
              <a:off x="10899489" y="5864054"/>
              <a:ext cx="84438" cy="84438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63A74C75-F65E-50F3-68E9-23D71648BEF7}"/>
                </a:ext>
              </a:extLst>
            </p:cNvPr>
            <p:cNvSpPr/>
            <p:nvPr/>
          </p:nvSpPr>
          <p:spPr>
            <a:xfrm>
              <a:off x="10941708" y="5364449"/>
              <a:ext cx="614659" cy="61465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 b="1" dirty="0">
                <a:solidFill>
                  <a:schemeClr val="tx1"/>
                </a:solidFill>
              </a:endParaRPr>
            </a:p>
          </p:txBody>
        </p: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AC5BC518-CA1D-2D8A-2887-474E88EC2F55}"/>
                </a:ext>
              </a:extLst>
            </p:cNvPr>
            <p:cNvGrpSpPr/>
            <p:nvPr/>
          </p:nvGrpSpPr>
          <p:grpSpPr>
            <a:xfrm>
              <a:off x="9769556" y="4906570"/>
              <a:ext cx="1917880" cy="391825"/>
              <a:chOff x="844060" y="2129917"/>
              <a:chExt cx="3270740" cy="668216"/>
            </a:xfrm>
          </p:grpSpPr>
          <p:sp>
            <p:nvSpPr>
              <p:cNvPr id="72" name="사다리꼴 71">
                <a:extLst>
                  <a:ext uri="{FF2B5EF4-FFF2-40B4-BE49-F238E27FC236}">
                    <a16:creationId xmlns:a16="http://schemas.microsoft.com/office/drawing/2014/main" id="{D455FCED-1FAB-F9D6-333C-FA70EE0B10F9}"/>
                  </a:ext>
                </a:extLst>
              </p:cNvPr>
              <p:cNvSpPr/>
              <p:nvPr/>
            </p:nvSpPr>
            <p:spPr>
              <a:xfrm rot="10800000">
                <a:off x="844060" y="2129917"/>
                <a:ext cx="3270740" cy="668216"/>
              </a:xfrm>
              <a:prstGeom prst="trapezoid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799F94CF-E87F-05D3-97C5-963EEB6A5D01}"/>
                  </a:ext>
                </a:extLst>
              </p:cNvPr>
              <p:cNvSpPr txBox="1"/>
              <p:nvPr/>
            </p:nvSpPr>
            <p:spPr>
              <a:xfrm>
                <a:off x="1914524" y="2232771"/>
                <a:ext cx="1129816" cy="47239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200" b="1" dirty="0">
                    <a:solidFill>
                      <a:schemeClr val="tx1"/>
                    </a:solidFill>
                    <a:effectLst>
                      <a:outerShdw blurRad="88900" sx="102000" sy="102000" algn="ctr" rotWithShape="0">
                        <a:schemeClr val="bg1"/>
                      </a:outerShdw>
                    </a:effectLst>
                  </a:rPr>
                  <a:t>학습</a:t>
                </a:r>
              </a:p>
            </p:txBody>
          </p:sp>
        </p:grpSp>
        <p:pic>
          <p:nvPicPr>
            <p:cNvPr id="80" name="그래픽 79" descr="톱니바퀴">
              <a:extLst>
                <a:ext uri="{FF2B5EF4-FFF2-40B4-BE49-F238E27FC236}">
                  <a16:creationId xmlns:a16="http://schemas.microsoft.com/office/drawing/2014/main" id="{A27F9498-EBBB-5C4D-FE69-3E2F7254C2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983927" y="5407293"/>
              <a:ext cx="536181" cy="536181"/>
            </a:xfrm>
            <a:prstGeom prst="rect">
              <a:avLst/>
            </a:prstGeom>
          </p:spPr>
        </p:pic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DA9E471F-FB22-9E3C-ABC9-48A7A5FF933B}"/>
              </a:ext>
            </a:extLst>
          </p:cNvPr>
          <p:cNvGrpSpPr/>
          <p:nvPr/>
        </p:nvGrpSpPr>
        <p:grpSpPr>
          <a:xfrm>
            <a:off x="8352162" y="2603337"/>
            <a:ext cx="1655878" cy="1536188"/>
            <a:chOff x="1802420" y="920868"/>
            <a:chExt cx="2866294" cy="2659114"/>
          </a:xfrm>
        </p:grpSpPr>
        <p:pic>
          <p:nvPicPr>
            <p:cNvPr id="84" name="그래픽 83" descr="사용자">
              <a:extLst>
                <a:ext uri="{FF2B5EF4-FFF2-40B4-BE49-F238E27FC236}">
                  <a16:creationId xmlns:a16="http://schemas.microsoft.com/office/drawing/2014/main" id="{6BF0998B-AE2C-E800-9069-AEC8BAAECA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961315" y="1740826"/>
              <a:ext cx="1839160" cy="1839156"/>
            </a:xfrm>
            <a:prstGeom prst="rect">
              <a:avLst/>
            </a:prstGeom>
          </p:spPr>
        </p:pic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2362C338-90FD-F65E-01A4-3CA45E16203B}"/>
                </a:ext>
              </a:extLst>
            </p:cNvPr>
            <p:cNvSpPr/>
            <p:nvPr/>
          </p:nvSpPr>
          <p:spPr>
            <a:xfrm>
              <a:off x="3419178" y="2713486"/>
              <a:ext cx="72000" cy="72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86" name="타원 85">
              <a:extLst>
                <a:ext uri="{FF2B5EF4-FFF2-40B4-BE49-F238E27FC236}">
                  <a16:creationId xmlns:a16="http://schemas.microsoft.com/office/drawing/2014/main" id="{589CF159-A807-2956-366C-152048A0B8A7}"/>
                </a:ext>
              </a:extLst>
            </p:cNvPr>
            <p:cNvSpPr/>
            <p:nvPr/>
          </p:nvSpPr>
          <p:spPr>
            <a:xfrm>
              <a:off x="3527178" y="2553274"/>
              <a:ext cx="144000" cy="144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6D98112C-BDDF-0CB3-6CFD-9AF6CA661217}"/>
                </a:ext>
              </a:extLst>
            </p:cNvPr>
            <p:cNvSpPr/>
            <p:nvPr/>
          </p:nvSpPr>
          <p:spPr>
            <a:xfrm>
              <a:off x="3599178" y="1701251"/>
              <a:ext cx="1048235" cy="1048235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 b="1" dirty="0">
                <a:solidFill>
                  <a:schemeClr val="tx1"/>
                </a:solidFill>
              </a:endParaRPr>
            </a:p>
          </p:txBody>
        </p:sp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DBFC420D-EC8D-69BC-AECE-701228038EFC}"/>
                </a:ext>
              </a:extLst>
            </p:cNvPr>
            <p:cNvGrpSpPr/>
            <p:nvPr/>
          </p:nvGrpSpPr>
          <p:grpSpPr>
            <a:xfrm>
              <a:off x="1802420" y="920868"/>
              <a:ext cx="2866294" cy="668216"/>
              <a:chOff x="1046283" y="3336668"/>
              <a:chExt cx="2866294" cy="668216"/>
            </a:xfrm>
          </p:grpSpPr>
          <p:sp>
            <p:nvSpPr>
              <p:cNvPr id="89" name="사다리꼴 88">
                <a:extLst>
                  <a:ext uri="{FF2B5EF4-FFF2-40B4-BE49-F238E27FC236}">
                    <a16:creationId xmlns:a16="http://schemas.microsoft.com/office/drawing/2014/main" id="{CEC1E97D-42D3-B1EF-9407-48D5F6BBCA32}"/>
                  </a:ext>
                </a:extLst>
              </p:cNvPr>
              <p:cNvSpPr/>
              <p:nvPr/>
            </p:nvSpPr>
            <p:spPr>
              <a:xfrm rot="10800000">
                <a:off x="1046283" y="3336668"/>
                <a:ext cx="2866294" cy="668216"/>
              </a:xfrm>
              <a:prstGeom prst="trapezoid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D0889745-CBBE-77BA-DA91-112B2468840D}"/>
                  </a:ext>
                </a:extLst>
              </p:cNvPr>
              <p:cNvSpPr txBox="1"/>
              <p:nvPr/>
            </p:nvSpPr>
            <p:spPr>
              <a:xfrm>
                <a:off x="1971823" y="3416750"/>
                <a:ext cx="1015214" cy="479480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200" b="1" dirty="0">
                    <a:solidFill>
                      <a:schemeClr val="tx1"/>
                    </a:solidFill>
                    <a:effectLst>
                      <a:outerShdw blurRad="88900" sx="102000" sy="102000" algn="ctr" rotWithShape="0">
                        <a:schemeClr val="bg1"/>
                      </a:outerShdw>
                    </a:effectLst>
                  </a:rPr>
                  <a:t>잔류</a:t>
                </a:r>
              </a:p>
            </p:txBody>
          </p:sp>
        </p:grpSp>
        <p:pic>
          <p:nvPicPr>
            <p:cNvPr id="91" name="그래픽 90" descr="게임 컨트롤러">
              <a:extLst>
                <a:ext uri="{FF2B5EF4-FFF2-40B4-BE49-F238E27FC236}">
                  <a16:creationId xmlns:a16="http://schemas.microsoft.com/office/drawing/2014/main" id="{5C40C18C-B997-09F8-F1B1-58DCC0BBD6A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743174" y="1828540"/>
              <a:ext cx="779292" cy="779292"/>
            </a:xfrm>
            <a:prstGeom prst="rect">
              <a:avLst/>
            </a:prstGeom>
          </p:spPr>
        </p:pic>
        <p:pic>
          <p:nvPicPr>
            <p:cNvPr id="92" name="그래픽 91" descr="악보">
              <a:extLst>
                <a:ext uri="{FF2B5EF4-FFF2-40B4-BE49-F238E27FC236}">
                  <a16:creationId xmlns:a16="http://schemas.microsoft.com/office/drawing/2014/main" id="{3D678A0E-F628-82E0-71DE-6841DBC05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056743" y="2008320"/>
              <a:ext cx="401932" cy="4019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599959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6B598-B4A2-351D-2A67-2B1365C31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0B8BD47-B759-B332-A7B1-C4D8B6CBDC5C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향후 업데이트 전략</a:t>
            </a:r>
            <a:endParaRPr lang="en-US" altLang="ko-KR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7002C4-C446-1012-233B-40AC2A89FE62}"/>
              </a:ext>
            </a:extLst>
          </p:cNvPr>
          <p:cNvSpPr txBox="1"/>
          <p:nvPr/>
        </p:nvSpPr>
        <p:spPr>
          <a:xfrm>
            <a:off x="1138976" y="1181626"/>
            <a:ext cx="9914048" cy="4182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/>
              <a:t>분석 요약</a:t>
            </a:r>
            <a:endParaRPr lang="en-US" altLang="ko-KR" sz="1600" b="1" dirty="0"/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b="1" dirty="0"/>
              <a:t>유료 상품 상황</a:t>
            </a:r>
            <a:endParaRPr lang="en-US" altLang="ko-KR" sz="1400" b="1" dirty="0"/>
          </a:p>
          <a:p>
            <a:pPr marL="1085850" lvl="2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 dirty="0"/>
              <a:t>성능 아이템</a:t>
            </a:r>
            <a:r>
              <a:rPr lang="en-US" altLang="ko-KR" sz="1000" dirty="0"/>
              <a:t>, </a:t>
            </a:r>
            <a:r>
              <a:rPr lang="ko-KR" altLang="en-US" sz="1000" dirty="0"/>
              <a:t>감성 아이템 모두 판매 중이지만</a:t>
            </a:r>
            <a:r>
              <a:rPr lang="en-US" altLang="ko-KR" sz="1000" dirty="0"/>
              <a:t> </a:t>
            </a:r>
            <a:r>
              <a:rPr lang="ko-KR" altLang="en-US" sz="1000" dirty="0"/>
              <a:t>주력 상품은 두 종류의 아이템이 모두 포함된</a:t>
            </a:r>
            <a:r>
              <a:rPr lang="en-US" altLang="ko-KR" sz="1200" dirty="0"/>
              <a:t> </a:t>
            </a:r>
            <a:r>
              <a:rPr lang="ko-KR" altLang="en-US" sz="1200" b="1" dirty="0">
                <a:highlight>
                  <a:srgbClr val="FFFF00"/>
                </a:highlight>
              </a:rPr>
              <a:t>저렴한 복합 아이템 상품이 주 수입원</a:t>
            </a:r>
            <a:r>
              <a:rPr lang="ko-KR" altLang="en-US" sz="1000" dirty="0"/>
              <a:t>으로</a:t>
            </a:r>
            <a:br>
              <a:rPr lang="en-US" altLang="ko-KR" sz="1000" dirty="0"/>
            </a:br>
            <a:r>
              <a:rPr lang="ko-KR" altLang="en-US" sz="1000" dirty="0"/>
              <a:t>결제 유저가 많지만 결제 유저 평균 </a:t>
            </a:r>
            <a:r>
              <a:rPr lang="ko-KR" altLang="en-US" sz="1000" dirty="0" err="1"/>
              <a:t>과금량은</a:t>
            </a:r>
            <a:r>
              <a:rPr lang="ko-KR" altLang="en-US" sz="1000" dirty="0"/>
              <a:t> 낮은 </a:t>
            </a:r>
            <a:r>
              <a:rPr lang="ko-KR" altLang="en-US" sz="1200" b="1" dirty="0">
                <a:highlight>
                  <a:srgbClr val="FFFF00"/>
                </a:highlight>
              </a:rPr>
              <a:t>박리다매 판매 전략을 이용중</a:t>
            </a:r>
            <a:r>
              <a:rPr lang="ko-KR" altLang="en-US" sz="1000" dirty="0"/>
              <a:t>인 것으로 보입니다</a:t>
            </a:r>
            <a:r>
              <a:rPr lang="en-US" altLang="ko-KR" sz="1000" dirty="0"/>
              <a:t>.</a:t>
            </a:r>
          </a:p>
          <a:p>
            <a:pPr marL="1085850" lvl="2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00" b="1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b="1" dirty="0"/>
              <a:t>유저 상황</a:t>
            </a:r>
            <a:endParaRPr lang="en-US" altLang="ko-KR" sz="1400" b="1" dirty="0"/>
          </a:p>
          <a:p>
            <a:pPr lvl="2">
              <a:lnSpc>
                <a:spcPct val="150000"/>
              </a:lnSpc>
            </a:pPr>
            <a:r>
              <a:rPr lang="ko-KR" altLang="en-US" sz="1000" dirty="0"/>
              <a:t>아래 </a:t>
            </a:r>
            <a:r>
              <a:rPr lang="en-US" altLang="ko-KR" sz="1000" dirty="0"/>
              <a:t>2</a:t>
            </a:r>
            <a:r>
              <a:rPr lang="ko-KR" altLang="en-US" sz="1000" dirty="0"/>
              <a:t>가지의 유저 경험 개선이 제일 효율적인 유저 구매 촉진 방법이 될 것으로 예상됩니다</a:t>
            </a:r>
            <a:r>
              <a:rPr lang="en-US" altLang="ko-KR" sz="1000" dirty="0"/>
              <a:t>.</a:t>
            </a:r>
          </a:p>
          <a:p>
            <a:pPr marL="1085850" lvl="2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>
                <a:highlight>
                  <a:srgbClr val="FFFF00"/>
                </a:highlight>
              </a:rPr>
              <a:t>신규 유저의 </a:t>
            </a:r>
            <a:r>
              <a:rPr lang="ko-KR" altLang="en-US" sz="1200" b="1" dirty="0" err="1">
                <a:highlight>
                  <a:srgbClr val="FFFF00"/>
                </a:highlight>
              </a:rPr>
              <a:t>리텐션</a:t>
            </a:r>
            <a:r>
              <a:rPr lang="ko-KR" altLang="en-US" sz="1200" b="1" dirty="0">
                <a:highlight>
                  <a:srgbClr val="FFFF00"/>
                </a:highlight>
              </a:rPr>
              <a:t> 개선 필요</a:t>
            </a:r>
            <a:endParaRPr lang="en-US" altLang="ko-KR" sz="1200" b="1" dirty="0">
              <a:highlight>
                <a:srgbClr val="FFFF00"/>
              </a:highlight>
            </a:endParaRPr>
          </a:p>
          <a:p>
            <a:pPr marL="1085850" lvl="2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>
                <a:highlight>
                  <a:srgbClr val="FFFF00"/>
                </a:highlight>
              </a:rPr>
              <a:t>첫 과금 유도 개선 필요</a:t>
            </a:r>
            <a:endParaRPr lang="en-US" altLang="ko-KR" sz="1200" b="1" dirty="0">
              <a:highlight>
                <a:srgbClr val="FFFF00"/>
              </a:highlight>
            </a:endParaRPr>
          </a:p>
          <a:p>
            <a:pPr lvl="2">
              <a:lnSpc>
                <a:spcPct val="150000"/>
              </a:lnSpc>
            </a:pPr>
            <a:endParaRPr lang="en-US" altLang="ko-KR" sz="1200" b="1" dirty="0">
              <a:highlight>
                <a:srgbClr val="FFFF00"/>
              </a:highlight>
            </a:endParaRPr>
          </a:p>
          <a:p>
            <a:pPr lvl="1">
              <a:lnSpc>
                <a:spcPct val="150000"/>
              </a:lnSpc>
            </a:pPr>
            <a:r>
              <a:rPr lang="ko-KR" altLang="en-US" sz="1100" dirty="0"/>
              <a:t>따라서</a:t>
            </a:r>
            <a:br>
              <a:rPr lang="en-US" altLang="ko-KR" sz="1050" dirty="0"/>
            </a:br>
            <a:r>
              <a:rPr lang="ko-KR" altLang="en-US" sz="1400" b="1" u="sng" dirty="0"/>
              <a:t>신규 유저가 접할 수 있게 안내 받았을 시 </a:t>
            </a:r>
            <a:r>
              <a:rPr lang="ko-KR" altLang="en-US" sz="1400" b="1" u="sng" dirty="0" err="1"/>
              <a:t>리텐션율을</a:t>
            </a:r>
            <a:r>
              <a:rPr lang="ko-KR" altLang="en-US" sz="1400" b="1" u="sng" dirty="0"/>
              <a:t> 높이는 효과가 있으면서 첫 과금을 유도할 수 있고</a:t>
            </a:r>
            <a:br>
              <a:rPr lang="en-US" altLang="ko-KR" sz="1400" b="1" u="sng" dirty="0"/>
            </a:br>
            <a:r>
              <a:rPr lang="ko-KR" altLang="en-US" sz="1400" b="1" u="sng" dirty="0"/>
              <a:t>넓은 유저층에게 단가가 높은 유료 성능 아이템 판매를 기대할 수 있는 컨텐츠 업데이트가 필요해 보입니다</a:t>
            </a:r>
            <a:r>
              <a:rPr lang="en-US" altLang="ko-KR" sz="1400" b="1" u="sng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902300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5F1CF-991A-271C-F75A-E7DC5BBD6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65BE32B-632B-8D20-ED4E-60AAA14E17E5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향후 업데이트 전략</a:t>
            </a:r>
            <a:endParaRPr lang="en-US" altLang="ko-KR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B27D3F-EE4C-32C2-14D7-4AEB0B3772E1}"/>
              </a:ext>
            </a:extLst>
          </p:cNvPr>
          <p:cNvSpPr txBox="1"/>
          <p:nvPr/>
        </p:nvSpPr>
        <p:spPr>
          <a:xfrm>
            <a:off x="1138976" y="1181626"/>
            <a:ext cx="9914048" cy="3914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/>
              <a:t>향후 컨텐츠에 대한 내 생각</a:t>
            </a:r>
            <a:endParaRPr lang="en-US" altLang="ko-KR" sz="1600" b="1" dirty="0"/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/>
              <a:t>학습 유저가 가이드를 따라가는 컨텐츠 외의 흥미를 느낄만한</a:t>
            </a:r>
            <a:r>
              <a:rPr lang="en-US" altLang="ko-KR" sz="1200" b="1" dirty="0"/>
              <a:t>,</a:t>
            </a:r>
            <a:br>
              <a:rPr lang="en-US" altLang="ko-KR" sz="1200" b="1" dirty="0"/>
            </a:br>
            <a:r>
              <a:rPr lang="ko-KR" altLang="en-US" sz="1200" b="1" dirty="0"/>
              <a:t>기존 컨텐츠의 범위를 침해하지 않는 선에서 설계된 컨텐츠를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일찍 맛보면 좋겠다는 생각을 했습니다</a:t>
            </a:r>
            <a:r>
              <a:rPr lang="en-US" altLang="ko-KR" sz="1200" b="1" dirty="0"/>
              <a:t>.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00" dirty="0"/>
              <a:t>PvP </a:t>
            </a:r>
            <a:r>
              <a:rPr lang="ko-KR" altLang="en-US" sz="1100" dirty="0"/>
              <a:t>컨텐츠인 </a:t>
            </a:r>
            <a:r>
              <a:rPr lang="en-US" altLang="ko-KR" sz="1100" dirty="0"/>
              <a:t>‘</a:t>
            </a:r>
            <a:r>
              <a:rPr lang="ko-KR" altLang="en-US" sz="1100" dirty="0" err="1"/>
              <a:t>킹덤</a:t>
            </a:r>
            <a:r>
              <a:rPr lang="ko-KR" altLang="en-US" sz="1100" dirty="0"/>
              <a:t> 아레나</a:t>
            </a:r>
            <a:r>
              <a:rPr lang="en-US" altLang="ko-KR" sz="1100" dirty="0"/>
              <a:t>’</a:t>
            </a:r>
            <a:r>
              <a:rPr lang="ko-KR" altLang="en-US" sz="1100" dirty="0"/>
              <a:t>의 유입 방법</a:t>
            </a:r>
            <a:r>
              <a:rPr lang="en-US" altLang="ko-KR" sz="1100" dirty="0"/>
              <a:t>/</a:t>
            </a:r>
            <a:r>
              <a:rPr lang="ko-KR" altLang="en-US" sz="1100" dirty="0"/>
              <a:t>진행 방식</a:t>
            </a:r>
            <a:r>
              <a:rPr lang="en-US" altLang="ko-KR" sz="1100" dirty="0"/>
              <a:t>/</a:t>
            </a:r>
            <a:r>
              <a:rPr lang="ko-KR" altLang="en-US" sz="1100" dirty="0"/>
              <a:t>초반 보상을</a:t>
            </a:r>
            <a:r>
              <a:rPr lang="en-US" altLang="ko-KR" sz="1100" dirty="0"/>
              <a:t> </a:t>
            </a:r>
            <a:r>
              <a:rPr lang="ko-KR" altLang="en-US" sz="1100" dirty="0"/>
              <a:t>조정하면</a:t>
            </a:r>
            <a:r>
              <a:rPr lang="en-US" altLang="ko-KR" sz="1100" dirty="0"/>
              <a:t> </a:t>
            </a:r>
            <a:r>
              <a:rPr lang="ko-KR" altLang="en-US" sz="1100" dirty="0"/>
              <a:t>좋겠습니다</a:t>
            </a:r>
            <a:r>
              <a:rPr lang="en-US" altLang="ko-KR" sz="1100" dirty="0"/>
              <a:t>.</a:t>
            </a:r>
            <a:br>
              <a:rPr lang="en-US" altLang="ko-KR" sz="1100" dirty="0"/>
            </a:br>
            <a:endParaRPr lang="en-US" altLang="ko-KR" sz="11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/>
              <a:t>잔류 유저에게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과금 매몰을 유도하는 유료 상품 팔면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좋겠다는 생각을 했습니다</a:t>
            </a:r>
            <a:r>
              <a:rPr lang="en-US" altLang="ko-KR" sz="1200" b="1" dirty="0"/>
              <a:t>.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dirty="0"/>
              <a:t>아슬아슬한 단계별 보상 설정으로</a:t>
            </a:r>
            <a:r>
              <a:rPr lang="en-US" altLang="ko-KR" sz="1100" dirty="0"/>
              <a:t> ‘</a:t>
            </a:r>
            <a:r>
              <a:rPr lang="ko-KR" altLang="en-US" sz="1100" dirty="0"/>
              <a:t>조금만 지르면 지른 것 이상으로 먹는다</a:t>
            </a:r>
            <a:r>
              <a:rPr lang="en-US" altLang="ko-KR" sz="1100" dirty="0"/>
              <a:t>‘ </a:t>
            </a:r>
            <a:r>
              <a:rPr lang="ko-KR" altLang="en-US" sz="1100" dirty="0"/>
              <a:t>라는 심리를 자극하면</a:t>
            </a:r>
            <a:r>
              <a:rPr lang="en-US" altLang="ko-KR" sz="1100" dirty="0"/>
              <a:t> </a:t>
            </a:r>
            <a:r>
              <a:rPr lang="ko-KR" altLang="en-US" sz="1100" dirty="0"/>
              <a:t>될 것</a:t>
            </a:r>
            <a:r>
              <a:rPr lang="en-US" altLang="ko-KR" sz="1100" dirty="0"/>
              <a:t> </a:t>
            </a:r>
            <a:r>
              <a:rPr lang="ko-KR" altLang="en-US" sz="1100" dirty="0"/>
              <a:t>같습니다</a:t>
            </a:r>
            <a:r>
              <a:rPr lang="en-US" altLang="ko-KR" sz="1100" dirty="0"/>
              <a:t>.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2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dirty="0"/>
              <a:t>가격이 저렴한 유료 상품이 주력 상품인 환경에서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단가가 비싼 상품을 팔기 위해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심리적 장벽을 낮추면 좋겠다는 생각을 했습니다</a:t>
            </a:r>
            <a:r>
              <a:rPr lang="en-US" altLang="ko-KR" sz="1200" b="1" dirty="0"/>
              <a:t>.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dirty="0"/>
              <a:t>비싼 가격의 상품을 구매하는 것이 아닌</a:t>
            </a:r>
            <a:r>
              <a:rPr lang="en-US" altLang="ko-KR" sz="1100" dirty="0"/>
              <a:t> </a:t>
            </a:r>
            <a:r>
              <a:rPr lang="ko-KR" altLang="en-US" sz="1100" dirty="0"/>
              <a:t>싼 가격의 상품을 자주 구매하도록 유도하여</a:t>
            </a:r>
            <a:br>
              <a:rPr lang="en-US" altLang="ko-KR" sz="1100" dirty="0"/>
            </a:br>
            <a:r>
              <a:rPr lang="ko-KR" altLang="en-US" sz="1100" dirty="0"/>
              <a:t>일반 유저에겐 가성비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헤비</a:t>
            </a:r>
            <a:r>
              <a:rPr lang="ko-KR" altLang="en-US" sz="1100" dirty="0"/>
              <a:t> 유저에겐 필수인 상품을 설계하면 될 것 같습니다</a:t>
            </a:r>
            <a:r>
              <a:rPr lang="en-US" altLang="ko-KR" sz="11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571809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8C96C-D3F6-DEEA-969F-01DEEF357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E306698-2D02-6F6C-11CE-F0B3C72F9618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업데이트 제안</a:t>
            </a:r>
            <a:r>
              <a:rPr lang="en-US" altLang="ko-KR" sz="2000" b="1" dirty="0"/>
              <a:t>: </a:t>
            </a:r>
            <a:r>
              <a:rPr lang="ko-KR" altLang="en-US" sz="2000" b="1" dirty="0"/>
              <a:t>위클리 아레나 </a:t>
            </a:r>
            <a:r>
              <a:rPr lang="ko-KR" altLang="en-US" sz="1400" b="1" dirty="0">
                <a:solidFill>
                  <a:schemeClr val="bg1">
                    <a:lumMod val="65000"/>
                  </a:schemeClr>
                </a:solidFill>
              </a:rPr>
              <a:t>신규 </a:t>
            </a:r>
            <a:r>
              <a:rPr lang="en-US" altLang="ko-KR" sz="1400" b="1" dirty="0">
                <a:solidFill>
                  <a:schemeClr val="bg1">
                    <a:lumMod val="65000"/>
                  </a:schemeClr>
                </a:solidFill>
              </a:rPr>
              <a:t>PvP </a:t>
            </a:r>
            <a:r>
              <a:rPr lang="ko-KR" altLang="en-US" sz="1400" b="1" dirty="0">
                <a:solidFill>
                  <a:schemeClr val="bg1">
                    <a:lumMod val="65000"/>
                  </a:schemeClr>
                </a:solidFill>
              </a:rPr>
              <a:t>컨텐츠</a:t>
            </a:r>
            <a:endParaRPr lang="en-US" altLang="ko-KR" sz="2000" b="1" dirty="0"/>
          </a:p>
        </p:txBody>
      </p:sp>
      <p:pic>
        <p:nvPicPr>
          <p:cNvPr id="1026" name="Picture 2" descr="아레나">
            <a:extLst>
              <a:ext uri="{FF2B5EF4-FFF2-40B4-BE49-F238E27FC236}">
                <a16:creationId xmlns:a16="http://schemas.microsoft.com/office/drawing/2014/main" id="{36763003-BCD5-82D9-6994-9554AB547D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6000" contrast="4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032738" y="1407042"/>
            <a:ext cx="4126524" cy="2654730"/>
          </a:xfrm>
          <a:prstGeom prst="rect">
            <a:avLst/>
          </a:prstGeom>
          <a:gradFill>
            <a:gsLst>
              <a:gs pos="86000">
                <a:schemeClr val="tx1"/>
              </a:gs>
              <a:gs pos="52000">
                <a:schemeClr val="accent2">
                  <a:lumMod val="75000"/>
                </a:schemeClr>
              </a:gs>
              <a:gs pos="0">
                <a:srgbClr val="C00000"/>
              </a:gs>
            </a:gsLst>
            <a:lin ang="16200000" scaled="1"/>
          </a:gradFill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E73305-6C7C-C093-325D-03318ECF7467}"/>
              </a:ext>
            </a:extLst>
          </p:cNvPr>
          <p:cNvSpPr txBox="1"/>
          <p:nvPr/>
        </p:nvSpPr>
        <p:spPr>
          <a:xfrm>
            <a:off x="4142149" y="4061774"/>
            <a:ext cx="41265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4800" b="1" dirty="0">
                <a:effectLst>
                  <a:glow rad="101600">
                    <a:srgbClr val="C00000">
                      <a:alpha val="32000"/>
                    </a:srgbClr>
                  </a:glow>
                </a:effectLst>
              </a:rPr>
              <a:t>위클리 아레나 </a:t>
            </a:r>
            <a:endParaRPr lang="ko-KR" altLang="en-US" dirty="0">
              <a:effectLst>
                <a:glow rad="101600">
                  <a:srgbClr val="C00000">
                    <a:alpha val="32000"/>
                  </a:srgbClr>
                </a:glo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46BC71-7D1E-0877-17F4-0C1574D8E66F}"/>
              </a:ext>
            </a:extLst>
          </p:cNvPr>
          <p:cNvSpPr txBox="1"/>
          <p:nvPr/>
        </p:nvSpPr>
        <p:spPr>
          <a:xfrm>
            <a:off x="3460505" y="4261828"/>
            <a:ext cx="78471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100" b="1" dirty="0"/>
              <a:t>신규</a:t>
            </a:r>
            <a:endParaRPr lang="en-US" altLang="ko-KR" sz="1100" b="1" dirty="0"/>
          </a:p>
          <a:p>
            <a:pPr algn="r"/>
            <a:r>
              <a:rPr lang="ko-KR" altLang="en-US" sz="1100" b="1" dirty="0"/>
              <a:t>컨텐츠</a:t>
            </a:r>
            <a:r>
              <a:rPr lang="en-US" altLang="ko-KR" sz="1100" b="1" dirty="0"/>
              <a:t> </a:t>
            </a:r>
            <a:endParaRPr lang="ko-KR" alt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359A38-6648-215E-F565-07458405340F}"/>
              </a:ext>
            </a:extLst>
          </p:cNvPr>
          <p:cNvSpPr txBox="1"/>
          <p:nvPr/>
        </p:nvSpPr>
        <p:spPr>
          <a:xfrm>
            <a:off x="3632401" y="5156534"/>
            <a:ext cx="4835448" cy="1020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 b="1" dirty="0"/>
              <a:t>일주일 </a:t>
            </a:r>
            <a:r>
              <a:rPr lang="en-US" altLang="ko-KR" sz="1400" b="1" dirty="0"/>
              <a:t>1</a:t>
            </a:r>
            <a:r>
              <a:rPr lang="ko-KR" altLang="en-US" sz="1400" b="1" dirty="0"/>
              <a:t>시즌</a:t>
            </a:r>
            <a:endParaRPr lang="en-US" altLang="ko-KR" sz="1400" b="1" dirty="0"/>
          </a:p>
          <a:p>
            <a:pPr algn="ctr">
              <a:lnSpc>
                <a:spcPct val="150000"/>
              </a:lnSpc>
            </a:pPr>
            <a:r>
              <a:rPr lang="ko-KR" altLang="en-US" sz="1400" b="1" dirty="0"/>
              <a:t>매일 </a:t>
            </a:r>
            <a:r>
              <a:rPr lang="en-US" altLang="ko-KR" sz="1400" b="1" dirty="0"/>
              <a:t>3</a:t>
            </a:r>
            <a:r>
              <a:rPr lang="ko-KR" altLang="en-US" sz="1400" b="1" dirty="0"/>
              <a:t>번 </a:t>
            </a:r>
            <a:r>
              <a:rPr lang="en-US" altLang="ko-KR" sz="1400" b="1" dirty="0"/>
              <a:t>PvP</a:t>
            </a:r>
            <a:r>
              <a:rPr lang="ko-KR" altLang="en-US" sz="1400" b="1" dirty="0"/>
              <a:t> 전투와</a:t>
            </a:r>
            <a:endParaRPr lang="en-US" altLang="ko-KR" sz="1400" b="1" dirty="0"/>
          </a:p>
          <a:p>
            <a:pPr algn="ctr">
              <a:lnSpc>
                <a:spcPct val="150000"/>
              </a:lnSpc>
            </a:pPr>
            <a:r>
              <a:rPr lang="ko-KR" altLang="en-US" sz="1400" b="1" dirty="0"/>
              <a:t>승부 예측 컨텐츠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3800161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06382-14E3-A721-60F0-F60540597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219A060-825A-AD9F-3DE5-6E26B7F7ADE7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업데이트 제안</a:t>
            </a:r>
            <a:r>
              <a:rPr lang="en-US" altLang="ko-KR" sz="2000" b="1" dirty="0"/>
              <a:t>: </a:t>
            </a:r>
            <a:r>
              <a:rPr lang="ko-KR" altLang="en-US" sz="2000" b="1" dirty="0"/>
              <a:t>위클리 아레나 </a:t>
            </a:r>
            <a:r>
              <a:rPr lang="en-US" altLang="ko-KR" sz="2000" b="1" dirty="0"/>
              <a:t>– </a:t>
            </a:r>
            <a:r>
              <a:rPr lang="ko-KR" altLang="en-US" sz="2000" b="1" dirty="0"/>
              <a:t>컨텐츠 설정 </a:t>
            </a:r>
            <a:endParaRPr lang="en-US" altLang="ko-KR" sz="2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DC98AF-48D4-702F-95AE-BD7057AC5C78}"/>
              </a:ext>
            </a:extLst>
          </p:cNvPr>
          <p:cNvSpPr txBox="1"/>
          <p:nvPr/>
        </p:nvSpPr>
        <p:spPr>
          <a:xfrm>
            <a:off x="419100" y="4887078"/>
            <a:ext cx="11353800" cy="1491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1600" b="1" dirty="0"/>
              <a:t>신규 컨텐츠 </a:t>
            </a:r>
            <a:r>
              <a:rPr lang="en-US" altLang="ko-KR" sz="1600" b="1" dirty="0">
                <a:highlight>
                  <a:srgbClr val="FFB9B9"/>
                </a:highlight>
              </a:rPr>
              <a:t>[</a:t>
            </a:r>
            <a:r>
              <a:rPr lang="ko-KR" altLang="en-US" sz="1600" b="1" dirty="0">
                <a:highlight>
                  <a:srgbClr val="FFB9B9"/>
                </a:highlight>
              </a:rPr>
              <a:t>위클리 아레나</a:t>
            </a:r>
            <a:r>
              <a:rPr lang="en-US" altLang="ko-KR" sz="1600" b="1" dirty="0">
                <a:highlight>
                  <a:srgbClr val="FFB9B9"/>
                </a:highlight>
              </a:rPr>
              <a:t>]</a:t>
            </a:r>
            <a:r>
              <a:rPr lang="ko-KR" altLang="en-US" sz="1600" b="1" dirty="0"/>
              <a:t>는</a:t>
            </a:r>
            <a:endParaRPr lang="en-US" altLang="ko-KR" sz="1600" b="1" dirty="0"/>
          </a:p>
          <a:p>
            <a:pPr algn="ctr">
              <a:lnSpc>
                <a:spcPct val="200000"/>
              </a:lnSpc>
            </a:pPr>
            <a:r>
              <a:rPr lang="ko-KR" altLang="en-US" sz="1600" b="1" dirty="0"/>
              <a:t>기존 </a:t>
            </a:r>
            <a:r>
              <a:rPr lang="en-US" altLang="ko-KR" sz="1600" b="1" dirty="0">
                <a:highlight>
                  <a:srgbClr val="FFE4B3"/>
                </a:highlight>
              </a:rPr>
              <a:t>[</a:t>
            </a:r>
            <a:r>
              <a:rPr lang="ko-KR" altLang="en-US" sz="1600" b="1" dirty="0" err="1">
                <a:highlight>
                  <a:srgbClr val="FFE4B3"/>
                </a:highlight>
              </a:rPr>
              <a:t>킹덤</a:t>
            </a:r>
            <a:r>
              <a:rPr lang="ko-KR" altLang="en-US" sz="1600" b="1" dirty="0">
                <a:highlight>
                  <a:srgbClr val="FFE4B3"/>
                </a:highlight>
              </a:rPr>
              <a:t> 아레나</a:t>
            </a:r>
            <a:r>
              <a:rPr lang="en-US" altLang="ko-KR" sz="1600" b="1" dirty="0">
                <a:highlight>
                  <a:srgbClr val="FFE4B3"/>
                </a:highlight>
              </a:rPr>
              <a:t>]</a:t>
            </a:r>
            <a:r>
              <a:rPr lang="en-US" altLang="ko-KR" sz="1600" b="1" dirty="0"/>
              <a:t> </a:t>
            </a:r>
            <a:r>
              <a:rPr lang="ko-KR" altLang="en-US" sz="1600" b="1" dirty="0"/>
              <a:t>컨텐츠의 </a:t>
            </a:r>
            <a:br>
              <a:rPr lang="en-US" altLang="ko-KR" sz="1600" b="1" dirty="0"/>
            </a:br>
            <a:r>
              <a:rPr lang="ko-KR" altLang="en-US" sz="1600" b="1" dirty="0"/>
              <a:t>연장선 상의 </a:t>
            </a:r>
            <a:r>
              <a:rPr lang="en-US" altLang="ko-KR" sz="1600" b="1" dirty="0"/>
              <a:t>PvP </a:t>
            </a:r>
            <a:r>
              <a:rPr lang="ko-KR" altLang="en-US" sz="1600" b="1" dirty="0"/>
              <a:t>컨텐츠 입니다</a:t>
            </a:r>
            <a:r>
              <a:rPr lang="en-US" altLang="ko-KR" sz="1600" b="1" dirty="0"/>
              <a:t>.</a:t>
            </a:r>
          </a:p>
        </p:txBody>
      </p:sp>
      <p:pic>
        <p:nvPicPr>
          <p:cNvPr id="2054" name="Picture 6" descr="쿠키런: 킹덤/킹덤 아레나 - 나무위키">
            <a:extLst>
              <a:ext uri="{FF2B5EF4-FFF2-40B4-BE49-F238E27FC236}">
                <a16:creationId xmlns:a16="http://schemas.microsoft.com/office/drawing/2014/main" id="{70EE1868-7673-EEDF-4434-C566A6543A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872154" y="1113057"/>
            <a:ext cx="6447692" cy="3626826"/>
          </a:xfrm>
          <a:prstGeom prst="rect">
            <a:avLst/>
          </a:prstGeom>
          <a:noFill/>
          <a:effectLst>
            <a:softEdge rad="1397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01465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442BB-16D8-1D28-801E-18A4F2D82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96EF053-1B8F-84CE-5A50-62E306F17643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업데이트 제안</a:t>
            </a:r>
            <a:r>
              <a:rPr lang="en-US" altLang="ko-KR" sz="2000" b="1" dirty="0"/>
              <a:t>: </a:t>
            </a:r>
            <a:r>
              <a:rPr lang="ko-KR" altLang="en-US" sz="2000" b="1" dirty="0"/>
              <a:t>위클리 아레나 </a:t>
            </a:r>
            <a:r>
              <a:rPr lang="en-US" altLang="ko-KR" sz="2000" b="1" dirty="0"/>
              <a:t>– </a:t>
            </a:r>
            <a:r>
              <a:rPr lang="ko-KR" altLang="en-US" sz="2000" b="1" dirty="0"/>
              <a:t>컨텐츠 설정 </a:t>
            </a:r>
            <a:endParaRPr lang="en-US" altLang="ko-KR" sz="2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B73CE3-9D61-1BCD-A4EB-EAD8AD3F31CB}"/>
              </a:ext>
            </a:extLst>
          </p:cNvPr>
          <p:cNvSpPr txBox="1"/>
          <p:nvPr/>
        </p:nvSpPr>
        <p:spPr>
          <a:xfrm>
            <a:off x="419100" y="4887078"/>
            <a:ext cx="11353800" cy="506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1600" b="1" dirty="0"/>
              <a:t>한 주가 한 시즌으로 설정된 컨텐츠입니다</a:t>
            </a:r>
            <a:r>
              <a:rPr lang="en-US" altLang="ko-KR" sz="1600" b="1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5DE58C-8895-AEA9-4C1C-09E749E7B17B}"/>
              </a:ext>
            </a:extLst>
          </p:cNvPr>
          <p:cNvSpPr txBox="1"/>
          <p:nvPr/>
        </p:nvSpPr>
        <p:spPr>
          <a:xfrm>
            <a:off x="6160478" y="2531363"/>
            <a:ext cx="26318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1" dirty="0"/>
              <a:t>One Week</a:t>
            </a:r>
            <a:br>
              <a:rPr lang="en-US" altLang="ko-KR" sz="2000" b="1" dirty="0"/>
            </a:br>
            <a:r>
              <a:rPr lang="en-US" altLang="ko-KR" sz="2000" b="1" dirty="0"/>
              <a:t>Season</a:t>
            </a:r>
          </a:p>
        </p:txBody>
      </p:sp>
      <p:pic>
        <p:nvPicPr>
          <p:cNvPr id="14" name="그래픽 13" descr="월 단위 달력">
            <a:extLst>
              <a:ext uri="{FF2B5EF4-FFF2-40B4-BE49-F238E27FC236}">
                <a16:creationId xmlns:a16="http://schemas.microsoft.com/office/drawing/2014/main" id="{5191DEA8-FBF2-31CD-6660-820C75E2E5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87716" y="1586975"/>
            <a:ext cx="2596662" cy="2596662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2661BEC4-D7E0-EC2D-C54D-86EF1C79D96C}"/>
              </a:ext>
            </a:extLst>
          </p:cNvPr>
          <p:cNvSpPr/>
          <p:nvPr/>
        </p:nvSpPr>
        <p:spPr>
          <a:xfrm>
            <a:off x="4484078" y="2685251"/>
            <a:ext cx="2206869" cy="40011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96461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02C0C-0D8A-E4C2-3E35-A7BD67FE1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DE4CF99-50B3-B813-C3BA-76853071DE26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업데이트 제안</a:t>
            </a:r>
            <a:r>
              <a:rPr lang="en-US" altLang="ko-KR" sz="2000" b="1" dirty="0"/>
              <a:t>: </a:t>
            </a:r>
            <a:r>
              <a:rPr lang="ko-KR" altLang="en-US" sz="2000" b="1" dirty="0"/>
              <a:t>위클리 아레나 </a:t>
            </a:r>
            <a:r>
              <a:rPr lang="en-US" altLang="ko-KR" sz="2000" b="1" dirty="0"/>
              <a:t>– </a:t>
            </a:r>
            <a:r>
              <a:rPr lang="ko-KR" altLang="en-US" sz="2000" b="1" dirty="0"/>
              <a:t>컨텐츠 설정 </a:t>
            </a:r>
            <a:endParaRPr lang="en-US" altLang="ko-KR" sz="2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BCC084-8150-B077-C45B-281F904FA1FE}"/>
              </a:ext>
            </a:extLst>
          </p:cNvPr>
          <p:cNvSpPr txBox="1"/>
          <p:nvPr/>
        </p:nvSpPr>
        <p:spPr>
          <a:xfrm>
            <a:off x="2669931" y="4887078"/>
            <a:ext cx="6852138" cy="9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1600" b="1" dirty="0"/>
              <a:t>주간 시즌마다</a:t>
            </a:r>
            <a:br>
              <a:rPr lang="en-US" altLang="ko-KR" sz="1600" b="1" dirty="0"/>
            </a:br>
            <a:r>
              <a:rPr lang="en-US" altLang="ko-KR" sz="1600" b="1" dirty="0"/>
              <a:t>‘</a:t>
            </a:r>
            <a:r>
              <a:rPr lang="ko-KR" altLang="en-US" sz="1600" b="1" dirty="0"/>
              <a:t>주간 시즌 버프</a:t>
            </a:r>
            <a:r>
              <a:rPr lang="en-US" altLang="ko-KR" sz="1600" b="1" dirty="0"/>
              <a:t>’</a:t>
            </a:r>
            <a:r>
              <a:rPr lang="ko-KR" altLang="en-US" sz="1600" b="1" dirty="0"/>
              <a:t>를 받는</a:t>
            </a:r>
            <a:r>
              <a:rPr lang="en-US" altLang="ko-KR" sz="1600" b="1" dirty="0"/>
              <a:t> ‘</a:t>
            </a:r>
            <a:r>
              <a:rPr lang="ko-KR" altLang="en-US" sz="1600" b="1" dirty="0"/>
              <a:t>주간 시즌 캐릭터</a:t>
            </a:r>
            <a:r>
              <a:rPr lang="en-US" altLang="ko-KR" sz="1600" b="1" dirty="0"/>
              <a:t>’</a:t>
            </a:r>
            <a:r>
              <a:rPr lang="ko-KR" altLang="en-US" sz="1600" b="1" dirty="0"/>
              <a:t>들이 설정됩니다</a:t>
            </a:r>
            <a:r>
              <a:rPr lang="en-US" altLang="ko-KR" sz="1600" b="1" dirty="0"/>
              <a:t>.</a:t>
            </a:r>
          </a:p>
        </p:txBody>
      </p:sp>
      <p:pic>
        <p:nvPicPr>
          <p:cNvPr id="4" name="그래픽 3" descr="진저브레드 쿠키">
            <a:extLst>
              <a:ext uri="{FF2B5EF4-FFF2-40B4-BE49-F238E27FC236}">
                <a16:creationId xmlns:a16="http://schemas.microsoft.com/office/drawing/2014/main" id="{9DB5F99B-CC39-FB80-F276-90E3A58571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84076" y="2350477"/>
            <a:ext cx="1611924" cy="1611924"/>
          </a:xfrm>
          <a:prstGeom prst="rect">
            <a:avLst/>
          </a:prstGeom>
        </p:spPr>
      </p:pic>
      <p:pic>
        <p:nvPicPr>
          <p:cNvPr id="6" name="그래픽 5" descr="진저브레드 쿠키">
            <a:extLst>
              <a:ext uri="{FF2B5EF4-FFF2-40B4-BE49-F238E27FC236}">
                <a16:creationId xmlns:a16="http://schemas.microsoft.com/office/drawing/2014/main" id="{D9D9BE81-4DCA-252A-B474-95F4A259B0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2350477"/>
            <a:ext cx="1611924" cy="1611924"/>
          </a:xfrm>
          <a:prstGeom prst="rect">
            <a:avLst/>
          </a:prstGeom>
        </p:spPr>
      </p:pic>
      <p:pic>
        <p:nvPicPr>
          <p:cNvPr id="8" name="그래픽 7" descr="진저브레드 쿠키">
            <a:extLst>
              <a:ext uri="{FF2B5EF4-FFF2-40B4-BE49-F238E27FC236}">
                <a16:creationId xmlns:a16="http://schemas.microsoft.com/office/drawing/2014/main" id="{1FAAEB84-54A7-2AF2-E4FF-DB87FEA996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99892" y="2060331"/>
            <a:ext cx="2192216" cy="2192216"/>
          </a:xfrm>
          <a:prstGeom prst="rect">
            <a:avLst/>
          </a:prstGeom>
        </p:spPr>
      </p:pic>
      <p:sp>
        <p:nvSpPr>
          <p:cNvPr id="10" name="화살표: 아래쪽 9">
            <a:extLst>
              <a:ext uri="{FF2B5EF4-FFF2-40B4-BE49-F238E27FC236}">
                <a16:creationId xmlns:a16="http://schemas.microsoft.com/office/drawing/2014/main" id="{3D33C54E-9B9C-0616-55E1-9A046DF0E2A3}"/>
              </a:ext>
            </a:extLst>
          </p:cNvPr>
          <p:cNvSpPr/>
          <p:nvPr/>
        </p:nvSpPr>
        <p:spPr>
          <a:xfrm rot="10800000">
            <a:off x="4484076" y="1547640"/>
            <a:ext cx="693487" cy="858715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화살표: 아래쪽 10">
            <a:extLst>
              <a:ext uri="{FF2B5EF4-FFF2-40B4-BE49-F238E27FC236}">
                <a16:creationId xmlns:a16="http://schemas.microsoft.com/office/drawing/2014/main" id="{28AA2B82-B967-6A55-DF3C-E952479D5267}"/>
              </a:ext>
            </a:extLst>
          </p:cNvPr>
          <p:cNvSpPr/>
          <p:nvPr/>
        </p:nvSpPr>
        <p:spPr>
          <a:xfrm rot="10800000">
            <a:off x="7538852" y="2737729"/>
            <a:ext cx="338144" cy="418710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170EE3F3-098E-1678-7DFF-60E8D4EBAC14}"/>
              </a:ext>
            </a:extLst>
          </p:cNvPr>
          <p:cNvSpPr/>
          <p:nvPr/>
        </p:nvSpPr>
        <p:spPr>
          <a:xfrm rot="10800000">
            <a:off x="4652781" y="3555840"/>
            <a:ext cx="524782" cy="649816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B43C06-277A-8C86-F32C-8845BAF519C7}"/>
              </a:ext>
            </a:extLst>
          </p:cNvPr>
          <p:cNvSpPr txBox="1"/>
          <p:nvPr/>
        </p:nvSpPr>
        <p:spPr>
          <a:xfrm>
            <a:off x="4778065" y="1860276"/>
            <a:ext cx="26318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1" dirty="0"/>
              <a:t>Weekly Buff</a:t>
            </a:r>
          </a:p>
        </p:txBody>
      </p:sp>
    </p:spTree>
    <p:extLst>
      <p:ext uri="{BB962C8B-B14F-4D97-AF65-F5344CB8AC3E}">
        <p14:creationId xmlns:p14="http://schemas.microsoft.com/office/powerpoint/2010/main" val="32034220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48E8D-5423-F265-A1CA-1F160BE60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F95EBBB-B21B-E141-83D0-185653AC4CEB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업데이트 제안</a:t>
            </a:r>
            <a:r>
              <a:rPr lang="en-US" altLang="ko-KR" sz="2000" b="1" dirty="0"/>
              <a:t>: </a:t>
            </a:r>
            <a:r>
              <a:rPr lang="ko-KR" altLang="en-US" sz="2000" b="1" dirty="0"/>
              <a:t>위클리 아레나 </a:t>
            </a:r>
            <a:r>
              <a:rPr lang="en-US" altLang="ko-KR" sz="2000" b="1" dirty="0"/>
              <a:t>– </a:t>
            </a:r>
            <a:r>
              <a:rPr lang="ko-KR" altLang="en-US" sz="2000" b="1" dirty="0"/>
              <a:t>컨텐츠 설정 </a:t>
            </a:r>
            <a:endParaRPr lang="en-US" altLang="ko-KR" sz="2000" b="1" dirty="0"/>
          </a:p>
        </p:txBody>
      </p:sp>
      <p:pic>
        <p:nvPicPr>
          <p:cNvPr id="4" name="그래픽 3" descr="레이블">
            <a:extLst>
              <a:ext uri="{FF2B5EF4-FFF2-40B4-BE49-F238E27FC236}">
                <a16:creationId xmlns:a16="http://schemas.microsoft.com/office/drawing/2014/main" id="{BFD29790-B683-01CF-EE1E-E0E7C24538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55833" y="1890346"/>
            <a:ext cx="2458915" cy="2458915"/>
          </a:xfrm>
          <a:prstGeom prst="rect">
            <a:avLst/>
          </a:prstGeom>
        </p:spPr>
      </p:pic>
      <p:pic>
        <p:nvPicPr>
          <p:cNvPr id="5" name="그래픽 4" descr="레이블">
            <a:extLst>
              <a:ext uri="{FF2B5EF4-FFF2-40B4-BE49-F238E27FC236}">
                <a16:creationId xmlns:a16="http://schemas.microsoft.com/office/drawing/2014/main" id="{3F2A0AC5-5963-79DD-47D6-F5A1FA9483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11188" y="1890346"/>
            <a:ext cx="2458915" cy="2458915"/>
          </a:xfrm>
          <a:prstGeom prst="rect">
            <a:avLst/>
          </a:prstGeom>
        </p:spPr>
      </p:pic>
      <p:pic>
        <p:nvPicPr>
          <p:cNvPr id="6" name="그래픽 5" descr="레이블">
            <a:extLst>
              <a:ext uri="{FF2B5EF4-FFF2-40B4-BE49-F238E27FC236}">
                <a16:creationId xmlns:a16="http://schemas.microsoft.com/office/drawing/2014/main" id="{7FC43582-AC4D-CBAE-2C8D-7CCA6D4752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66542" y="1890346"/>
            <a:ext cx="2458915" cy="245891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8184A-DB71-6410-0CD2-CBB8362A7308}"/>
              </a:ext>
            </a:extLst>
          </p:cNvPr>
          <p:cNvSpPr txBox="1"/>
          <p:nvPr/>
        </p:nvSpPr>
        <p:spPr>
          <a:xfrm>
            <a:off x="6674461" y="1890346"/>
            <a:ext cx="5912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200" b="1" dirty="0"/>
              <a:t>3</a:t>
            </a:r>
            <a:endParaRPr lang="ko-KR" altLang="en-US" sz="7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AC0F2B-7B18-5817-14F8-7D50118825C1}"/>
              </a:ext>
            </a:extLst>
          </p:cNvPr>
          <p:cNvSpPr txBox="1"/>
          <p:nvPr/>
        </p:nvSpPr>
        <p:spPr>
          <a:xfrm>
            <a:off x="419100" y="4887077"/>
            <a:ext cx="11353800" cy="506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1600" b="1" dirty="0"/>
              <a:t>하루 </a:t>
            </a:r>
            <a:r>
              <a:rPr lang="en-US" altLang="ko-KR" sz="1600" b="1" dirty="0"/>
              <a:t>3</a:t>
            </a:r>
            <a:r>
              <a:rPr lang="ko-KR" altLang="en-US" sz="1600" b="1" dirty="0"/>
              <a:t>번 </a:t>
            </a:r>
            <a:r>
              <a:rPr lang="en-US" altLang="ko-KR" sz="1600" b="1" dirty="0"/>
              <a:t>[</a:t>
            </a:r>
            <a:r>
              <a:rPr lang="ko-KR" altLang="en-US" sz="1600" b="1" dirty="0"/>
              <a:t>위클리 아레나</a:t>
            </a:r>
            <a:r>
              <a:rPr lang="en-US" altLang="ko-KR" sz="1600" b="1" dirty="0"/>
              <a:t>]</a:t>
            </a:r>
            <a:r>
              <a:rPr lang="ko-KR" altLang="en-US" sz="1600" b="1" dirty="0"/>
              <a:t>에 도전할 수 있습니다</a:t>
            </a:r>
            <a:r>
              <a:rPr lang="en-US" altLang="ko-KR" sz="1600" b="1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AB9BAB-6A0F-F9A1-5796-F3E8DD115F0A}"/>
              </a:ext>
            </a:extLst>
          </p:cNvPr>
          <p:cNvSpPr txBox="1"/>
          <p:nvPr/>
        </p:nvSpPr>
        <p:spPr>
          <a:xfrm>
            <a:off x="6970102" y="2490510"/>
            <a:ext cx="14525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1" dirty="0"/>
              <a:t>Trial</a:t>
            </a:r>
          </a:p>
        </p:txBody>
      </p:sp>
    </p:spTree>
    <p:extLst>
      <p:ext uri="{BB962C8B-B14F-4D97-AF65-F5344CB8AC3E}">
        <p14:creationId xmlns:p14="http://schemas.microsoft.com/office/powerpoint/2010/main" val="13950562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BA310-9EB1-329C-4855-09480C5D2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4B00F37-67A9-CA32-2E4C-ACF11494171F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업데이트 제안</a:t>
            </a:r>
            <a:r>
              <a:rPr lang="en-US" altLang="ko-KR" sz="2000" b="1" dirty="0"/>
              <a:t>: </a:t>
            </a:r>
            <a:r>
              <a:rPr lang="ko-KR" altLang="en-US" sz="2000" b="1" dirty="0"/>
              <a:t>위클리 아레나 </a:t>
            </a:r>
            <a:r>
              <a:rPr lang="en-US" altLang="ko-KR" sz="2000" b="1" dirty="0"/>
              <a:t>– </a:t>
            </a:r>
            <a:r>
              <a:rPr lang="ko-KR" altLang="en-US" sz="2000" b="1" dirty="0"/>
              <a:t>컨텐츠 설정 </a:t>
            </a:r>
            <a:endParaRPr lang="en-US" altLang="ko-KR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4F0CBB-B5B5-C969-551E-17E116A7E5DE}"/>
              </a:ext>
            </a:extLst>
          </p:cNvPr>
          <p:cNvSpPr txBox="1"/>
          <p:nvPr/>
        </p:nvSpPr>
        <p:spPr>
          <a:xfrm>
            <a:off x="419100" y="4887077"/>
            <a:ext cx="11353800" cy="506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1600" b="1" dirty="0"/>
              <a:t>승리 시 보상이 존재합니다</a:t>
            </a:r>
            <a:r>
              <a:rPr lang="en-US" altLang="ko-KR" sz="1600" b="1" dirty="0"/>
              <a:t>.</a:t>
            </a:r>
          </a:p>
        </p:txBody>
      </p:sp>
      <p:pic>
        <p:nvPicPr>
          <p:cNvPr id="17" name="그래픽 16" descr="사용자">
            <a:extLst>
              <a:ext uri="{FF2B5EF4-FFF2-40B4-BE49-F238E27FC236}">
                <a16:creationId xmlns:a16="http://schemas.microsoft.com/office/drawing/2014/main" id="{D4D0A49C-41A5-C2CA-6053-D36AA10AB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5110156" y="2283795"/>
            <a:ext cx="1971688" cy="1971682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0767824F-0BB8-4697-ADA4-0D94E7099279}"/>
              </a:ext>
            </a:extLst>
          </p:cNvPr>
          <p:cNvSpPr txBox="1"/>
          <p:nvPr/>
        </p:nvSpPr>
        <p:spPr>
          <a:xfrm>
            <a:off x="4261339" y="1348372"/>
            <a:ext cx="36693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1" dirty="0"/>
              <a:t>Victory Reward</a:t>
            </a:r>
          </a:p>
        </p:txBody>
      </p:sp>
      <p:pic>
        <p:nvPicPr>
          <p:cNvPr id="32" name="그래픽 31" descr="왕관">
            <a:extLst>
              <a:ext uri="{FF2B5EF4-FFF2-40B4-BE49-F238E27FC236}">
                <a16:creationId xmlns:a16="http://schemas.microsoft.com/office/drawing/2014/main" id="{29C5789A-DB50-F9CC-32DC-167FD5B38D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21923" y="1801236"/>
            <a:ext cx="1348154" cy="845050"/>
          </a:xfrm>
          <a:prstGeom prst="rect">
            <a:avLst/>
          </a:prstGeom>
        </p:spPr>
      </p:pic>
      <p:pic>
        <p:nvPicPr>
          <p:cNvPr id="34" name="그래픽 33" descr="동전">
            <a:extLst>
              <a:ext uri="{FF2B5EF4-FFF2-40B4-BE49-F238E27FC236}">
                <a16:creationId xmlns:a16="http://schemas.microsoft.com/office/drawing/2014/main" id="{17E3A309-2FB9-A128-81B5-8A46E90F90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24647" y="3128845"/>
            <a:ext cx="748377" cy="748377"/>
          </a:xfrm>
          <a:prstGeom prst="rect">
            <a:avLst/>
          </a:prstGeom>
        </p:spPr>
      </p:pic>
      <p:pic>
        <p:nvPicPr>
          <p:cNvPr id="35" name="그래픽 34" descr="동전">
            <a:extLst>
              <a:ext uri="{FF2B5EF4-FFF2-40B4-BE49-F238E27FC236}">
                <a16:creationId xmlns:a16="http://schemas.microsoft.com/office/drawing/2014/main" id="{785093EA-C4C8-2560-34D7-285161F3BF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38325" y="3608419"/>
            <a:ext cx="748377" cy="748377"/>
          </a:xfrm>
          <a:prstGeom prst="rect">
            <a:avLst/>
          </a:prstGeom>
        </p:spPr>
      </p:pic>
      <p:pic>
        <p:nvPicPr>
          <p:cNvPr id="36" name="그래픽 35" descr="동전">
            <a:extLst>
              <a:ext uri="{FF2B5EF4-FFF2-40B4-BE49-F238E27FC236}">
                <a16:creationId xmlns:a16="http://schemas.microsoft.com/office/drawing/2014/main" id="{B1A6475B-E2E1-1D3E-7AA3-C1BA719E926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56222" y="3594586"/>
            <a:ext cx="748377" cy="748377"/>
          </a:xfrm>
          <a:prstGeom prst="rect">
            <a:avLst/>
          </a:prstGeom>
        </p:spPr>
      </p:pic>
      <p:pic>
        <p:nvPicPr>
          <p:cNvPr id="37" name="그래픽 36" descr="동전">
            <a:extLst>
              <a:ext uri="{FF2B5EF4-FFF2-40B4-BE49-F238E27FC236}">
                <a16:creationId xmlns:a16="http://schemas.microsoft.com/office/drawing/2014/main" id="{423B4933-CCBB-D1DD-B91C-28019128F2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42686" y="3822900"/>
            <a:ext cx="748377" cy="748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092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B8E2C-E963-050C-A0E0-0E0325529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4CA35AF-5826-99B9-0CF6-CEC7A32C54A3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업데이트 제안</a:t>
            </a:r>
            <a:r>
              <a:rPr lang="en-US" altLang="ko-KR" sz="2000" b="1" dirty="0"/>
              <a:t>: </a:t>
            </a:r>
            <a:r>
              <a:rPr lang="ko-KR" altLang="en-US" sz="2000" b="1" dirty="0"/>
              <a:t>위클리 아레나 </a:t>
            </a:r>
            <a:r>
              <a:rPr lang="en-US" altLang="ko-KR" sz="2000" b="1" dirty="0"/>
              <a:t>– </a:t>
            </a:r>
            <a:r>
              <a:rPr lang="ko-KR" altLang="en-US" sz="2000" b="1" dirty="0"/>
              <a:t>컨텐츠 설정 </a:t>
            </a:r>
            <a:endParaRPr lang="en-US" altLang="ko-KR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BBF228-FA24-B2B4-EF1D-B109296FD36E}"/>
              </a:ext>
            </a:extLst>
          </p:cNvPr>
          <p:cNvSpPr txBox="1"/>
          <p:nvPr/>
        </p:nvSpPr>
        <p:spPr>
          <a:xfrm>
            <a:off x="419100" y="4887077"/>
            <a:ext cx="11353800" cy="506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1600" b="1" dirty="0"/>
              <a:t>[</a:t>
            </a:r>
            <a:r>
              <a:rPr lang="ko-KR" altLang="en-US" sz="1600" b="1" dirty="0"/>
              <a:t>위클리 아레나</a:t>
            </a:r>
            <a:r>
              <a:rPr lang="en-US" altLang="ko-KR" sz="1600" b="1" dirty="0"/>
              <a:t>] </a:t>
            </a:r>
            <a:r>
              <a:rPr lang="ko-KR" altLang="en-US" sz="1600" b="1" dirty="0"/>
              <a:t>주간 </a:t>
            </a:r>
            <a:r>
              <a:rPr lang="ko-KR" altLang="en-US" sz="1600" b="1" dirty="0" err="1"/>
              <a:t>레이팅</a:t>
            </a:r>
            <a:r>
              <a:rPr lang="ko-KR" altLang="en-US" sz="1600" b="1" dirty="0"/>
              <a:t> 점수 별 보상이 존재합니다</a:t>
            </a:r>
            <a:r>
              <a:rPr lang="en-US" altLang="ko-KR" sz="1600" b="1" dirty="0"/>
              <a:t>.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5BBA8ED4-B0D2-676E-54F7-50347658B21E}"/>
              </a:ext>
            </a:extLst>
          </p:cNvPr>
          <p:cNvSpPr/>
          <p:nvPr/>
        </p:nvSpPr>
        <p:spPr>
          <a:xfrm>
            <a:off x="3497873" y="3610039"/>
            <a:ext cx="5196254" cy="162659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이등변 삼각형 2">
            <a:extLst>
              <a:ext uri="{FF2B5EF4-FFF2-40B4-BE49-F238E27FC236}">
                <a16:creationId xmlns:a16="http://schemas.microsoft.com/office/drawing/2014/main" id="{32240E77-656F-E408-1112-1E5B26A58BA9}"/>
              </a:ext>
            </a:extLst>
          </p:cNvPr>
          <p:cNvSpPr/>
          <p:nvPr/>
        </p:nvSpPr>
        <p:spPr>
          <a:xfrm rot="10800000">
            <a:off x="5382972" y="3323037"/>
            <a:ext cx="184638" cy="21192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이등변 삼각형 7">
            <a:extLst>
              <a:ext uri="{FF2B5EF4-FFF2-40B4-BE49-F238E27FC236}">
                <a16:creationId xmlns:a16="http://schemas.microsoft.com/office/drawing/2014/main" id="{99D27AD5-7FE2-14F2-A006-7B572097C5C9}"/>
              </a:ext>
            </a:extLst>
          </p:cNvPr>
          <p:cNvSpPr/>
          <p:nvPr/>
        </p:nvSpPr>
        <p:spPr>
          <a:xfrm rot="10800000">
            <a:off x="6203791" y="3323037"/>
            <a:ext cx="184638" cy="21192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이등변 삼각형 12">
            <a:extLst>
              <a:ext uri="{FF2B5EF4-FFF2-40B4-BE49-F238E27FC236}">
                <a16:creationId xmlns:a16="http://schemas.microsoft.com/office/drawing/2014/main" id="{F20A7DE6-D56D-1C99-67C4-B24B8C918834}"/>
              </a:ext>
            </a:extLst>
          </p:cNvPr>
          <p:cNvSpPr/>
          <p:nvPr/>
        </p:nvSpPr>
        <p:spPr>
          <a:xfrm rot="10800000">
            <a:off x="8601808" y="3323037"/>
            <a:ext cx="184638" cy="21192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이등변 삼각형 13">
            <a:extLst>
              <a:ext uri="{FF2B5EF4-FFF2-40B4-BE49-F238E27FC236}">
                <a16:creationId xmlns:a16="http://schemas.microsoft.com/office/drawing/2014/main" id="{C190412C-689B-FF8C-14CD-8FEEDAA10905}"/>
              </a:ext>
            </a:extLst>
          </p:cNvPr>
          <p:cNvSpPr/>
          <p:nvPr/>
        </p:nvSpPr>
        <p:spPr>
          <a:xfrm rot="10800000">
            <a:off x="7064676" y="3323037"/>
            <a:ext cx="184638" cy="21192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눈물 방울 14">
            <a:extLst>
              <a:ext uri="{FF2B5EF4-FFF2-40B4-BE49-F238E27FC236}">
                <a16:creationId xmlns:a16="http://schemas.microsoft.com/office/drawing/2014/main" id="{078700B1-C323-8F3B-C04D-47354C7C600B}"/>
              </a:ext>
            </a:extLst>
          </p:cNvPr>
          <p:cNvSpPr/>
          <p:nvPr/>
        </p:nvSpPr>
        <p:spPr>
          <a:xfrm rot="8100000">
            <a:off x="3546231" y="2345835"/>
            <a:ext cx="747346" cy="747346"/>
          </a:xfrm>
          <a:prstGeom prst="teardrop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3DDC339B-CE77-703E-D645-F03A5D061317}"/>
              </a:ext>
            </a:extLst>
          </p:cNvPr>
          <p:cNvSpPr/>
          <p:nvPr/>
        </p:nvSpPr>
        <p:spPr>
          <a:xfrm>
            <a:off x="3620365" y="2421774"/>
            <a:ext cx="599076" cy="5990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래픽 16" descr="사용자">
            <a:extLst>
              <a:ext uri="{FF2B5EF4-FFF2-40B4-BE49-F238E27FC236}">
                <a16:creationId xmlns:a16="http://schemas.microsoft.com/office/drawing/2014/main" id="{BDBAF696-339F-7179-38FE-D32E477C76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3600383" y="2380510"/>
            <a:ext cx="639041" cy="63903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EACE6F6-AB5D-2949-8D1C-8E2755BAB1DB}"/>
              </a:ext>
            </a:extLst>
          </p:cNvPr>
          <p:cNvSpPr txBox="1"/>
          <p:nvPr/>
        </p:nvSpPr>
        <p:spPr>
          <a:xfrm>
            <a:off x="5255519" y="3914389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100</a:t>
            </a:r>
            <a:endParaRPr lang="ko-KR" alt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326F8F-026A-7315-3D39-BB343F43C550}"/>
              </a:ext>
            </a:extLst>
          </p:cNvPr>
          <p:cNvSpPr txBox="1"/>
          <p:nvPr/>
        </p:nvSpPr>
        <p:spPr>
          <a:xfrm>
            <a:off x="6076338" y="3914389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150</a:t>
            </a:r>
            <a:endParaRPr lang="ko-KR" alt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24B5A5-DB15-4C3B-5734-2FF83B1A1EEE}"/>
              </a:ext>
            </a:extLst>
          </p:cNvPr>
          <p:cNvSpPr txBox="1"/>
          <p:nvPr/>
        </p:nvSpPr>
        <p:spPr>
          <a:xfrm>
            <a:off x="6937223" y="3914389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200</a:t>
            </a:r>
            <a:endParaRPr lang="ko-KR" alt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A02189-6F48-D458-645C-F37909E5DF4B}"/>
              </a:ext>
            </a:extLst>
          </p:cNvPr>
          <p:cNvSpPr txBox="1"/>
          <p:nvPr/>
        </p:nvSpPr>
        <p:spPr>
          <a:xfrm>
            <a:off x="8474355" y="3914389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300</a:t>
            </a:r>
            <a:endParaRPr lang="ko-KR" altLang="en-US" sz="1200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81A21350-1FD8-B639-4913-AC0C3B24C82D}"/>
              </a:ext>
            </a:extLst>
          </p:cNvPr>
          <p:cNvSpPr/>
          <p:nvPr/>
        </p:nvSpPr>
        <p:spPr>
          <a:xfrm>
            <a:off x="5153329" y="2549204"/>
            <a:ext cx="643923" cy="643923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0F470EAF-727A-8682-F8EF-D94BBC08CD59}"/>
              </a:ext>
            </a:extLst>
          </p:cNvPr>
          <p:cNvSpPr/>
          <p:nvPr/>
        </p:nvSpPr>
        <p:spPr>
          <a:xfrm>
            <a:off x="5974148" y="2549204"/>
            <a:ext cx="643923" cy="643923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A6C2908-1A65-F13E-0E48-7EE6FAE51255}"/>
              </a:ext>
            </a:extLst>
          </p:cNvPr>
          <p:cNvSpPr/>
          <p:nvPr/>
        </p:nvSpPr>
        <p:spPr>
          <a:xfrm>
            <a:off x="6835033" y="2549204"/>
            <a:ext cx="643923" cy="643923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47642A62-2A06-3871-B4A1-F9D0091183E2}"/>
              </a:ext>
            </a:extLst>
          </p:cNvPr>
          <p:cNvSpPr/>
          <p:nvPr/>
        </p:nvSpPr>
        <p:spPr>
          <a:xfrm>
            <a:off x="8372165" y="2549204"/>
            <a:ext cx="643923" cy="643923"/>
          </a:xfrm>
          <a:prstGeom prst="roundRect">
            <a:avLst/>
          </a:prstGeom>
          <a:noFill/>
          <a:ln w="38100">
            <a:solidFill>
              <a:schemeClr val="tx1"/>
            </a:solidFill>
          </a:ln>
          <a:effectLst>
            <a:glow rad="889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래픽 25" descr="동전">
            <a:extLst>
              <a:ext uri="{FF2B5EF4-FFF2-40B4-BE49-F238E27FC236}">
                <a16:creationId xmlns:a16="http://schemas.microsoft.com/office/drawing/2014/main" id="{F7114BF1-6818-9A7B-264E-854071C60E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1434" y="2625632"/>
            <a:ext cx="487712" cy="487712"/>
          </a:xfrm>
          <a:prstGeom prst="rect">
            <a:avLst/>
          </a:prstGeom>
        </p:spPr>
      </p:pic>
      <p:pic>
        <p:nvPicPr>
          <p:cNvPr id="27" name="그래픽 26" descr="진저브레드 쿠키">
            <a:extLst>
              <a:ext uri="{FF2B5EF4-FFF2-40B4-BE49-F238E27FC236}">
                <a16:creationId xmlns:a16="http://schemas.microsoft.com/office/drawing/2014/main" id="{808AE3AD-E24E-01C7-B0B6-C11AD6187F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09129" y="2568039"/>
            <a:ext cx="573960" cy="573960"/>
          </a:xfrm>
          <a:prstGeom prst="rect">
            <a:avLst/>
          </a:prstGeom>
        </p:spPr>
      </p:pic>
      <p:pic>
        <p:nvPicPr>
          <p:cNvPr id="28" name="그래픽 27" descr="다이아몬드">
            <a:extLst>
              <a:ext uri="{FF2B5EF4-FFF2-40B4-BE49-F238E27FC236}">
                <a16:creationId xmlns:a16="http://schemas.microsoft.com/office/drawing/2014/main" id="{851E6721-E0D3-3A80-A521-921846DD1C2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95553" y="2595981"/>
            <a:ext cx="597146" cy="597146"/>
          </a:xfrm>
          <a:prstGeom prst="rect">
            <a:avLst/>
          </a:prstGeom>
        </p:spPr>
      </p:pic>
      <p:pic>
        <p:nvPicPr>
          <p:cNvPr id="29" name="그래픽 28" descr="동전">
            <a:extLst>
              <a:ext uri="{FF2B5EF4-FFF2-40B4-BE49-F238E27FC236}">
                <a16:creationId xmlns:a16="http://schemas.microsoft.com/office/drawing/2014/main" id="{019AB92A-0058-8534-6F31-EC0A1F29B2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71550" y="2817049"/>
            <a:ext cx="316287" cy="316287"/>
          </a:xfrm>
          <a:prstGeom prst="rect">
            <a:avLst/>
          </a:prstGeom>
        </p:spPr>
      </p:pic>
      <p:pic>
        <p:nvPicPr>
          <p:cNvPr id="30" name="그래픽 29" descr="진저브레드 쿠키">
            <a:extLst>
              <a:ext uri="{FF2B5EF4-FFF2-40B4-BE49-F238E27FC236}">
                <a16:creationId xmlns:a16="http://schemas.microsoft.com/office/drawing/2014/main" id="{CD9996EE-EBD2-FF7A-18D1-08A3106EDA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24994" y="2590064"/>
            <a:ext cx="477350" cy="47735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A7C9C5A-EFB4-86C3-AABF-8A90CC244684}"/>
              </a:ext>
            </a:extLst>
          </p:cNvPr>
          <p:cNvSpPr txBox="1"/>
          <p:nvPr/>
        </p:nvSpPr>
        <p:spPr>
          <a:xfrm>
            <a:off x="4261339" y="1348372"/>
            <a:ext cx="36693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1" dirty="0"/>
              <a:t>Rating Reward</a:t>
            </a:r>
          </a:p>
        </p:txBody>
      </p:sp>
    </p:spTree>
    <p:extLst>
      <p:ext uri="{BB962C8B-B14F-4D97-AF65-F5344CB8AC3E}">
        <p14:creationId xmlns:p14="http://schemas.microsoft.com/office/powerpoint/2010/main" val="8451199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41682-DA5C-FECF-5428-A23862891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7F3CEC0-C92D-8223-12CE-AC680B3BBBD2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업데이트 제안</a:t>
            </a:r>
            <a:r>
              <a:rPr lang="en-US" altLang="ko-KR" sz="2000" b="1" dirty="0"/>
              <a:t>: </a:t>
            </a:r>
            <a:r>
              <a:rPr lang="ko-KR" altLang="en-US" sz="2000" b="1" dirty="0"/>
              <a:t>위클리 아레나 </a:t>
            </a:r>
            <a:r>
              <a:rPr lang="en-US" altLang="ko-KR" sz="2000" b="1" dirty="0"/>
              <a:t>– </a:t>
            </a:r>
            <a:r>
              <a:rPr lang="ko-KR" altLang="en-US" sz="2000" b="1" dirty="0"/>
              <a:t>컨텐츠 설정 </a:t>
            </a:r>
            <a:endParaRPr lang="en-US" altLang="ko-KR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5FCE84-A331-FB76-D8F1-F8F4FC4C3CD4}"/>
              </a:ext>
            </a:extLst>
          </p:cNvPr>
          <p:cNvSpPr txBox="1"/>
          <p:nvPr/>
        </p:nvSpPr>
        <p:spPr>
          <a:xfrm>
            <a:off x="419100" y="4887077"/>
            <a:ext cx="11353800" cy="9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1600" b="1" dirty="0"/>
              <a:t>최상위 유저들을 위한</a:t>
            </a:r>
            <a:br>
              <a:rPr lang="en-US" altLang="ko-KR" sz="1600" b="1" dirty="0"/>
            </a:br>
            <a:r>
              <a:rPr lang="ko-KR" altLang="en-US" sz="1600" b="1" dirty="0"/>
              <a:t>시즌 마무리 등수 별 보상이 존재합니다</a:t>
            </a:r>
            <a:r>
              <a:rPr lang="en-US" altLang="ko-KR" sz="1600" b="1" dirty="0"/>
              <a:t>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0E67378-74CD-F311-F005-3DE2EA637E34}"/>
              </a:ext>
            </a:extLst>
          </p:cNvPr>
          <p:cNvSpPr txBox="1"/>
          <p:nvPr/>
        </p:nvSpPr>
        <p:spPr>
          <a:xfrm>
            <a:off x="4261339" y="1348372"/>
            <a:ext cx="36693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1" dirty="0"/>
              <a:t>Season Reward</a:t>
            </a:r>
          </a:p>
        </p:txBody>
      </p:sp>
      <p:pic>
        <p:nvPicPr>
          <p:cNvPr id="7" name="그래픽 6" descr="트로피">
            <a:extLst>
              <a:ext uri="{FF2B5EF4-FFF2-40B4-BE49-F238E27FC236}">
                <a16:creationId xmlns:a16="http://schemas.microsoft.com/office/drawing/2014/main" id="{0A84D308-447E-54CE-D08E-F9CCBAFC67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34556" y="2989383"/>
            <a:ext cx="1591558" cy="1591555"/>
          </a:xfrm>
          <a:prstGeom prst="rect">
            <a:avLst/>
          </a:prstGeom>
        </p:spPr>
      </p:pic>
      <p:pic>
        <p:nvPicPr>
          <p:cNvPr id="32" name="그래픽 31" descr="트로피">
            <a:extLst>
              <a:ext uri="{FF2B5EF4-FFF2-40B4-BE49-F238E27FC236}">
                <a16:creationId xmlns:a16="http://schemas.microsoft.com/office/drawing/2014/main" id="{53C29B81-7C73-2DD7-194F-35E12FF13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7608" y="2648025"/>
            <a:ext cx="1976879" cy="1976875"/>
          </a:xfrm>
          <a:prstGeom prst="rect">
            <a:avLst/>
          </a:prstGeom>
        </p:spPr>
      </p:pic>
      <p:pic>
        <p:nvPicPr>
          <p:cNvPr id="33" name="그래픽 32" descr="트로피">
            <a:extLst>
              <a:ext uri="{FF2B5EF4-FFF2-40B4-BE49-F238E27FC236}">
                <a16:creationId xmlns:a16="http://schemas.microsoft.com/office/drawing/2014/main" id="{D2E7C604-6274-8E31-5B8E-5D40824B87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0354" y="1993073"/>
            <a:ext cx="2693378" cy="2693373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1F6EDA59-CE2F-9B43-FD9E-A9EAFC165286}"/>
              </a:ext>
            </a:extLst>
          </p:cNvPr>
          <p:cNvSpPr txBox="1"/>
          <p:nvPr/>
        </p:nvSpPr>
        <p:spPr>
          <a:xfrm>
            <a:off x="4306400" y="2403434"/>
            <a:ext cx="15012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5400" b="1" dirty="0">
                <a:solidFill>
                  <a:schemeClr val="bg1"/>
                </a:solidFill>
              </a:rPr>
              <a:t>#1</a:t>
            </a:r>
            <a:endParaRPr lang="ko-KR" altLang="en-US" sz="5400" dirty="0">
              <a:solidFill>
                <a:schemeClr val="bg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FDB5BFA-BEFE-53A1-FF75-DED3CE1E07AF}"/>
              </a:ext>
            </a:extLst>
          </p:cNvPr>
          <p:cNvSpPr txBox="1"/>
          <p:nvPr/>
        </p:nvSpPr>
        <p:spPr>
          <a:xfrm>
            <a:off x="5715404" y="3065730"/>
            <a:ext cx="15012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</a:rPr>
              <a:t>#100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EA972F-4C4B-7C47-EC54-B27555992910}"/>
              </a:ext>
            </a:extLst>
          </p:cNvPr>
          <p:cNvSpPr txBox="1"/>
          <p:nvPr/>
        </p:nvSpPr>
        <p:spPr>
          <a:xfrm>
            <a:off x="6879692" y="3344327"/>
            <a:ext cx="15012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#10000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5298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96644-DA87-2B61-8087-83B07F2D9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8C579CC-4F79-4EE1-B473-D7003BDA33F4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업데이트 제안</a:t>
            </a:r>
            <a:r>
              <a:rPr lang="en-US" altLang="ko-KR" sz="2000" b="1" dirty="0"/>
              <a:t>: </a:t>
            </a:r>
            <a:r>
              <a:rPr lang="ko-KR" altLang="en-US" sz="2000" b="1" dirty="0"/>
              <a:t>위클리 아레나 </a:t>
            </a:r>
            <a:r>
              <a:rPr lang="en-US" altLang="ko-KR" sz="2000" b="1" dirty="0"/>
              <a:t>– </a:t>
            </a:r>
            <a:r>
              <a:rPr lang="ko-KR" altLang="en-US" sz="2000" b="1" dirty="0"/>
              <a:t>컨텐츠 설정 </a:t>
            </a:r>
            <a:endParaRPr lang="en-US" altLang="ko-KR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94D813-260C-38F4-EFC0-43B738AAB151}"/>
              </a:ext>
            </a:extLst>
          </p:cNvPr>
          <p:cNvSpPr txBox="1"/>
          <p:nvPr/>
        </p:nvSpPr>
        <p:spPr>
          <a:xfrm>
            <a:off x="419100" y="4887077"/>
            <a:ext cx="11353800" cy="1491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1600" b="1" dirty="0"/>
              <a:t>매일 어제 자 상위 </a:t>
            </a:r>
            <a:r>
              <a:rPr lang="en-US" altLang="ko-KR" sz="1600" b="1" dirty="0"/>
              <a:t>n% </a:t>
            </a:r>
            <a:r>
              <a:rPr lang="ko-KR" altLang="en-US" sz="1600" b="1" dirty="0"/>
              <a:t>유저의 대진을 보고</a:t>
            </a:r>
            <a:br>
              <a:rPr lang="en-US" altLang="ko-KR" sz="1600" b="1" dirty="0"/>
            </a:br>
            <a:r>
              <a:rPr lang="ko-KR" altLang="en-US" sz="1600" b="1" dirty="0"/>
              <a:t>누가 이겼는지 예측하는 컨텐츠가 있습니다</a:t>
            </a:r>
            <a:r>
              <a:rPr lang="en-US" altLang="ko-KR" sz="1600" b="1" dirty="0"/>
              <a:t>.</a:t>
            </a:r>
            <a:br>
              <a:rPr lang="en-US" altLang="ko-KR" sz="1600" b="1" dirty="0"/>
            </a:br>
            <a:r>
              <a:rPr lang="ko-KR" altLang="en-US" sz="1600" b="1" dirty="0"/>
              <a:t>예측 성공 시 보상이 존재합니다</a:t>
            </a:r>
            <a:r>
              <a:rPr lang="en-US" altLang="ko-KR" sz="1600" b="1" dirty="0"/>
              <a:t>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04953C-95E5-0456-50BF-334A59F9C8E3}"/>
              </a:ext>
            </a:extLst>
          </p:cNvPr>
          <p:cNvSpPr txBox="1"/>
          <p:nvPr/>
        </p:nvSpPr>
        <p:spPr>
          <a:xfrm>
            <a:off x="4261339" y="1348372"/>
            <a:ext cx="36693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1" dirty="0"/>
              <a:t>Pick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a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Winner</a:t>
            </a:r>
          </a:p>
        </p:txBody>
      </p:sp>
      <p:pic>
        <p:nvPicPr>
          <p:cNvPr id="2" name="그래픽 1" descr="사용자">
            <a:extLst>
              <a:ext uri="{FF2B5EF4-FFF2-40B4-BE49-F238E27FC236}">
                <a16:creationId xmlns:a16="http://schemas.microsoft.com/office/drawing/2014/main" id="{A4820A6F-7E8F-0189-4967-BB926251B9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3987287" y="1789876"/>
            <a:ext cx="1971688" cy="1971682"/>
          </a:xfrm>
          <a:prstGeom prst="rect">
            <a:avLst/>
          </a:prstGeom>
        </p:spPr>
      </p:pic>
      <p:pic>
        <p:nvPicPr>
          <p:cNvPr id="4" name="그래픽 3" descr="사용자">
            <a:extLst>
              <a:ext uri="{FF2B5EF4-FFF2-40B4-BE49-F238E27FC236}">
                <a16:creationId xmlns:a16="http://schemas.microsoft.com/office/drawing/2014/main" id="{BBC0E04D-8172-D7F1-E78D-F39BF627FB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6233027" y="1789876"/>
            <a:ext cx="1971688" cy="19716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CE965F-177C-631A-2D13-A57AA94F9A76}"/>
              </a:ext>
            </a:extLst>
          </p:cNvPr>
          <p:cNvSpPr txBox="1"/>
          <p:nvPr/>
        </p:nvSpPr>
        <p:spPr>
          <a:xfrm>
            <a:off x="4261339" y="2360218"/>
            <a:ext cx="36693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800" b="1" dirty="0"/>
              <a:t>VS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C8E0593-1C7C-4852-7559-DF59368F9030}"/>
              </a:ext>
            </a:extLst>
          </p:cNvPr>
          <p:cNvSpPr/>
          <p:nvPr/>
        </p:nvSpPr>
        <p:spPr>
          <a:xfrm>
            <a:off x="4325431" y="3641338"/>
            <a:ext cx="1295399" cy="506357"/>
          </a:xfrm>
          <a:prstGeom prst="round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chemeClr val="tx1"/>
                </a:solidFill>
              </a:rPr>
              <a:t>Bet</a:t>
            </a:r>
            <a:endParaRPr lang="ko-KR" altLang="en-US" sz="2800" b="1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7320B25-F584-3B37-8C71-B431346C20E5}"/>
              </a:ext>
            </a:extLst>
          </p:cNvPr>
          <p:cNvSpPr/>
          <p:nvPr/>
        </p:nvSpPr>
        <p:spPr>
          <a:xfrm>
            <a:off x="6571171" y="3641338"/>
            <a:ext cx="1295399" cy="506357"/>
          </a:xfrm>
          <a:prstGeom prst="roundRect">
            <a:avLst/>
          </a:prstGeom>
          <a:solidFill>
            <a:schemeClr val="tx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>
                <a:solidFill>
                  <a:schemeClr val="bg1"/>
                </a:solidFill>
              </a:rPr>
              <a:t>Bet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7AF94D-1447-838C-528E-BE11819EC3C5}"/>
              </a:ext>
            </a:extLst>
          </p:cNvPr>
          <p:cNvSpPr txBox="1"/>
          <p:nvPr/>
        </p:nvSpPr>
        <p:spPr>
          <a:xfrm>
            <a:off x="3956842" y="2775716"/>
            <a:ext cx="197168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E2A62D-48A8-340F-C33E-68156B8FEDED}"/>
              </a:ext>
            </a:extLst>
          </p:cNvPr>
          <p:cNvSpPr txBox="1"/>
          <p:nvPr/>
        </p:nvSpPr>
        <p:spPr>
          <a:xfrm>
            <a:off x="6233027" y="2775716"/>
            <a:ext cx="197168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400" b="1" dirty="0"/>
              <a:t>B</a:t>
            </a:r>
          </a:p>
        </p:txBody>
      </p:sp>
      <p:pic>
        <p:nvPicPr>
          <p:cNvPr id="14" name="그래픽 13" descr="오른쪽을 가리키는 검지">
            <a:extLst>
              <a:ext uri="{FF2B5EF4-FFF2-40B4-BE49-F238E27FC236}">
                <a16:creationId xmlns:a16="http://schemas.microsoft.com/office/drawing/2014/main" id="{C5E54242-BEF9-E9CE-3F51-954442D350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4296867">
            <a:off x="7562350" y="3778798"/>
            <a:ext cx="914400" cy="914400"/>
          </a:xfrm>
          <a:prstGeom prst="rect">
            <a:avLst/>
          </a:prstGeom>
        </p:spPr>
      </p:pic>
      <p:pic>
        <p:nvPicPr>
          <p:cNvPr id="25" name="그래픽 24" descr="동전">
            <a:extLst>
              <a:ext uri="{FF2B5EF4-FFF2-40B4-BE49-F238E27FC236}">
                <a16:creationId xmlns:a16="http://schemas.microsoft.com/office/drawing/2014/main" id="{93AD4E93-8DD7-DA81-6D22-BD02DF10B30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99447" y="4083787"/>
            <a:ext cx="487712" cy="487712"/>
          </a:xfrm>
          <a:prstGeom prst="rect">
            <a:avLst/>
          </a:prstGeom>
        </p:spPr>
      </p:pic>
      <p:pic>
        <p:nvPicPr>
          <p:cNvPr id="26" name="그래픽 25" descr="동전">
            <a:extLst>
              <a:ext uri="{FF2B5EF4-FFF2-40B4-BE49-F238E27FC236}">
                <a16:creationId xmlns:a16="http://schemas.microsoft.com/office/drawing/2014/main" id="{8FB3C497-7C1D-4460-75A9-69A848EACB1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85663" y="3984844"/>
            <a:ext cx="487712" cy="487712"/>
          </a:xfrm>
          <a:prstGeom prst="rect">
            <a:avLst/>
          </a:prstGeom>
        </p:spPr>
      </p:pic>
      <p:pic>
        <p:nvPicPr>
          <p:cNvPr id="27" name="그래픽 26" descr="동전">
            <a:extLst>
              <a:ext uri="{FF2B5EF4-FFF2-40B4-BE49-F238E27FC236}">
                <a16:creationId xmlns:a16="http://schemas.microsoft.com/office/drawing/2014/main" id="{8DBEC4EB-8DC7-511A-A583-9C1FA8EB684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59609" y="3764249"/>
            <a:ext cx="487712" cy="487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9526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E0ED7-3878-A2C6-2F1E-3420E1F29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화살표: 아래쪽 6">
            <a:extLst>
              <a:ext uri="{FF2B5EF4-FFF2-40B4-BE49-F238E27FC236}">
                <a16:creationId xmlns:a16="http://schemas.microsoft.com/office/drawing/2014/main" id="{7B596452-343A-3511-2844-A408BD58628B}"/>
              </a:ext>
            </a:extLst>
          </p:cNvPr>
          <p:cNvSpPr/>
          <p:nvPr/>
        </p:nvSpPr>
        <p:spPr>
          <a:xfrm rot="10800000">
            <a:off x="1855186" y="2434938"/>
            <a:ext cx="1289536" cy="2257945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화살표: 아래쪽 12">
            <a:extLst>
              <a:ext uri="{FF2B5EF4-FFF2-40B4-BE49-F238E27FC236}">
                <a16:creationId xmlns:a16="http://schemas.microsoft.com/office/drawing/2014/main" id="{8763CC41-9628-5C34-A61C-9491A3163E26}"/>
              </a:ext>
            </a:extLst>
          </p:cNvPr>
          <p:cNvSpPr/>
          <p:nvPr/>
        </p:nvSpPr>
        <p:spPr>
          <a:xfrm rot="10800000">
            <a:off x="1280752" y="3201638"/>
            <a:ext cx="917329" cy="1491244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화살표: 아래쪽 14">
            <a:extLst>
              <a:ext uri="{FF2B5EF4-FFF2-40B4-BE49-F238E27FC236}">
                <a16:creationId xmlns:a16="http://schemas.microsoft.com/office/drawing/2014/main" id="{331DC6CB-63AC-6DC0-C8FA-C4DF870256DB}"/>
              </a:ext>
            </a:extLst>
          </p:cNvPr>
          <p:cNvSpPr/>
          <p:nvPr/>
        </p:nvSpPr>
        <p:spPr>
          <a:xfrm rot="10800000">
            <a:off x="2801829" y="3201638"/>
            <a:ext cx="917329" cy="1491244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801625-7C4A-34F1-7AAA-7C5C6E9487C3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업데이트 제안</a:t>
            </a:r>
            <a:r>
              <a:rPr lang="en-US" altLang="ko-KR" sz="2000" b="1" dirty="0"/>
              <a:t>: </a:t>
            </a:r>
            <a:r>
              <a:rPr lang="ko-KR" altLang="en-US" sz="2000" b="1" dirty="0"/>
              <a:t>위클리 아레나 </a:t>
            </a:r>
            <a:r>
              <a:rPr lang="en-US" altLang="ko-KR" sz="2000" b="1" dirty="0"/>
              <a:t>– </a:t>
            </a:r>
            <a:r>
              <a:rPr lang="ko-KR" altLang="en-US" sz="2000" b="1" dirty="0"/>
              <a:t>관련 유료 상품 설정</a:t>
            </a:r>
            <a:endParaRPr lang="en-US" altLang="ko-KR" sz="2000" b="1" dirty="0"/>
          </a:p>
        </p:txBody>
      </p:sp>
      <p:pic>
        <p:nvPicPr>
          <p:cNvPr id="3" name="그래픽 2" descr="진저브레드 쿠키">
            <a:extLst>
              <a:ext uri="{FF2B5EF4-FFF2-40B4-BE49-F238E27FC236}">
                <a16:creationId xmlns:a16="http://schemas.microsoft.com/office/drawing/2014/main" id="{102929B4-7DD2-2B7D-472C-B5EDB77BBE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8852" y="2371870"/>
            <a:ext cx="2438400" cy="2438400"/>
          </a:xfrm>
          <a:prstGeom prst="rect">
            <a:avLst/>
          </a:prstGeom>
          <a:effectLst>
            <a:glow rad="177800">
              <a:srgbClr val="C00000">
                <a:alpha val="70000"/>
              </a:srgbClr>
            </a:glow>
          </a:effectLst>
        </p:spPr>
      </p:pic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1735ADA9-2F24-16A5-9D80-3DE6A0FFEE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186471"/>
              </p:ext>
            </p:extLst>
          </p:nvPr>
        </p:nvGraphicFramePr>
        <p:xfrm>
          <a:off x="4308230" y="1972041"/>
          <a:ext cx="6770078" cy="345807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15136">
                  <a:extLst>
                    <a:ext uri="{9D8B030D-6E8A-4147-A177-3AD203B41FA5}">
                      <a16:colId xmlns:a16="http://schemas.microsoft.com/office/drawing/2014/main" val="1600296772"/>
                    </a:ext>
                  </a:extLst>
                </a:gridCol>
                <a:gridCol w="5254942">
                  <a:extLst>
                    <a:ext uri="{9D8B030D-6E8A-4147-A177-3AD203B41FA5}">
                      <a16:colId xmlns:a16="http://schemas.microsoft.com/office/drawing/2014/main" val="4250006313"/>
                    </a:ext>
                  </a:extLst>
                </a:gridCol>
              </a:tblGrid>
              <a:tr h="42342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/>
                        <a:t>주간 시즌 버프 </a:t>
                      </a:r>
                      <a:r>
                        <a:rPr lang="ko-KR" altLang="en-US" sz="1800" b="1" dirty="0" err="1"/>
                        <a:t>강화권</a:t>
                      </a:r>
                      <a:endParaRPr lang="ko-KR" altLang="en-US" sz="1800" b="1" dirty="0"/>
                    </a:p>
                  </a:txBody>
                  <a:tcPr marL="104405" marR="104405" marT="52203" marB="52203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444430"/>
                  </a:ext>
                </a:extLst>
              </a:tr>
              <a:tr h="4234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구매조건</a:t>
                      </a:r>
                    </a:p>
                  </a:txBody>
                  <a:tcPr marL="104405" marR="104405" marT="52203" marB="5220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주간 시즌마다 </a:t>
                      </a:r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/>
                        <a:t>회 구매 가능</a:t>
                      </a:r>
                    </a:p>
                  </a:txBody>
                  <a:tcPr marL="104405" marR="104405" marT="52203" marB="52203" anchor="ctr"/>
                </a:tc>
                <a:extLst>
                  <a:ext uri="{0D108BD9-81ED-4DB2-BD59-A6C34878D82A}">
                    <a16:rowId xmlns:a16="http://schemas.microsoft.com/office/drawing/2014/main" val="4080355644"/>
                  </a:ext>
                </a:extLst>
              </a:tr>
              <a:tr h="4234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예상 판매가격</a:t>
                      </a:r>
                    </a:p>
                  </a:txBody>
                  <a:tcPr marL="104405" marR="104405" marT="52203" marB="5220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\3,000</a:t>
                      </a:r>
                      <a:endParaRPr lang="ko-KR" altLang="en-US" sz="1400" dirty="0"/>
                    </a:p>
                  </a:txBody>
                  <a:tcPr marL="104405" marR="104405" marT="52203" marB="52203" anchor="ctr"/>
                </a:tc>
                <a:extLst>
                  <a:ext uri="{0D108BD9-81ED-4DB2-BD59-A6C34878D82A}">
                    <a16:rowId xmlns:a16="http://schemas.microsoft.com/office/drawing/2014/main" val="1897119831"/>
                  </a:ext>
                </a:extLst>
              </a:tr>
              <a:tr h="4234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특이사항</a:t>
                      </a:r>
                    </a:p>
                  </a:txBody>
                  <a:tcPr marL="104405" marR="104405" marT="52203" marB="5220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사용 기간</a:t>
                      </a:r>
                      <a:r>
                        <a:rPr lang="en-US" altLang="ko-KR" sz="1400" dirty="0"/>
                        <a:t>: </a:t>
                      </a:r>
                      <a:r>
                        <a:rPr lang="ko-KR" altLang="en-US" sz="1400" dirty="0"/>
                        <a:t>구입한 시즌동안</a:t>
                      </a:r>
                    </a:p>
                  </a:txBody>
                  <a:tcPr marL="104405" marR="104405" marT="52203" marB="52203" anchor="ctr"/>
                </a:tc>
                <a:extLst>
                  <a:ext uri="{0D108BD9-81ED-4DB2-BD59-A6C34878D82A}">
                    <a16:rowId xmlns:a16="http://schemas.microsoft.com/office/drawing/2014/main" val="1559702897"/>
                  </a:ext>
                </a:extLst>
              </a:tr>
              <a:tr h="17643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설명</a:t>
                      </a:r>
                    </a:p>
                  </a:txBody>
                  <a:tcPr marL="104405" marR="104405" marT="52203" marB="5220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한 시즌동안 </a:t>
                      </a:r>
                      <a:r>
                        <a:rPr lang="en-US" altLang="ko-KR" sz="1400" dirty="0"/>
                        <a:t>‘</a:t>
                      </a:r>
                      <a:r>
                        <a:rPr lang="ko-KR" altLang="en-US" sz="1400" dirty="0"/>
                        <a:t>주간 시즌 버프</a:t>
                      </a:r>
                      <a:r>
                        <a:rPr lang="en-US" altLang="ko-KR" sz="1400" dirty="0"/>
                        <a:t>’</a:t>
                      </a:r>
                      <a:r>
                        <a:rPr lang="ko-KR" altLang="en-US" sz="1400" dirty="0"/>
                        <a:t> 효과를 </a:t>
                      </a:r>
                      <a:r>
                        <a:rPr lang="en-US" altLang="ko-KR" sz="1400" dirty="0"/>
                        <a:t>n% </a:t>
                      </a:r>
                      <a:r>
                        <a:rPr lang="ko-KR" altLang="en-US" sz="1400" dirty="0"/>
                        <a:t>상승시킨다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 marL="104405" marR="104405" marT="52203" marB="52203" anchor="ctr"/>
                </a:tc>
                <a:extLst>
                  <a:ext uri="{0D108BD9-81ED-4DB2-BD59-A6C34878D82A}">
                    <a16:rowId xmlns:a16="http://schemas.microsoft.com/office/drawing/2014/main" val="3112531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9159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05362-DA4D-F933-0CA4-4DA1B8F58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래픽 7" descr="상자">
            <a:extLst>
              <a:ext uri="{FF2B5EF4-FFF2-40B4-BE49-F238E27FC236}">
                <a16:creationId xmlns:a16="http://schemas.microsoft.com/office/drawing/2014/main" id="{3FA2302D-02EB-6DE7-1E0D-59B7F892A0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75333" y="3525115"/>
            <a:ext cx="2520459" cy="19049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D92F557-8902-6A2F-DD31-F8D688621094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업데이트 제안</a:t>
            </a:r>
            <a:r>
              <a:rPr lang="en-US" altLang="ko-KR" sz="2000" b="1" dirty="0"/>
              <a:t>: </a:t>
            </a:r>
            <a:r>
              <a:rPr lang="ko-KR" altLang="en-US" sz="2000" b="1" dirty="0"/>
              <a:t>위클리 아레나 </a:t>
            </a:r>
            <a:r>
              <a:rPr lang="en-US" altLang="ko-KR" sz="2000" b="1" dirty="0"/>
              <a:t>– </a:t>
            </a:r>
            <a:r>
              <a:rPr lang="ko-KR" altLang="en-US" sz="2000" b="1" dirty="0"/>
              <a:t>관련 유료 상품 설정</a:t>
            </a:r>
            <a:endParaRPr lang="en-US" altLang="ko-KR" sz="2000" b="1" dirty="0"/>
          </a:p>
        </p:txBody>
      </p:sp>
      <p:pic>
        <p:nvPicPr>
          <p:cNvPr id="3" name="그래픽 2" descr="진저브레드 쿠키">
            <a:extLst>
              <a:ext uri="{FF2B5EF4-FFF2-40B4-BE49-F238E27FC236}">
                <a16:creationId xmlns:a16="http://schemas.microsoft.com/office/drawing/2014/main" id="{AE633466-5B74-AF63-3B8D-9BB539BA4E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37946" y="2150150"/>
            <a:ext cx="2033954" cy="2033954"/>
          </a:xfrm>
          <a:prstGeom prst="rect">
            <a:avLst/>
          </a:prstGeom>
          <a:effectLst/>
        </p:spPr>
      </p:pic>
      <p:pic>
        <p:nvPicPr>
          <p:cNvPr id="2" name="그래픽 1" descr="동전">
            <a:extLst>
              <a:ext uri="{FF2B5EF4-FFF2-40B4-BE49-F238E27FC236}">
                <a16:creationId xmlns:a16="http://schemas.microsoft.com/office/drawing/2014/main" id="{3DE71255-E9E6-6CA1-EBD3-F1EA2FFDFE8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4844" y="3711569"/>
            <a:ext cx="1002312" cy="1002312"/>
          </a:xfrm>
          <a:prstGeom prst="rect">
            <a:avLst/>
          </a:prstGeom>
        </p:spPr>
      </p:pic>
      <p:pic>
        <p:nvPicPr>
          <p:cNvPr id="4" name="그래픽 3" descr="동전">
            <a:extLst>
              <a:ext uri="{FF2B5EF4-FFF2-40B4-BE49-F238E27FC236}">
                <a16:creationId xmlns:a16="http://schemas.microsoft.com/office/drawing/2014/main" id="{9E027525-C19C-100B-9BC6-E516897522D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4054" y="3239034"/>
            <a:ext cx="1002312" cy="1002312"/>
          </a:xfrm>
          <a:prstGeom prst="rect">
            <a:avLst/>
          </a:prstGeom>
        </p:spPr>
      </p:pic>
      <p:pic>
        <p:nvPicPr>
          <p:cNvPr id="5" name="그래픽 4" descr="동전">
            <a:extLst>
              <a:ext uri="{FF2B5EF4-FFF2-40B4-BE49-F238E27FC236}">
                <a16:creationId xmlns:a16="http://schemas.microsoft.com/office/drawing/2014/main" id="{98651874-3093-ECEB-89A1-708F3506862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55135" y="3871245"/>
            <a:ext cx="1002312" cy="1002312"/>
          </a:xfrm>
          <a:prstGeom prst="rect">
            <a:avLst/>
          </a:prstGeom>
        </p:spPr>
      </p:pic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099A1979-4671-D0E6-AD33-3B895E17C0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333888"/>
              </p:ext>
            </p:extLst>
          </p:nvPr>
        </p:nvGraphicFramePr>
        <p:xfrm>
          <a:off x="4308230" y="1972041"/>
          <a:ext cx="6770078" cy="347039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15136">
                  <a:extLst>
                    <a:ext uri="{9D8B030D-6E8A-4147-A177-3AD203B41FA5}">
                      <a16:colId xmlns:a16="http://schemas.microsoft.com/office/drawing/2014/main" val="1600296772"/>
                    </a:ext>
                  </a:extLst>
                </a:gridCol>
                <a:gridCol w="5254942">
                  <a:extLst>
                    <a:ext uri="{9D8B030D-6E8A-4147-A177-3AD203B41FA5}">
                      <a16:colId xmlns:a16="http://schemas.microsoft.com/office/drawing/2014/main" val="4250006313"/>
                    </a:ext>
                  </a:extLst>
                </a:gridCol>
              </a:tblGrid>
              <a:tr h="42342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/>
                        <a:t>주간 시즌 캐릭터 패키지</a:t>
                      </a:r>
                    </a:p>
                  </a:txBody>
                  <a:tcPr marL="104405" marR="104405" marT="52203" marB="52203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444430"/>
                  </a:ext>
                </a:extLst>
              </a:tr>
              <a:tr h="4234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구매조건</a:t>
                      </a:r>
                    </a:p>
                  </a:txBody>
                  <a:tcPr marL="104405" marR="104405" marT="52203" marB="5220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주간 시즌마다 주간 시즌 캐릭터 종류 별로 </a:t>
                      </a:r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/>
                        <a:t>회 구매 가능</a:t>
                      </a:r>
                    </a:p>
                  </a:txBody>
                  <a:tcPr marL="104405" marR="104405" marT="52203" marB="52203" anchor="ctr"/>
                </a:tc>
                <a:extLst>
                  <a:ext uri="{0D108BD9-81ED-4DB2-BD59-A6C34878D82A}">
                    <a16:rowId xmlns:a16="http://schemas.microsoft.com/office/drawing/2014/main" val="4080355644"/>
                  </a:ext>
                </a:extLst>
              </a:tr>
              <a:tr h="4234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예상 판매가격</a:t>
                      </a:r>
                    </a:p>
                  </a:txBody>
                  <a:tcPr marL="104405" marR="104405" marT="52203" marB="5220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\5,000</a:t>
                      </a:r>
                      <a:endParaRPr lang="ko-KR" altLang="en-US" sz="1400" dirty="0"/>
                    </a:p>
                  </a:txBody>
                  <a:tcPr marL="104405" marR="104405" marT="52203" marB="52203" anchor="ctr"/>
                </a:tc>
                <a:extLst>
                  <a:ext uri="{0D108BD9-81ED-4DB2-BD59-A6C34878D82A}">
                    <a16:rowId xmlns:a16="http://schemas.microsoft.com/office/drawing/2014/main" val="1897119831"/>
                  </a:ext>
                </a:extLst>
              </a:tr>
              <a:tr h="10410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특이사항</a:t>
                      </a:r>
                    </a:p>
                  </a:txBody>
                  <a:tcPr marL="104405" marR="104405" marT="52203" marB="5220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패키지 아이템 목록</a:t>
                      </a:r>
                      <a:r>
                        <a:rPr lang="en-US" altLang="ko-KR" sz="1400" dirty="0"/>
                        <a:t>:</a:t>
                      </a:r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‘</a:t>
                      </a:r>
                      <a:r>
                        <a:rPr lang="ko-KR" altLang="en-US" sz="1400" dirty="0"/>
                        <a:t>주간 시즌 캐릭터</a:t>
                      </a:r>
                      <a:r>
                        <a:rPr lang="en-US" altLang="ko-KR" sz="1400" dirty="0"/>
                        <a:t>’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*1</a:t>
                      </a:r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‘</a:t>
                      </a:r>
                      <a:r>
                        <a:rPr lang="ko-KR" altLang="en-US" sz="1400" dirty="0"/>
                        <a:t>주간 시즌 캐릭터</a:t>
                      </a:r>
                      <a:r>
                        <a:rPr lang="en-US" altLang="ko-KR" sz="1400" dirty="0"/>
                        <a:t>’</a:t>
                      </a:r>
                      <a:r>
                        <a:rPr lang="ko-KR" altLang="en-US" sz="1400" dirty="0"/>
                        <a:t> 전용 성장 재화 및 기타 성장 재화</a:t>
                      </a:r>
                    </a:p>
                  </a:txBody>
                  <a:tcPr marL="104405" marR="104405" marT="52203" marB="52203" anchor="ctr"/>
                </a:tc>
                <a:extLst>
                  <a:ext uri="{0D108BD9-81ED-4DB2-BD59-A6C34878D82A}">
                    <a16:rowId xmlns:a16="http://schemas.microsoft.com/office/drawing/2014/main" val="1559702897"/>
                  </a:ext>
                </a:extLst>
              </a:tr>
              <a:tr h="11590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설명</a:t>
                      </a:r>
                    </a:p>
                  </a:txBody>
                  <a:tcPr marL="104405" marR="104405" marT="52203" marB="52203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‘</a:t>
                      </a:r>
                      <a:r>
                        <a:rPr lang="ko-KR" altLang="en-US" sz="1400" dirty="0"/>
                        <a:t>주간 시즌 캐릭터</a:t>
                      </a:r>
                      <a:r>
                        <a:rPr lang="en-US" altLang="ko-KR" sz="1400" dirty="0"/>
                        <a:t>’</a:t>
                      </a:r>
                      <a:r>
                        <a:rPr lang="ko-KR" altLang="en-US" sz="1400" dirty="0"/>
                        <a:t>를 즉시 획득하고 강화할 수 있는</a:t>
                      </a:r>
                      <a:endParaRPr lang="en-US" altLang="ko-KR" sz="1400" dirty="0"/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유료 패키지 아이템이다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 marL="104405" marR="104405" marT="52203" marB="52203" anchor="ctr"/>
                </a:tc>
                <a:extLst>
                  <a:ext uri="{0D108BD9-81ED-4DB2-BD59-A6C34878D82A}">
                    <a16:rowId xmlns:a16="http://schemas.microsoft.com/office/drawing/2014/main" val="3112531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57282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F98B8-DCD5-5A96-EB4A-7182AF61D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0683817-0802-D6F0-BA01-19284231CA8F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업데이트 제안</a:t>
            </a:r>
            <a:r>
              <a:rPr lang="en-US" altLang="ko-KR" sz="2000" b="1" dirty="0"/>
              <a:t>: </a:t>
            </a:r>
            <a:r>
              <a:rPr lang="ko-KR" altLang="en-US" sz="2000" b="1" dirty="0"/>
              <a:t>위클리 아레나 </a:t>
            </a:r>
            <a:r>
              <a:rPr lang="en-US" altLang="ko-KR" sz="2000" b="1" dirty="0"/>
              <a:t>– </a:t>
            </a:r>
            <a:r>
              <a:rPr lang="ko-KR" altLang="en-US" sz="2000" b="1" dirty="0"/>
              <a:t>기대 효과</a:t>
            </a:r>
            <a:endParaRPr lang="en-US" altLang="ko-KR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9641F1-7F30-D9EB-36F5-19D3DCADB986}"/>
              </a:ext>
            </a:extLst>
          </p:cNvPr>
          <p:cNvSpPr txBox="1"/>
          <p:nvPr/>
        </p:nvSpPr>
        <p:spPr>
          <a:xfrm>
            <a:off x="3212218" y="4778435"/>
            <a:ext cx="5767564" cy="783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/>
              <a:t>주 단위의 컨텐츠 및 유료 아이템 설정으로</a:t>
            </a: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ko-KR" altLang="en-US" sz="1600" b="1" dirty="0"/>
              <a:t>정기적인 지출을 유도합니다</a:t>
            </a:r>
            <a:r>
              <a:rPr lang="en-US" altLang="ko-KR" sz="1600" b="1" dirty="0"/>
              <a:t>.</a:t>
            </a:r>
          </a:p>
        </p:txBody>
      </p:sp>
      <p:pic>
        <p:nvPicPr>
          <p:cNvPr id="20" name="그래픽 19" descr="월 단위 달력">
            <a:extLst>
              <a:ext uri="{FF2B5EF4-FFF2-40B4-BE49-F238E27FC236}">
                <a16:creationId xmlns:a16="http://schemas.microsoft.com/office/drawing/2014/main" id="{D562ADC4-D862-885C-2A81-AC8B59757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87716" y="1586975"/>
            <a:ext cx="2596662" cy="2596662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D807B2E8-83B8-D683-7711-CB02D54EB16E}"/>
              </a:ext>
            </a:extLst>
          </p:cNvPr>
          <p:cNvSpPr/>
          <p:nvPr/>
        </p:nvSpPr>
        <p:spPr>
          <a:xfrm>
            <a:off x="4484078" y="2685251"/>
            <a:ext cx="2206869" cy="40011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9FA11B-CCCE-4183-B73D-A78152C5B9A1}"/>
              </a:ext>
            </a:extLst>
          </p:cNvPr>
          <p:cNvSpPr txBox="1"/>
          <p:nvPr/>
        </p:nvSpPr>
        <p:spPr>
          <a:xfrm>
            <a:off x="6374918" y="1751393"/>
            <a:ext cx="10189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400" b="1" dirty="0"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\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72BEF8-18BC-5179-218A-9CCFB246FC32}"/>
              </a:ext>
            </a:extLst>
          </p:cNvPr>
          <p:cNvSpPr txBox="1"/>
          <p:nvPr/>
        </p:nvSpPr>
        <p:spPr>
          <a:xfrm>
            <a:off x="6793843" y="2228446"/>
            <a:ext cx="1018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200" b="1" dirty="0"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\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DC14D2-77DF-6C10-6519-BBC28375640D}"/>
              </a:ext>
            </a:extLst>
          </p:cNvPr>
          <p:cNvSpPr txBox="1"/>
          <p:nvPr/>
        </p:nvSpPr>
        <p:spPr>
          <a:xfrm>
            <a:off x="6516524" y="2582388"/>
            <a:ext cx="1018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b="1" dirty="0"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\</a:t>
            </a:r>
          </a:p>
        </p:txBody>
      </p:sp>
    </p:spTree>
    <p:extLst>
      <p:ext uri="{BB962C8B-B14F-4D97-AF65-F5344CB8AC3E}">
        <p14:creationId xmlns:p14="http://schemas.microsoft.com/office/powerpoint/2010/main" val="23521669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55FF9-E9E5-9F08-F6A3-67FD9B2B0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EACFA32-7A60-CFDD-7F48-C8471A30F838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업데이트 제안</a:t>
            </a:r>
            <a:r>
              <a:rPr lang="en-US" altLang="ko-KR" sz="2000" b="1" dirty="0"/>
              <a:t>: </a:t>
            </a:r>
            <a:r>
              <a:rPr lang="ko-KR" altLang="en-US" sz="2000" b="1" dirty="0"/>
              <a:t>위클리 아레나 </a:t>
            </a:r>
            <a:r>
              <a:rPr lang="en-US" altLang="ko-KR" sz="2000" b="1" dirty="0"/>
              <a:t>– </a:t>
            </a:r>
            <a:r>
              <a:rPr lang="ko-KR" altLang="en-US" sz="2000" b="1" dirty="0"/>
              <a:t>기대 효과</a:t>
            </a:r>
            <a:endParaRPr lang="en-US" altLang="ko-KR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CA7465-E318-F669-6B73-3EA88E717B91}"/>
              </a:ext>
            </a:extLst>
          </p:cNvPr>
          <p:cNvSpPr txBox="1"/>
          <p:nvPr/>
        </p:nvSpPr>
        <p:spPr>
          <a:xfrm>
            <a:off x="3212218" y="4778435"/>
            <a:ext cx="5767564" cy="783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/>
              <a:t>유입</a:t>
            </a:r>
            <a:r>
              <a:rPr lang="en-US" altLang="ko-KR" sz="1600" dirty="0"/>
              <a:t>/</a:t>
            </a:r>
            <a:r>
              <a:rPr lang="ko-KR" altLang="en-US" sz="1600" dirty="0"/>
              <a:t>학습 시</a:t>
            </a:r>
            <a:r>
              <a:rPr lang="en-US" altLang="ko-KR" sz="1600" dirty="0"/>
              <a:t> </a:t>
            </a:r>
            <a:r>
              <a:rPr lang="ko-KR" altLang="en-US" sz="1600" dirty="0"/>
              <a:t>기존 컨텐츠와는 또 다른 재미의 컨텐츠 제시로</a:t>
            </a: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ko-KR" altLang="en-US" sz="1600" dirty="0"/>
              <a:t>다양한 취향의 유저를 끌어들여 </a:t>
            </a:r>
            <a:r>
              <a:rPr lang="ko-KR" altLang="en-US" sz="1600" b="1" dirty="0"/>
              <a:t>이탈을 최소화 합니다</a:t>
            </a:r>
            <a:r>
              <a:rPr lang="en-US" altLang="ko-KR" sz="1600" b="1" dirty="0"/>
              <a:t>.</a:t>
            </a:r>
          </a:p>
        </p:txBody>
      </p:sp>
      <p:pic>
        <p:nvPicPr>
          <p:cNvPr id="7" name="그래픽 6" descr="사용자">
            <a:extLst>
              <a:ext uri="{FF2B5EF4-FFF2-40B4-BE49-F238E27FC236}">
                <a16:creationId xmlns:a16="http://schemas.microsoft.com/office/drawing/2014/main" id="{05A02804-960B-E8E8-4AA6-1E2423F645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2420340"/>
            <a:ext cx="1839160" cy="1839156"/>
          </a:xfrm>
          <a:prstGeom prst="rect">
            <a:avLst/>
          </a:prstGeom>
        </p:spPr>
      </p:pic>
      <p:sp>
        <p:nvSpPr>
          <p:cNvPr id="13" name="타원 12">
            <a:extLst>
              <a:ext uri="{FF2B5EF4-FFF2-40B4-BE49-F238E27FC236}">
                <a16:creationId xmlns:a16="http://schemas.microsoft.com/office/drawing/2014/main" id="{C8424FB8-1EDF-DCB2-C734-054201E99063}"/>
              </a:ext>
            </a:extLst>
          </p:cNvPr>
          <p:cNvSpPr/>
          <p:nvPr/>
        </p:nvSpPr>
        <p:spPr>
          <a:xfrm>
            <a:off x="7553863" y="3393000"/>
            <a:ext cx="72000" cy="72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CFF9AD78-85EB-D6B4-5202-56F0BF485E42}"/>
              </a:ext>
            </a:extLst>
          </p:cNvPr>
          <p:cNvSpPr/>
          <p:nvPr/>
        </p:nvSpPr>
        <p:spPr>
          <a:xfrm>
            <a:off x="7661863" y="3232788"/>
            <a:ext cx="144000" cy="144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A40A2591-0124-0BBE-A512-59C02F4201C9}"/>
              </a:ext>
            </a:extLst>
          </p:cNvPr>
          <p:cNvSpPr/>
          <p:nvPr/>
        </p:nvSpPr>
        <p:spPr>
          <a:xfrm>
            <a:off x="7733863" y="2380765"/>
            <a:ext cx="1048235" cy="1048235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400" b="1" dirty="0">
                <a:solidFill>
                  <a:schemeClr val="tx1"/>
                </a:solidFill>
              </a:rPr>
              <a:t>!</a:t>
            </a:r>
            <a:endParaRPr lang="ko-KR" altLang="en-US" sz="5400" b="1" dirty="0">
              <a:solidFill>
                <a:schemeClr val="tx1"/>
              </a:solidFill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7B030F0D-685A-13CE-D476-489328A01FFD}"/>
              </a:ext>
            </a:extLst>
          </p:cNvPr>
          <p:cNvSpPr/>
          <p:nvPr/>
        </p:nvSpPr>
        <p:spPr>
          <a:xfrm>
            <a:off x="8868905" y="2380765"/>
            <a:ext cx="1048235" cy="1048235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00" b="1" dirty="0">
              <a:solidFill>
                <a:schemeClr val="tx1"/>
              </a:solidFill>
            </a:endParaRPr>
          </a:p>
        </p:txBody>
      </p:sp>
      <p:pic>
        <p:nvPicPr>
          <p:cNvPr id="18" name="그래픽 17" descr="톱니바퀴">
            <a:extLst>
              <a:ext uri="{FF2B5EF4-FFF2-40B4-BE49-F238E27FC236}">
                <a16:creationId xmlns:a16="http://schemas.microsoft.com/office/drawing/2014/main" id="{85332297-FD68-3123-D688-1C2345DC68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40905" y="2453831"/>
            <a:ext cx="914400" cy="914400"/>
          </a:xfrm>
          <a:prstGeom prst="rect">
            <a:avLst/>
          </a:prstGeom>
        </p:spPr>
      </p:pic>
      <p:pic>
        <p:nvPicPr>
          <p:cNvPr id="19" name="Picture 2" descr="아레나">
            <a:extLst>
              <a:ext uri="{FF2B5EF4-FFF2-40B4-BE49-F238E27FC236}">
                <a16:creationId xmlns:a16="http://schemas.microsoft.com/office/drawing/2014/main" id="{4042A5AC-C149-5F3D-14A7-EF0501D712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16000" contrast="4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991531" y="2225857"/>
            <a:ext cx="3042634" cy="195742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237745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E46C9-BB88-F639-831C-BCEF815E3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9DF1299-C4D9-EB79-178A-D3D8A9393A8A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업데이트 제안</a:t>
            </a:r>
            <a:r>
              <a:rPr lang="en-US" altLang="ko-KR" sz="2000" b="1" dirty="0"/>
              <a:t>: </a:t>
            </a:r>
            <a:r>
              <a:rPr lang="ko-KR" altLang="en-US" sz="2000" b="1" dirty="0"/>
              <a:t>위클리 아레나 </a:t>
            </a:r>
            <a:r>
              <a:rPr lang="en-US" altLang="ko-KR" sz="2000" b="1" dirty="0"/>
              <a:t>– </a:t>
            </a:r>
            <a:r>
              <a:rPr lang="ko-KR" altLang="en-US" sz="2000" b="1" dirty="0"/>
              <a:t>기대 효과</a:t>
            </a:r>
            <a:endParaRPr lang="en-US" altLang="ko-KR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27A830-06DE-1D7D-020E-5C75575B9F3A}"/>
              </a:ext>
            </a:extLst>
          </p:cNvPr>
          <p:cNvSpPr txBox="1"/>
          <p:nvPr/>
        </p:nvSpPr>
        <p:spPr>
          <a:xfrm>
            <a:off x="3639239" y="4778435"/>
            <a:ext cx="5767564" cy="783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/>
              <a:t>단계적 보상의 컨텐츠 추가로</a:t>
            </a:r>
            <a:br>
              <a:rPr lang="en-US" altLang="ko-KR" sz="1600" dirty="0"/>
            </a:br>
            <a:r>
              <a:rPr lang="ko-KR" altLang="en-US" sz="1600" dirty="0"/>
              <a:t>결제 심리를 자극하여 </a:t>
            </a:r>
            <a:r>
              <a:rPr lang="ko-KR" altLang="en-US" sz="1600" b="1" dirty="0"/>
              <a:t>비용을 매몰시킬 수 있습니다</a:t>
            </a:r>
            <a:r>
              <a:rPr lang="en-US" altLang="ko-KR" sz="1600" b="1" dirty="0"/>
              <a:t>.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F1B834D4-0B96-5141-F701-0B65F2C90EB5}"/>
              </a:ext>
            </a:extLst>
          </p:cNvPr>
          <p:cNvSpPr/>
          <p:nvPr/>
        </p:nvSpPr>
        <p:spPr>
          <a:xfrm>
            <a:off x="7542936" y="2137974"/>
            <a:ext cx="72000" cy="72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25E58B6F-7A0D-2D13-29E6-F62CFBFD2852}"/>
              </a:ext>
            </a:extLst>
          </p:cNvPr>
          <p:cNvSpPr/>
          <p:nvPr/>
        </p:nvSpPr>
        <p:spPr>
          <a:xfrm>
            <a:off x="7351492" y="1978811"/>
            <a:ext cx="144000" cy="144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6665684B-1A76-56E1-99BB-1DCD1C153D97}"/>
              </a:ext>
            </a:extLst>
          </p:cNvPr>
          <p:cNvSpPr/>
          <p:nvPr/>
        </p:nvSpPr>
        <p:spPr>
          <a:xfrm>
            <a:off x="6339252" y="1146295"/>
            <a:ext cx="1048235" cy="1048235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800" b="1" dirty="0">
                <a:solidFill>
                  <a:schemeClr val="tx1"/>
                </a:solidFill>
              </a:rPr>
              <a:t>\?</a:t>
            </a:r>
            <a:endParaRPr lang="ko-KR" altLang="en-US" sz="4800" b="1" dirty="0">
              <a:solidFill>
                <a:schemeClr val="tx1"/>
              </a:solidFill>
            </a:endParaRPr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BE31EFCF-2477-132B-0CFC-E9F49D12FFCC}"/>
              </a:ext>
            </a:extLst>
          </p:cNvPr>
          <p:cNvGrpSpPr/>
          <p:nvPr/>
        </p:nvGrpSpPr>
        <p:grpSpPr>
          <a:xfrm>
            <a:off x="2682909" y="2024610"/>
            <a:ext cx="6919396" cy="2587349"/>
            <a:chOff x="4990236" y="2599235"/>
            <a:chExt cx="5627096" cy="2104123"/>
          </a:xfrm>
        </p:grpSpPr>
        <p:pic>
          <p:nvPicPr>
            <p:cNvPr id="72" name="그림 71">
              <a:extLst>
                <a:ext uri="{FF2B5EF4-FFF2-40B4-BE49-F238E27FC236}">
                  <a16:creationId xmlns:a16="http://schemas.microsoft.com/office/drawing/2014/main" id="{81442754-E263-329F-29E5-68DD182D64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90236" y="2904882"/>
              <a:ext cx="5627096" cy="1798476"/>
            </a:xfrm>
            <a:prstGeom prst="rect">
              <a:avLst/>
            </a:prstGeom>
          </p:spPr>
        </p:pic>
        <p:pic>
          <p:nvPicPr>
            <p:cNvPr id="76" name="그림 75">
              <a:extLst>
                <a:ext uri="{FF2B5EF4-FFF2-40B4-BE49-F238E27FC236}">
                  <a16:creationId xmlns:a16="http://schemas.microsoft.com/office/drawing/2014/main" id="{D96924EE-97B4-B526-1010-A7BC1FD236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38624" y="2599235"/>
              <a:ext cx="755970" cy="908383"/>
            </a:xfrm>
            <a:prstGeom prst="rect">
              <a:avLst/>
            </a:prstGeom>
          </p:spPr>
        </p:pic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0ED51A85-C041-D49F-F442-0EE670C17CE9}"/>
                </a:ext>
              </a:extLst>
            </p:cNvPr>
            <p:cNvSpPr/>
            <p:nvPr/>
          </p:nvSpPr>
          <p:spPr>
            <a:xfrm>
              <a:off x="6628099" y="3021208"/>
              <a:ext cx="660903" cy="660903"/>
            </a:xfrm>
            <a:prstGeom prst="roundRect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사각형: 둥근 모서리 77">
              <a:extLst>
                <a:ext uri="{FF2B5EF4-FFF2-40B4-BE49-F238E27FC236}">
                  <a16:creationId xmlns:a16="http://schemas.microsoft.com/office/drawing/2014/main" id="{D316223A-A3CB-3F44-50A3-FF584DDA965E}"/>
                </a:ext>
              </a:extLst>
            </p:cNvPr>
            <p:cNvSpPr/>
            <p:nvPr/>
          </p:nvSpPr>
          <p:spPr>
            <a:xfrm>
              <a:off x="7452247" y="3021208"/>
              <a:ext cx="660903" cy="660903"/>
            </a:xfrm>
            <a:prstGeom prst="roundRect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사각형: 둥근 모서리 78">
              <a:extLst>
                <a:ext uri="{FF2B5EF4-FFF2-40B4-BE49-F238E27FC236}">
                  <a16:creationId xmlns:a16="http://schemas.microsoft.com/office/drawing/2014/main" id="{C8E5F6BE-0892-B473-C1C2-6EAE0C950D18}"/>
                </a:ext>
              </a:extLst>
            </p:cNvPr>
            <p:cNvSpPr/>
            <p:nvPr/>
          </p:nvSpPr>
          <p:spPr>
            <a:xfrm>
              <a:off x="8310954" y="3021208"/>
              <a:ext cx="660903" cy="660903"/>
            </a:xfrm>
            <a:prstGeom prst="roundRect">
              <a:avLst/>
            </a:pr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150081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B1217-11D1-C75E-6137-28ABD64CE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자유형: 도형 68">
            <a:extLst>
              <a:ext uri="{FF2B5EF4-FFF2-40B4-BE49-F238E27FC236}">
                <a16:creationId xmlns:a16="http://schemas.microsoft.com/office/drawing/2014/main" id="{B7472546-BCF4-43E6-37B6-17F38F922985}"/>
              </a:ext>
            </a:extLst>
          </p:cNvPr>
          <p:cNvSpPr/>
          <p:nvPr/>
        </p:nvSpPr>
        <p:spPr>
          <a:xfrm>
            <a:off x="6280295" y="1216096"/>
            <a:ext cx="3577042" cy="3420442"/>
          </a:xfrm>
          <a:custGeom>
            <a:avLst/>
            <a:gdLst>
              <a:gd name="connsiteX0" fmla="*/ 1331783 w 3577042"/>
              <a:gd name="connsiteY0" fmla="*/ 3374092 h 3420442"/>
              <a:gd name="connsiteX1" fmla="*/ 1331783 w 3577042"/>
              <a:gd name="connsiteY1" fmla="*/ 3374092 h 3420442"/>
              <a:gd name="connsiteX2" fmla="*/ 607506 w 3577042"/>
              <a:gd name="connsiteY2" fmla="*/ 3355985 h 3420442"/>
              <a:gd name="connsiteX3" fmla="*/ 335902 w 3577042"/>
              <a:gd name="connsiteY3" fmla="*/ 3256397 h 3420442"/>
              <a:gd name="connsiteX4" fmla="*/ 46191 w 3577042"/>
              <a:gd name="connsiteY4" fmla="*/ 2984793 h 3420442"/>
              <a:gd name="connsiteX5" fmla="*/ 19030 w 3577042"/>
              <a:gd name="connsiteY5" fmla="*/ 2821831 h 3420442"/>
              <a:gd name="connsiteX6" fmla="*/ 73351 w 3577042"/>
              <a:gd name="connsiteY6" fmla="*/ 2640762 h 3420442"/>
              <a:gd name="connsiteX7" fmla="*/ 281581 w 3577042"/>
              <a:gd name="connsiteY7" fmla="*/ 2323890 h 3420442"/>
              <a:gd name="connsiteX8" fmla="*/ 326848 w 3577042"/>
              <a:gd name="connsiteY8" fmla="*/ 1997966 h 3420442"/>
              <a:gd name="connsiteX9" fmla="*/ 254421 w 3577042"/>
              <a:gd name="connsiteY9" fmla="*/ 1835003 h 3420442"/>
              <a:gd name="connsiteX10" fmla="*/ 145779 w 3577042"/>
              <a:gd name="connsiteY10" fmla="*/ 1717308 h 3420442"/>
              <a:gd name="connsiteX11" fmla="*/ 28084 w 3577042"/>
              <a:gd name="connsiteY11" fmla="*/ 1644880 h 3420442"/>
              <a:gd name="connsiteX12" fmla="*/ 924 w 3577042"/>
              <a:gd name="connsiteY12" fmla="*/ 1617720 h 3420442"/>
              <a:gd name="connsiteX13" fmla="*/ 37137 w 3577042"/>
              <a:gd name="connsiteY13" fmla="*/ 1626773 h 3420442"/>
              <a:gd name="connsiteX14" fmla="*/ 127672 w 3577042"/>
              <a:gd name="connsiteY14" fmla="*/ 1672041 h 3420442"/>
              <a:gd name="connsiteX15" fmla="*/ 181993 w 3577042"/>
              <a:gd name="connsiteY15" fmla="*/ 1699201 h 3420442"/>
              <a:gd name="connsiteX16" fmla="*/ 299688 w 3577042"/>
              <a:gd name="connsiteY16" fmla="*/ 1753522 h 3420442"/>
              <a:gd name="connsiteX17" fmla="*/ 354009 w 3577042"/>
              <a:gd name="connsiteY17" fmla="*/ 1789736 h 3420442"/>
              <a:gd name="connsiteX18" fmla="*/ 435490 w 3577042"/>
              <a:gd name="connsiteY18" fmla="*/ 1844057 h 3420442"/>
              <a:gd name="connsiteX19" fmla="*/ 489811 w 3577042"/>
              <a:gd name="connsiteY19" fmla="*/ 1889324 h 3420442"/>
              <a:gd name="connsiteX20" fmla="*/ 507918 w 3577042"/>
              <a:gd name="connsiteY20" fmla="*/ 1916484 h 3420442"/>
              <a:gd name="connsiteX21" fmla="*/ 498864 w 3577042"/>
              <a:gd name="connsiteY21" fmla="*/ 1871217 h 3420442"/>
              <a:gd name="connsiteX22" fmla="*/ 408329 w 3577042"/>
              <a:gd name="connsiteY22" fmla="*/ 1735415 h 3420442"/>
              <a:gd name="connsiteX23" fmla="*/ 354009 w 3577042"/>
              <a:gd name="connsiteY23" fmla="*/ 1617720 h 3420442"/>
              <a:gd name="connsiteX24" fmla="*/ 363062 w 3577042"/>
              <a:gd name="connsiteY24" fmla="*/ 1056405 h 3420442"/>
              <a:gd name="connsiteX25" fmla="*/ 408329 w 3577042"/>
              <a:gd name="connsiteY25" fmla="*/ 893443 h 3420442"/>
              <a:gd name="connsiteX26" fmla="*/ 417383 w 3577042"/>
              <a:gd name="connsiteY26" fmla="*/ 866282 h 3420442"/>
              <a:gd name="connsiteX27" fmla="*/ 381169 w 3577042"/>
              <a:gd name="connsiteY27" fmla="*/ 920603 h 3420442"/>
              <a:gd name="connsiteX28" fmla="*/ 363062 w 3577042"/>
              <a:gd name="connsiteY28" fmla="*/ 1047352 h 3420442"/>
              <a:gd name="connsiteX29" fmla="*/ 453597 w 3577042"/>
              <a:gd name="connsiteY29" fmla="*/ 1309902 h 3420442"/>
              <a:gd name="connsiteX30" fmla="*/ 562238 w 3577042"/>
              <a:gd name="connsiteY30" fmla="*/ 1346116 h 3420442"/>
              <a:gd name="connsiteX31" fmla="*/ 679933 w 3577042"/>
              <a:gd name="connsiteY31" fmla="*/ 1328009 h 3420442"/>
              <a:gd name="connsiteX32" fmla="*/ 833842 w 3577042"/>
              <a:gd name="connsiteY32" fmla="*/ 1237474 h 3420442"/>
              <a:gd name="connsiteX33" fmla="*/ 1023965 w 3577042"/>
              <a:gd name="connsiteY33" fmla="*/ 920603 h 3420442"/>
              <a:gd name="connsiteX34" fmla="*/ 1042072 w 3577042"/>
              <a:gd name="connsiteY34" fmla="*/ 748587 h 3420442"/>
              <a:gd name="connsiteX35" fmla="*/ 960591 w 3577042"/>
              <a:gd name="connsiteY35" fmla="*/ 332128 h 3420442"/>
              <a:gd name="connsiteX36" fmla="*/ 888163 w 3577042"/>
              <a:gd name="connsiteY36" fmla="*/ 142005 h 3420442"/>
              <a:gd name="connsiteX37" fmla="*/ 824789 w 3577042"/>
              <a:gd name="connsiteY37" fmla="*/ 6203 h 3420442"/>
              <a:gd name="connsiteX38" fmla="*/ 942484 w 3577042"/>
              <a:gd name="connsiteY38" fmla="*/ 132952 h 3420442"/>
              <a:gd name="connsiteX39" fmla="*/ 1023965 w 3577042"/>
              <a:gd name="connsiteY39" fmla="*/ 214433 h 3420442"/>
              <a:gd name="connsiteX40" fmla="*/ 1168821 w 3577042"/>
              <a:gd name="connsiteY40" fmla="*/ 413609 h 3420442"/>
              <a:gd name="connsiteX41" fmla="*/ 1214088 w 3577042"/>
              <a:gd name="connsiteY41" fmla="*/ 504144 h 3420442"/>
              <a:gd name="connsiteX42" fmla="*/ 1241248 w 3577042"/>
              <a:gd name="connsiteY42" fmla="*/ 603732 h 3420442"/>
              <a:gd name="connsiteX43" fmla="*/ 1259355 w 3577042"/>
              <a:gd name="connsiteY43" fmla="*/ 694267 h 3420442"/>
              <a:gd name="connsiteX44" fmla="*/ 1277462 w 3577042"/>
              <a:gd name="connsiteY44" fmla="*/ 875336 h 3420442"/>
              <a:gd name="connsiteX45" fmla="*/ 1286516 w 3577042"/>
              <a:gd name="connsiteY45" fmla="*/ 956817 h 3420442"/>
              <a:gd name="connsiteX46" fmla="*/ 1331783 w 3577042"/>
              <a:gd name="connsiteY46" fmla="*/ 1228421 h 3420442"/>
              <a:gd name="connsiteX47" fmla="*/ 1458531 w 3577042"/>
              <a:gd name="connsiteY47" fmla="*/ 1337063 h 3420442"/>
              <a:gd name="connsiteX48" fmla="*/ 1530959 w 3577042"/>
              <a:gd name="connsiteY48" fmla="*/ 1373276 h 3420442"/>
              <a:gd name="connsiteX49" fmla="*/ 1603387 w 3577042"/>
              <a:gd name="connsiteY49" fmla="*/ 1400437 h 3420442"/>
              <a:gd name="connsiteX50" fmla="*/ 1666761 w 3577042"/>
              <a:gd name="connsiteY50" fmla="*/ 1409490 h 3420442"/>
              <a:gd name="connsiteX51" fmla="*/ 1585280 w 3577042"/>
              <a:gd name="connsiteY51" fmla="*/ 1183154 h 3420442"/>
              <a:gd name="connsiteX52" fmla="*/ 1576227 w 3577042"/>
              <a:gd name="connsiteY52" fmla="*/ 1065459 h 3420442"/>
              <a:gd name="connsiteX53" fmla="*/ 1594333 w 3577042"/>
              <a:gd name="connsiteY53" fmla="*/ 947764 h 3420442"/>
              <a:gd name="connsiteX54" fmla="*/ 1712029 w 3577042"/>
              <a:gd name="connsiteY54" fmla="*/ 775748 h 3420442"/>
              <a:gd name="connsiteX55" fmla="*/ 1739189 w 3577042"/>
              <a:gd name="connsiteY55" fmla="*/ 766694 h 3420442"/>
              <a:gd name="connsiteX56" fmla="*/ 1721082 w 3577042"/>
              <a:gd name="connsiteY56" fmla="*/ 875336 h 3420442"/>
              <a:gd name="connsiteX57" fmla="*/ 1775403 w 3577042"/>
              <a:gd name="connsiteY57" fmla="*/ 1065459 h 3420442"/>
              <a:gd name="connsiteX58" fmla="*/ 1874991 w 3577042"/>
              <a:gd name="connsiteY58" fmla="*/ 1137886 h 3420442"/>
              <a:gd name="connsiteX59" fmla="*/ 1965526 w 3577042"/>
              <a:gd name="connsiteY59" fmla="*/ 1165047 h 3420442"/>
              <a:gd name="connsiteX60" fmla="*/ 2074167 w 3577042"/>
              <a:gd name="connsiteY60" fmla="*/ 1155993 h 3420442"/>
              <a:gd name="connsiteX61" fmla="*/ 2264290 w 3577042"/>
              <a:gd name="connsiteY61" fmla="*/ 947764 h 3420442"/>
              <a:gd name="connsiteX62" fmla="*/ 2309557 w 3577042"/>
              <a:gd name="connsiteY62" fmla="*/ 694267 h 3420442"/>
              <a:gd name="connsiteX63" fmla="*/ 2291450 w 3577042"/>
              <a:gd name="connsiteY63" fmla="*/ 567518 h 3420442"/>
              <a:gd name="connsiteX64" fmla="*/ 2264290 w 3577042"/>
              <a:gd name="connsiteY64" fmla="*/ 458876 h 3420442"/>
              <a:gd name="connsiteX65" fmla="*/ 2237129 w 3577042"/>
              <a:gd name="connsiteY65" fmla="*/ 395502 h 3420442"/>
              <a:gd name="connsiteX66" fmla="*/ 2400092 w 3577042"/>
              <a:gd name="connsiteY66" fmla="*/ 639946 h 3420442"/>
              <a:gd name="connsiteX67" fmla="*/ 2535894 w 3577042"/>
              <a:gd name="connsiteY67" fmla="*/ 938710 h 3420442"/>
              <a:gd name="connsiteX68" fmla="*/ 2608322 w 3577042"/>
              <a:gd name="connsiteY68" fmla="*/ 1165047 h 3420442"/>
              <a:gd name="connsiteX69" fmla="*/ 2617375 w 3577042"/>
              <a:gd name="connsiteY69" fmla="*/ 1246528 h 3420442"/>
              <a:gd name="connsiteX70" fmla="*/ 2626429 w 3577042"/>
              <a:gd name="connsiteY70" fmla="*/ 1436651 h 3420442"/>
              <a:gd name="connsiteX71" fmla="*/ 2635482 w 3577042"/>
              <a:gd name="connsiteY71" fmla="*/ 1409490 h 3420442"/>
              <a:gd name="connsiteX72" fmla="*/ 2680749 w 3577042"/>
              <a:gd name="connsiteY72" fmla="*/ 1373276 h 3420442"/>
              <a:gd name="connsiteX73" fmla="*/ 2762230 w 3577042"/>
              <a:gd name="connsiteY73" fmla="*/ 1328009 h 3420442"/>
              <a:gd name="connsiteX74" fmla="*/ 2843712 w 3577042"/>
              <a:gd name="connsiteY74" fmla="*/ 1264635 h 3420442"/>
              <a:gd name="connsiteX75" fmla="*/ 2943300 w 3577042"/>
              <a:gd name="connsiteY75" fmla="*/ 1137886 h 3420442"/>
              <a:gd name="connsiteX76" fmla="*/ 2961407 w 3577042"/>
              <a:gd name="connsiteY76" fmla="*/ 1101672 h 3420442"/>
              <a:gd name="connsiteX77" fmla="*/ 2979514 w 3577042"/>
              <a:gd name="connsiteY77" fmla="*/ 1155993 h 3420442"/>
              <a:gd name="connsiteX78" fmla="*/ 2952353 w 3577042"/>
              <a:gd name="connsiteY78" fmla="*/ 1563399 h 3420442"/>
              <a:gd name="connsiteX79" fmla="*/ 2961407 w 3577042"/>
              <a:gd name="connsiteY79" fmla="*/ 1753522 h 3420442"/>
              <a:gd name="connsiteX80" fmla="*/ 2979514 w 3577042"/>
              <a:gd name="connsiteY80" fmla="*/ 1798789 h 3420442"/>
              <a:gd name="connsiteX81" fmla="*/ 3015728 w 3577042"/>
              <a:gd name="connsiteY81" fmla="*/ 1835003 h 3420442"/>
              <a:gd name="connsiteX82" fmla="*/ 3033834 w 3577042"/>
              <a:gd name="connsiteY82" fmla="*/ 1871217 h 3420442"/>
              <a:gd name="connsiteX83" fmla="*/ 3070048 w 3577042"/>
              <a:gd name="connsiteY83" fmla="*/ 1889324 h 3420442"/>
              <a:gd name="connsiteX84" fmla="*/ 3133423 w 3577042"/>
              <a:gd name="connsiteY84" fmla="*/ 1744468 h 3420442"/>
              <a:gd name="connsiteX85" fmla="*/ 3142476 w 3577042"/>
              <a:gd name="connsiteY85" fmla="*/ 1644880 h 3420442"/>
              <a:gd name="connsiteX86" fmla="*/ 3151529 w 3577042"/>
              <a:gd name="connsiteY86" fmla="*/ 1572453 h 3420442"/>
              <a:gd name="connsiteX87" fmla="*/ 3169636 w 3577042"/>
              <a:gd name="connsiteY87" fmla="*/ 1617720 h 3420442"/>
              <a:gd name="connsiteX88" fmla="*/ 3214904 w 3577042"/>
              <a:gd name="connsiteY88" fmla="*/ 1681094 h 3420442"/>
              <a:gd name="connsiteX89" fmla="*/ 3233011 w 3577042"/>
              <a:gd name="connsiteY89" fmla="*/ 1726362 h 3420442"/>
              <a:gd name="connsiteX90" fmla="*/ 3260171 w 3577042"/>
              <a:gd name="connsiteY90" fmla="*/ 1862164 h 3420442"/>
              <a:gd name="connsiteX91" fmla="*/ 3269225 w 3577042"/>
              <a:gd name="connsiteY91" fmla="*/ 2151874 h 3420442"/>
              <a:gd name="connsiteX92" fmla="*/ 3350706 w 3577042"/>
              <a:gd name="connsiteY92" fmla="*/ 2233356 h 3420442"/>
              <a:gd name="connsiteX93" fmla="*/ 3377866 w 3577042"/>
              <a:gd name="connsiteY93" fmla="*/ 2269569 h 3420442"/>
              <a:gd name="connsiteX94" fmla="*/ 3414080 w 3577042"/>
              <a:gd name="connsiteY94" fmla="*/ 2296730 h 3420442"/>
              <a:gd name="connsiteX95" fmla="*/ 3441240 w 3577042"/>
              <a:gd name="connsiteY95" fmla="*/ 2351051 h 3420442"/>
              <a:gd name="connsiteX96" fmla="*/ 3477454 w 3577042"/>
              <a:gd name="connsiteY96" fmla="*/ 2396318 h 3420442"/>
              <a:gd name="connsiteX97" fmla="*/ 3522722 w 3577042"/>
              <a:gd name="connsiteY97" fmla="*/ 2486853 h 3420442"/>
              <a:gd name="connsiteX98" fmla="*/ 3540829 w 3577042"/>
              <a:gd name="connsiteY98" fmla="*/ 2514013 h 3420442"/>
              <a:gd name="connsiteX99" fmla="*/ 3549882 w 3577042"/>
              <a:gd name="connsiteY99" fmla="*/ 2559280 h 3420442"/>
              <a:gd name="connsiteX100" fmla="*/ 3567989 w 3577042"/>
              <a:gd name="connsiteY100" fmla="*/ 2622655 h 3420442"/>
              <a:gd name="connsiteX101" fmla="*/ 3577042 w 3577042"/>
              <a:gd name="connsiteY101" fmla="*/ 2695082 h 3420442"/>
              <a:gd name="connsiteX102" fmla="*/ 3567989 w 3577042"/>
              <a:gd name="connsiteY102" fmla="*/ 2921419 h 3420442"/>
              <a:gd name="connsiteX103" fmla="*/ 3486508 w 3577042"/>
              <a:gd name="connsiteY103" fmla="*/ 3066274 h 3420442"/>
              <a:gd name="connsiteX104" fmla="*/ 3395973 w 3577042"/>
              <a:gd name="connsiteY104" fmla="*/ 3120595 h 3420442"/>
              <a:gd name="connsiteX105" fmla="*/ 3305438 w 3577042"/>
              <a:gd name="connsiteY105" fmla="*/ 3183969 h 3420442"/>
              <a:gd name="connsiteX106" fmla="*/ 3178690 w 3577042"/>
              <a:gd name="connsiteY106" fmla="*/ 3238290 h 3420442"/>
              <a:gd name="connsiteX107" fmla="*/ 2952353 w 3577042"/>
              <a:gd name="connsiteY107" fmla="*/ 3301665 h 3420442"/>
              <a:gd name="connsiteX108" fmla="*/ 2019846 w 3577042"/>
              <a:gd name="connsiteY108" fmla="*/ 3346932 h 3420442"/>
              <a:gd name="connsiteX109" fmla="*/ 1331783 w 3577042"/>
              <a:gd name="connsiteY109" fmla="*/ 3374092 h 3420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</a:cxnLst>
            <a:rect l="l" t="t" r="r" b="b"/>
            <a:pathLst>
              <a:path w="3577042" h="3420442">
                <a:moveTo>
                  <a:pt x="1331783" y="3374092"/>
                </a:moveTo>
                <a:lnTo>
                  <a:pt x="1331783" y="3374092"/>
                </a:lnTo>
                <a:cubicBezTo>
                  <a:pt x="1016348" y="3434175"/>
                  <a:pt x="1065757" y="3443516"/>
                  <a:pt x="607506" y="3355985"/>
                </a:cubicBezTo>
                <a:cubicBezTo>
                  <a:pt x="512790" y="3337893"/>
                  <a:pt x="426437" y="3289593"/>
                  <a:pt x="335902" y="3256397"/>
                </a:cubicBezTo>
                <a:cubicBezTo>
                  <a:pt x="241277" y="3185428"/>
                  <a:pt x="99906" y="3102967"/>
                  <a:pt x="46191" y="2984793"/>
                </a:cubicBezTo>
                <a:cubicBezTo>
                  <a:pt x="23403" y="2934659"/>
                  <a:pt x="28084" y="2876152"/>
                  <a:pt x="19030" y="2821831"/>
                </a:cubicBezTo>
                <a:cubicBezTo>
                  <a:pt x="37137" y="2761475"/>
                  <a:pt x="43961" y="2696502"/>
                  <a:pt x="73351" y="2640762"/>
                </a:cubicBezTo>
                <a:cubicBezTo>
                  <a:pt x="132300" y="2528962"/>
                  <a:pt x="281581" y="2323890"/>
                  <a:pt x="281581" y="2323890"/>
                </a:cubicBezTo>
                <a:cubicBezTo>
                  <a:pt x="303306" y="2231559"/>
                  <a:pt x="345137" y="2094637"/>
                  <a:pt x="326848" y="1997966"/>
                </a:cubicBezTo>
                <a:cubicBezTo>
                  <a:pt x="315798" y="1939558"/>
                  <a:pt x="286647" y="1884954"/>
                  <a:pt x="254421" y="1835003"/>
                </a:cubicBezTo>
                <a:cubicBezTo>
                  <a:pt x="225476" y="1790139"/>
                  <a:pt x="186661" y="1751649"/>
                  <a:pt x="145779" y="1717308"/>
                </a:cubicBezTo>
                <a:cubicBezTo>
                  <a:pt x="110507" y="1687679"/>
                  <a:pt x="66044" y="1670977"/>
                  <a:pt x="28084" y="1644880"/>
                </a:cubicBezTo>
                <a:cubicBezTo>
                  <a:pt x="17534" y="1637627"/>
                  <a:pt x="-4802" y="1629172"/>
                  <a:pt x="924" y="1617720"/>
                </a:cubicBezTo>
                <a:cubicBezTo>
                  <a:pt x="6488" y="1606591"/>
                  <a:pt x="25066" y="1623755"/>
                  <a:pt x="37137" y="1626773"/>
                </a:cubicBezTo>
                <a:cubicBezTo>
                  <a:pt x="124660" y="1696790"/>
                  <a:pt x="39377" y="1639934"/>
                  <a:pt x="127672" y="1672041"/>
                </a:cubicBezTo>
                <a:cubicBezTo>
                  <a:pt x="146697" y="1678959"/>
                  <a:pt x="163612" y="1690717"/>
                  <a:pt x="181993" y="1699201"/>
                </a:cubicBezTo>
                <a:cubicBezTo>
                  <a:pt x="227990" y="1720430"/>
                  <a:pt x="256506" y="1728333"/>
                  <a:pt x="299688" y="1753522"/>
                </a:cubicBezTo>
                <a:cubicBezTo>
                  <a:pt x="318486" y="1764487"/>
                  <a:pt x="335649" y="1778053"/>
                  <a:pt x="354009" y="1789736"/>
                </a:cubicBezTo>
                <a:cubicBezTo>
                  <a:pt x="377718" y="1804823"/>
                  <a:pt x="414780" y="1823347"/>
                  <a:pt x="435490" y="1844057"/>
                </a:cubicBezTo>
                <a:cubicBezTo>
                  <a:pt x="484819" y="1893386"/>
                  <a:pt x="437936" y="1872032"/>
                  <a:pt x="489811" y="1889324"/>
                </a:cubicBezTo>
                <a:cubicBezTo>
                  <a:pt x="495847" y="1898377"/>
                  <a:pt x="503052" y="1926216"/>
                  <a:pt x="507918" y="1916484"/>
                </a:cubicBezTo>
                <a:cubicBezTo>
                  <a:pt x="514799" y="1902721"/>
                  <a:pt x="506280" y="1884700"/>
                  <a:pt x="498864" y="1871217"/>
                </a:cubicBezTo>
                <a:cubicBezTo>
                  <a:pt x="472645" y="1823547"/>
                  <a:pt x="431127" y="1784812"/>
                  <a:pt x="408329" y="1735415"/>
                </a:cubicBezTo>
                <a:lnTo>
                  <a:pt x="354009" y="1617720"/>
                </a:lnTo>
                <a:cubicBezTo>
                  <a:pt x="296259" y="1343409"/>
                  <a:pt x="299038" y="1446957"/>
                  <a:pt x="363062" y="1056405"/>
                </a:cubicBezTo>
                <a:cubicBezTo>
                  <a:pt x="372182" y="1000770"/>
                  <a:pt x="392841" y="947651"/>
                  <a:pt x="408329" y="893443"/>
                </a:cubicBezTo>
                <a:cubicBezTo>
                  <a:pt x="410951" y="884267"/>
                  <a:pt x="424131" y="859534"/>
                  <a:pt x="417383" y="866282"/>
                </a:cubicBezTo>
                <a:cubicBezTo>
                  <a:pt x="401995" y="881670"/>
                  <a:pt x="393240" y="902496"/>
                  <a:pt x="381169" y="920603"/>
                </a:cubicBezTo>
                <a:cubicBezTo>
                  <a:pt x="375133" y="962853"/>
                  <a:pt x="363062" y="1004673"/>
                  <a:pt x="363062" y="1047352"/>
                </a:cubicBezTo>
                <a:cubicBezTo>
                  <a:pt x="363062" y="1147104"/>
                  <a:pt x="366025" y="1244223"/>
                  <a:pt x="453597" y="1309902"/>
                </a:cubicBezTo>
                <a:cubicBezTo>
                  <a:pt x="484135" y="1332806"/>
                  <a:pt x="526024" y="1334045"/>
                  <a:pt x="562238" y="1346116"/>
                </a:cubicBezTo>
                <a:cubicBezTo>
                  <a:pt x="601470" y="1340080"/>
                  <a:pt x="643079" y="1342751"/>
                  <a:pt x="679933" y="1328009"/>
                </a:cubicBezTo>
                <a:cubicBezTo>
                  <a:pt x="735197" y="1305903"/>
                  <a:pt x="789525" y="1277207"/>
                  <a:pt x="833842" y="1237474"/>
                </a:cubicBezTo>
                <a:cubicBezTo>
                  <a:pt x="927793" y="1153242"/>
                  <a:pt x="972106" y="1030084"/>
                  <a:pt x="1023965" y="920603"/>
                </a:cubicBezTo>
                <a:cubicBezTo>
                  <a:pt x="1030001" y="863264"/>
                  <a:pt x="1042072" y="806242"/>
                  <a:pt x="1042072" y="748587"/>
                </a:cubicBezTo>
                <a:cubicBezTo>
                  <a:pt x="1042072" y="580157"/>
                  <a:pt x="1014410" y="493584"/>
                  <a:pt x="960591" y="332128"/>
                </a:cubicBezTo>
                <a:cubicBezTo>
                  <a:pt x="939145" y="267791"/>
                  <a:pt x="914247" y="204606"/>
                  <a:pt x="888163" y="142005"/>
                </a:cubicBezTo>
                <a:cubicBezTo>
                  <a:pt x="868950" y="95894"/>
                  <a:pt x="789466" y="-29120"/>
                  <a:pt x="824789" y="6203"/>
                </a:cubicBezTo>
                <a:cubicBezTo>
                  <a:pt x="984140" y="165554"/>
                  <a:pt x="759086" y="-61909"/>
                  <a:pt x="942484" y="132952"/>
                </a:cubicBezTo>
                <a:cubicBezTo>
                  <a:pt x="968809" y="160923"/>
                  <a:pt x="998270" y="185883"/>
                  <a:pt x="1023965" y="214433"/>
                </a:cubicBezTo>
                <a:cubicBezTo>
                  <a:pt x="1085531" y="282840"/>
                  <a:pt x="1123546" y="334378"/>
                  <a:pt x="1168821" y="413609"/>
                </a:cubicBezTo>
                <a:cubicBezTo>
                  <a:pt x="1185561" y="442904"/>
                  <a:pt x="1202077" y="472614"/>
                  <a:pt x="1214088" y="504144"/>
                </a:cubicBezTo>
                <a:cubicBezTo>
                  <a:pt x="1226337" y="536298"/>
                  <a:pt x="1233278" y="570259"/>
                  <a:pt x="1241248" y="603732"/>
                </a:cubicBezTo>
                <a:cubicBezTo>
                  <a:pt x="1248376" y="633671"/>
                  <a:pt x="1254555" y="663868"/>
                  <a:pt x="1259355" y="694267"/>
                </a:cubicBezTo>
                <a:cubicBezTo>
                  <a:pt x="1265409" y="732607"/>
                  <a:pt x="1274085" y="841564"/>
                  <a:pt x="1277462" y="875336"/>
                </a:cubicBezTo>
                <a:cubicBezTo>
                  <a:pt x="1280181" y="902528"/>
                  <a:pt x="1283965" y="929609"/>
                  <a:pt x="1286516" y="956817"/>
                </a:cubicBezTo>
                <a:cubicBezTo>
                  <a:pt x="1290672" y="1001152"/>
                  <a:pt x="1282437" y="1162626"/>
                  <a:pt x="1331783" y="1228421"/>
                </a:cubicBezTo>
                <a:cubicBezTo>
                  <a:pt x="1373099" y="1283510"/>
                  <a:pt x="1404428" y="1307931"/>
                  <a:pt x="1458531" y="1337063"/>
                </a:cubicBezTo>
                <a:cubicBezTo>
                  <a:pt x="1482297" y="1349860"/>
                  <a:pt x="1506230" y="1362457"/>
                  <a:pt x="1530959" y="1373276"/>
                </a:cubicBezTo>
                <a:cubicBezTo>
                  <a:pt x="1554582" y="1383611"/>
                  <a:pt x="1578473" y="1393793"/>
                  <a:pt x="1603387" y="1400437"/>
                </a:cubicBezTo>
                <a:cubicBezTo>
                  <a:pt x="1624006" y="1405935"/>
                  <a:pt x="1645636" y="1406472"/>
                  <a:pt x="1666761" y="1409490"/>
                </a:cubicBezTo>
                <a:cubicBezTo>
                  <a:pt x="1637492" y="1339244"/>
                  <a:pt x="1599776" y="1258531"/>
                  <a:pt x="1585280" y="1183154"/>
                </a:cubicBezTo>
                <a:cubicBezTo>
                  <a:pt x="1577849" y="1144514"/>
                  <a:pt x="1579245" y="1104691"/>
                  <a:pt x="1576227" y="1065459"/>
                </a:cubicBezTo>
                <a:cubicBezTo>
                  <a:pt x="1582262" y="1026227"/>
                  <a:pt x="1582660" y="985702"/>
                  <a:pt x="1594333" y="947764"/>
                </a:cubicBezTo>
                <a:cubicBezTo>
                  <a:pt x="1623078" y="854340"/>
                  <a:pt x="1639823" y="826292"/>
                  <a:pt x="1712029" y="775748"/>
                </a:cubicBezTo>
                <a:cubicBezTo>
                  <a:pt x="1719847" y="770275"/>
                  <a:pt x="1730136" y="769712"/>
                  <a:pt x="1739189" y="766694"/>
                </a:cubicBezTo>
                <a:cubicBezTo>
                  <a:pt x="1733153" y="802908"/>
                  <a:pt x="1722610" y="838654"/>
                  <a:pt x="1721082" y="875336"/>
                </a:cubicBezTo>
                <a:cubicBezTo>
                  <a:pt x="1718170" y="945218"/>
                  <a:pt x="1724923" y="1011825"/>
                  <a:pt x="1775403" y="1065459"/>
                </a:cubicBezTo>
                <a:cubicBezTo>
                  <a:pt x="1803535" y="1095349"/>
                  <a:pt x="1838631" y="1118840"/>
                  <a:pt x="1874991" y="1137886"/>
                </a:cubicBezTo>
                <a:cubicBezTo>
                  <a:pt x="1902901" y="1152506"/>
                  <a:pt x="1935348" y="1155993"/>
                  <a:pt x="1965526" y="1165047"/>
                </a:cubicBezTo>
                <a:cubicBezTo>
                  <a:pt x="2001740" y="1162029"/>
                  <a:pt x="2040700" y="1170152"/>
                  <a:pt x="2074167" y="1155993"/>
                </a:cubicBezTo>
                <a:cubicBezTo>
                  <a:pt x="2204074" y="1101032"/>
                  <a:pt x="2204707" y="1058419"/>
                  <a:pt x="2264290" y="947764"/>
                </a:cubicBezTo>
                <a:cubicBezTo>
                  <a:pt x="2281063" y="875080"/>
                  <a:pt x="2309557" y="768453"/>
                  <a:pt x="2309557" y="694267"/>
                </a:cubicBezTo>
                <a:cubicBezTo>
                  <a:pt x="2309557" y="651588"/>
                  <a:pt x="2299510" y="609429"/>
                  <a:pt x="2291450" y="567518"/>
                </a:cubicBezTo>
                <a:cubicBezTo>
                  <a:pt x="2284401" y="530861"/>
                  <a:pt x="2275531" y="494472"/>
                  <a:pt x="2264290" y="458876"/>
                </a:cubicBezTo>
                <a:cubicBezTo>
                  <a:pt x="2257369" y="436960"/>
                  <a:pt x="2223339" y="377116"/>
                  <a:pt x="2237129" y="395502"/>
                </a:cubicBezTo>
                <a:cubicBezTo>
                  <a:pt x="2295886" y="473845"/>
                  <a:pt x="2359569" y="550795"/>
                  <a:pt x="2400092" y="639946"/>
                </a:cubicBezTo>
                <a:cubicBezTo>
                  <a:pt x="2445359" y="739534"/>
                  <a:pt x="2501301" y="834930"/>
                  <a:pt x="2535894" y="938710"/>
                </a:cubicBezTo>
                <a:cubicBezTo>
                  <a:pt x="2591124" y="1104402"/>
                  <a:pt x="2567450" y="1028809"/>
                  <a:pt x="2608322" y="1165047"/>
                </a:cubicBezTo>
                <a:cubicBezTo>
                  <a:pt x="2611340" y="1192207"/>
                  <a:pt x="2615557" y="1219261"/>
                  <a:pt x="2617375" y="1246528"/>
                </a:cubicBezTo>
                <a:cubicBezTo>
                  <a:pt x="2621595" y="1309834"/>
                  <a:pt x="2619423" y="1373593"/>
                  <a:pt x="2626429" y="1436651"/>
                </a:cubicBezTo>
                <a:cubicBezTo>
                  <a:pt x="2627483" y="1446136"/>
                  <a:pt x="2629271" y="1416736"/>
                  <a:pt x="2635482" y="1409490"/>
                </a:cubicBezTo>
                <a:cubicBezTo>
                  <a:pt x="2648057" y="1394818"/>
                  <a:pt x="2664495" y="1383725"/>
                  <a:pt x="2680749" y="1373276"/>
                </a:cubicBezTo>
                <a:cubicBezTo>
                  <a:pt x="2706885" y="1356474"/>
                  <a:pt x="2736378" y="1345244"/>
                  <a:pt x="2762230" y="1328009"/>
                </a:cubicBezTo>
                <a:cubicBezTo>
                  <a:pt x="2790860" y="1308923"/>
                  <a:pt x="2818610" y="1288168"/>
                  <a:pt x="2843712" y="1264635"/>
                </a:cubicBezTo>
                <a:cubicBezTo>
                  <a:pt x="2881333" y="1229365"/>
                  <a:pt x="2916482" y="1182582"/>
                  <a:pt x="2943300" y="1137886"/>
                </a:cubicBezTo>
                <a:cubicBezTo>
                  <a:pt x="2950244" y="1126313"/>
                  <a:pt x="2955371" y="1113743"/>
                  <a:pt x="2961407" y="1101672"/>
                </a:cubicBezTo>
                <a:cubicBezTo>
                  <a:pt x="2967443" y="1119779"/>
                  <a:pt x="2979099" y="1136911"/>
                  <a:pt x="2979514" y="1155993"/>
                </a:cubicBezTo>
                <a:cubicBezTo>
                  <a:pt x="2986828" y="1492444"/>
                  <a:pt x="3013049" y="1411662"/>
                  <a:pt x="2952353" y="1563399"/>
                </a:cubicBezTo>
                <a:cubicBezTo>
                  <a:pt x="2939287" y="1654864"/>
                  <a:pt x="2936237" y="1633965"/>
                  <a:pt x="2961407" y="1753522"/>
                </a:cubicBezTo>
                <a:cubicBezTo>
                  <a:pt x="2964755" y="1769425"/>
                  <a:pt x="2970499" y="1785267"/>
                  <a:pt x="2979514" y="1798789"/>
                </a:cubicBezTo>
                <a:cubicBezTo>
                  <a:pt x="2988984" y="1812993"/>
                  <a:pt x="3003657" y="1822932"/>
                  <a:pt x="3015728" y="1835003"/>
                </a:cubicBezTo>
                <a:cubicBezTo>
                  <a:pt x="3021763" y="1847074"/>
                  <a:pt x="3024291" y="1861674"/>
                  <a:pt x="3033834" y="1871217"/>
                </a:cubicBezTo>
                <a:cubicBezTo>
                  <a:pt x="3043377" y="1880760"/>
                  <a:pt x="3061710" y="1899936"/>
                  <a:pt x="3070048" y="1889324"/>
                </a:cubicBezTo>
                <a:cubicBezTo>
                  <a:pt x="3102610" y="1847882"/>
                  <a:pt x="3133423" y="1744468"/>
                  <a:pt x="3133423" y="1744468"/>
                </a:cubicBezTo>
                <a:cubicBezTo>
                  <a:pt x="3136441" y="1711272"/>
                  <a:pt x="3138987" y="1678030"/>
                  <a:pt x="3142476" y="1644880"/>
                </a:cubicBezTo>
                <a:cubicBezTo>
                  <a:pt x="3145023" y="1620683"/>
                  <a:pt x="3134325" y="1589657"/>
                  <a:pt x="3151529" y="1572453"/>
                </a:cubicBezTo>
                <a:cubicBezTo>
                  <a:pt x="3163020" y="1560962"/>
                  <a:pt x="3161447" y="1603682"/>
                  <a:pt x="3169636" y="1617720"/>
                </a:cubicBezTo>
                <a:cubicBezTo>
                  <a:pt x="3182717" y="1640144"/>
                  <a:pt x="3201823" y="1658670"/>
                  <a:pt x="3214904" y="1681094"/>
                </a:cubicBezTo>
                <a:cubicBezTo>
                  <a:pt x="3223093" y="1695132"/>
                  <a:pt x="3228232" y="1710829"/>
                  <a:pt x="3233011" y="1726362"/>
                </a:cubicBezTo>
                <a:cubicBezTo>
                  <a:pt x="3251638" y="1786899"/>
                  <a:pt x="3251591" y="1802102"/>
                  <a:pt x="3260171" y="1862164"/>
                </a:cubicBezTo>
                <a:cubicBezTo>
                  <a:pt x="3263189" y="1958734"/>
                  <a:pt x="3246331" y="2058008"/>
                  <a:pt x="3269225" y="2151874"/>
                </a:cubicBezTo>
                <a:cubicBezTo>
                  <a:pt x="3278327" y="2189191"/>
                  <a:pt x="3327659" y="2202628"/>
                  <a:pt x="3350706" y="2233356"/>
                </a:cubicBezTo>
                <a:cubicBezTo>
                  <a:pt x="3359759" y="2245427"/>
                  <a:pt x="3367197" y="2258900"/>
                  <a:pt x="3377866" y="2269569"/>
                </a:cubicBezTo>
                <a:cubicBezTo>
                  <a:pt x="3388536" y="2280239"/>
                  <a:pt x="3402009" y="2287676"/>
                  <a:pt x="3414080" y="2296730"/>
                </a:cubicBezTo>
                <a:cubicBezTo>
                  <a:pt x="3423133" y="2314837"/>
                  <a:pt x="3430371" y="2333972"/>
                  <a:pt x="3441240" y="2351051"/>
                </a:cubicBezTo>
                <a:cubicBezTo>
                  <a:pt x="3451614" y="2367353"/>
                  <a:pt x="3467512" y="2379748"/>
                  <a:pt x="3477454" y="2396318"/>
                </a:cubicBezTo>
                <a:cubicBezTo>
                  <a:pt x="3494813" y="2425250"/>
                  <a:pt x="3504006" y="2458779"/>
                  <a:pt x="3522722" y="2486853"/>
                </a:cubicBezTo>
                <a:lnTo>
                  <a:pt x="3540829" y="2514013"/>
                </a:lnTo>
                <a:cubicBezTo>
                  <a:pt x="3543847" y="2529102"/>
                  <a:pt x="3546150" y="2544352"/>
                  <a:pt x="3549882" y="2559280"/>
                </a:cubicBezTo>
                <a:cubicBezTo>
                  <a:pt x="3555210" y="2580594"/>
                  <a:pt x="3563680" y="2601111"/>
                  <a:pt x="3567989" y="2622655"/>
                </a:cubicBezTo>
                <a:cubicBezTo>
                  <a:pt x="3572760" y="2646513"/>
                  <a:pt x="3574024" y="2670940"/>
                  <a:pt x="3577042" y="2695082"/>
                </a:cubicBezTo>
                <a:cubicBezTo>
                  <a:pt x="3574024" y="2770528"/>
                  <a:pt x="3579300" y="2846765"/>
                  <a:pt x="3567989" y="2921419"/>
                </a:cubicBezTo>
                <a:cubicBezTo>
                  <a:pt x="3565420" y="2938371"/>
                  <a:pt x="3497165" y="3056328"/>
                  <a:pt x="3486508" y="3066274"/>
                </a:cubicBezTo>
                <a:cubicBezTo>
                  <a:pt x="3460779" y="3090287"/>
                  <a:pt x="3425481" y="3101415"/>
                  <a:pt x="3395973" y="3120595"/>
                </a:cubicBezTo>
                <a:cubicBezTo>
                  <a:pt x="3365087" y="3140671"/>
                  <a:pt x="3337829" y="3166424"/>
                  <a:pt x="3305438" y="3183969"/>
                </a:cubicBezTo>
                <a:cubicBezTo>
                  <a:pt x="3265021" y="3205862"/>
                  <a:pt x="3221592" y="3221789"/>
                  <a:pt x="3178690" y="3238290"/>
                </a:cubicBezTo>
                <a:cubicBezTo>
                  <a:pt x="3105278" y="3266525"/>
                  <a:pt x="3029796" y="3287765"/>
                  <a:pt x="2952353" y="3301665"/>
                </a:cubicBezTo>
                <a:cubicBezTo>
                  <a:pt x="2558904" y="3372284"/>
                  <a:pt x="2586653" y="3339570"/>
                  <a:pt x="2019846" y="3346932"/>
                </a:cubicBezTo>
                <a:cubicBezTo>
                  <a:pt x="1746406" y="3377313"/>
                  <a:pt x="1446460" y="3369565"/>
                  <a:pt x="1331783" y="3374092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F35F8D-B0AC-DA6D-17A9-3E51990F8D7E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업데이트 제안</a:t>
            </a:r>
            <a:r>
              <a:rPr lang="en-US" altLang="ko-KR" sz="2000" b="1" dirty="0"/>
              <a:t>: </a:t>
            </a:r>
            <a:r>
              <a:rPr lang="ko-KR" altLang="en-US" sz="2000" b="1" dirty="0"/>
              <a:t>위클리 아레나 </a:t>
            </a:r>
            <a:r>
              <a:rPr lang="en-US" altLang="ko-KR" sz="2000" b="1" dirty="0"/>
              <a:t>– </a:t>
            </a:r>
            <a:r>
              <a:rPr lang="ko-KR" altLang="en-US" sz="2000" b="1" dirty="0"/>
              <a:t>기대 효과</a:t>
            </a:r>
            <a:endParaRPr lang="en-US" altLang="ko-KR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170637-A0DC-6245-F70F-F7A036BEFA87}"/>
              </a:ext>
            </a:extLst>
          </p:cNvPr>
          <p:cNvSpPr txBox="1"/>
          <p:nvPr/>
        </p:nvSpPr>
        <p:spPr>
          <a:xfrm>
            <a:off x="4323291" y="4778435"/>
            <a:ext cx="4588851" cy="115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/>
              <a:t>최상위 유저 전용 보상 추가로</a:t>
            </a:r>
            <a:br>
              <a:rPr lang="en-US" altLang="ko-KR" sz="1600" dirty="0"/>
            </a:br>
            <a:r>
              <a:rPr lang="ko-KR" altLang="en-US" sz="1600" dirty="0"/>
              <a:t>몰입 유저의 </a:t>
            </a:r>
            <a:r>
              <a:rPr lang="ko-KR" altLang="en-US" sz="1600" b="1" dirty="0"/>
              <a:t>결제 동기 부여와</a:t>
            </a:r>
            <a:br>
              <a:rPr lang="en-US" altLang="ko-KR" sz="1600" dirty="0"/>
            </a:br>
            <a:r>
              <a:rPr lang="ko-KR" altLang="en-US" sz="1600" dirty="0"/>
              <a:t>충성 유저의 </a:t>
            </a:r>
            <a:r>
              <a:rPr lang="ko-KR" altLang="en-US" sz="1600" b="1" dirty="0"/>
              <a:t>확정적 결제를 유도합니다</a:t>
            </a:r>
            <a:r>
              <a:rPr lang="en-US" altLang="ko-KR" sz="1600" b="1" dirty="0"/>
              <a:t>.</a:t>
            </a:r>
          </a:p>
        </p:txBody>
      </p:sp>
      <p:pic>
        <p:nvPicPr>
          <p:cNvPr id="4" name="그래픽 3" descr="트로피">
            <a:extLst>
              <a:ext uri="{FF2B5EF4-FFF2-40B4-BE49-F238E27FC236}">
                <a16:creationId xmlns:a16="http://schemas.microsoft.com/office/drawing/2014/main" id="{62569F7D-EA34-DAA9-44A3-EF0AD77A05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48017" y="2575597"/>
            <a:ext cx="1976879" cy="1976875"/>
          </a:xfrm>
          <a:prstGeom prst="rect">
            <a:avLst/>
          </a:prstGeom>
        </p:spPr>
      </p:pic>
      <p:pic>
        <p:nvPicPr>
          <p:cNvPr id="5" name="그래픽 4" descr="트로피">
            <a:extLst>
              <a:ext uri="{FF2B5EF4-FFF2-40B4-BE49-F238E27FC236}">
                <a16:creationId xmlns:a16="http://schemas.microsoft.com/office/drawing/2014/main" id="{1283E88A-C263-1F25-8D37-6DC2CB9218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80763" y="1920645"/>
            <a:ext cx="2693378" cy="26933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1B9DB7-A4A5-6BBC-BA0C-36B6B0A9BE06}"/>
              </a:ext>
            </a:extLst>
          </p:cNvPr>
          <p:cNvSpPr txBox="1"/>
          <p:nvPr/>
        </p:nvSpPr>
        <p:spPr>
          <a:xfrm>
            <a:off x="3376809" y="2331006"/>
            <a:ext cx="15012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5400" b="1" dirty="0">
                <a:solidFill>
                  <a:schemeClr val="bg1"/>
                </a:solidFill>
              </a:rPr>
              <a:t>#1</a:t>
            </a:r>
            <a:endParaRPr lang="ko-KR" altLang="en-US" sz="5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5E92AB-1569-2B28-F6D0-ABCD90FE3360}"/>
              </a:ext>
            </a:extLst>
          </p:cNvPr>
          <p:cNvSpPr txBox="1"/>
          <p:nvPr/>
        </p:nvSpPr>
        <p:spPr>
          <a:xfrm>
            <a:off x="4785813" y="2993302"/>
            <a:ext cx="15012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</a:rPr>
              <a:t>#100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pic>
        <p:nvPicPr>
          <p:cNvPr id="10" name="그래픽 9" descr="사용자">
            <a:extLst>
              <a:ext uri="{FF2B5EF4-FFF2-40B4-BE49-F238E27FC236}">
                <a16:creationId xmlns:a16="http://schemas.microsoft.com/office/drawing/2014/main" id="{1EEFDE8D-DAB7-2488-538F-62129D65C3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92603" y="2713316"/>
            <a:ext cx="1839160" cy="1839156"/>
          </a:xfrm>
          <a:prstGeom prst="rect">
            <a:avLst/>
          </a:prstGeom>
        </p:spPr>
      </p:pic>
      <p:pic>
        <p:nvPicPr>
          <p:cNvPr id="12" name="그래픽 11" descr="사용자">
            <a:extLst>
              <a:ext uri="{FF2B5EF4-FFF2-40B4-BE49-F238E27FC236}">
                <a16:creationId xmlns:a16="http://schemas.microsoft.com/office/drawing/2014/main" id="{BFFCAE0D-C353-AFBE-29C4-AC6968E3EF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86449" y="2713316"/>
            <a:ext cx="1839160" cy="1839156"/>
          </a:xfrm>
          <a:prstGeom prst="rect">
            <a:avLst/>
          </a:prstGeom>
        </p:spPr>
      </p:pic>
      <p:pic>
        <p:nvPicPr>
          <p:cNvPr id="14" name="그래픽 13" descr="사용자">
            <a:extLst>
              <a:ext uri="{FF2B5EF4-FFF2-40B4-BE49-F238E27FC236}">
                <a16:creationId xmlns:a16="http://schemas.microsoft.com/office/drawing/2014/main" id="{BB06346B-76E7-B45E-F32D-8E9A1638FB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0295" y="2713316"/>
            <a:ext cx="1839160" cy="1839156"/>
          </a:xfrm>
          <a:prstGeom prst="rect">
            <a:avLst/>
          </a:prstGeom>
        </p:spPr>
      </p:pic>
      <p:sp>
        <p:nvSpPr>
          <p:cNvPr id="17" name="별: 꼭짓점 4개 16">
            <a:extLst>
              <a:ext uri="{FF2B5EF4-FFF2-40B4-BE49-F238E27FC236}">
                <a16:creationId xmlns:a16="http://schemas.microsoft.com/office/drawing/2014/main" id="{8D743FA1-3FD3-F153-5E30-E0712ED50DA2}"/>
              </a:ext>
            </a:extLst>
          </p:cNvPr>
          <p:cNvSpPr/>
          <p:nvPr/>
        </p:nvSpPr>
        <p:spPr>
          <a:xfrm>
            <a:off x="2820634" y="1649417"/>
            <a:ext cx="1055971" cy="1171374"/>
          </a:xfrm>
          <a:prstGeom prst="star4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별: 꼭짓점 4개 17">
            <a:extLst>
              <a:ext uri="{FF2B5EF4-FFF2-40B4-BE49-F238E27FC236}">
                <a16:creationId xmlns:a16="http://schemas.microsoft.com/office/drawing/2014/main" id="{DA8251FE-A1C8-67E9-C4F7-8E688B6C83FE}"/>
              </a:ext>
            </a:extLst>
          </p:cNvPr>
          <p:cNvSpPr/>
          <p:nvPr/>
        </p:nvSpPr>
        <p:spPr>
          <a:xfrm>
            <a:off x="4628343" y="3144602"/>
            <a:ext cx="568489" cy="758801"/>
          </a:xfrm>
          <a:prstGeom prst="star4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래픽 19" descr="돈 봉투">
            <a:extLst>
              <a:ext uri="{FF2B5EF4-FFF2-40B4-BE49-F238E27FC236}">
                <a16:creationId xmlns:a16="http://schemas.microsoft.com/office/drawing/2014/main" id="{D72B93A2-8046-A54D-45D4-B196891C4C8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88432" y="3569692"/>
            <a:ext cx="914400" cy="914400"/>
          </a:xfrm>
          <a:prstGeom prst="rect">
            <a:avLst/>
          </a:prstGeom>
        </p:spPr>
      </p:pic>
      <p:pic>
        <p:nvPicPr>
          <p:cNvPr id="22" name="그래픽 21" descr="돈 봉투">
            <a:extLst>
              <a:ext uri="{FF2B5EF4-FFF2-40B4-BE49-F238E27FC236}">
                <a16:creationId xmlns:a16="http://schemas.microsoft.com/office/drawing/2014/main" id="{36569168-09E2-031C-F684-B1BAFB83EE9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58443" y="3569692"/>
            <a:ext cx="914400" cy="914400"/>
          </a:xfrm>
          <a:prstGeom prst="rect">
            <a:avLst/>
          </a:prstGeom>
        </p:spPr>
      </p:pic>
      <p:pic>
        <p:nvPicPr>
          <p:cNvPr id="29" name="그래픽 28" descr="돈 봉투">
            <a:extLst>
              <a:ext uri="{FF2B5EF4-FFF2-40B4-BE49-F238E27FC236}">
                <a16:creationId xmlns:a16="http://schemas.microsoft.com/office/drawing/2014/main" id="{CAB20D4C-052A-7BB6-395A-2A8C8ADA3B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67728" y="3569692"/>
            <a:ext cx="914400" cy="914400"/>
          </a:xfrm>
          <a:prstGeom prst="rect">
            <a:avLst/>
          </a:prstGeom>
        </p:spPr>
      </p:pic>
      <p:pic>
        <p:nvPicPr>
          <p:cNvPr id="30" name="그래픽 29" descr="돈 봉투">
            <a:extLst>
              <a:ext uri="{FF2B5EF4-FFF2-40B4-BE49-F238E27FC236}">
                <a16:creationId xmlns:a16="http://schemas.microsoft.com/office/drawing/2014/main" id="{3B243155-E351-F694-F94D-C27305AC1B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0844184">
            <a:off x="7000401" y="3569693"/>
            <a:ext cx="914400" cy="914400"/>
          </a:xfrm>
          <a:prstGeom prst="rect">
            <a:avLst/>
          </a:prstGeom>
        </p:spPr>
      </p:pic>
      <p:pic>
        <p:nvPicPr>
          <p:cNvPr id="65" name="그래픽 64" descr="동전">
            <a:extLst>
              <a:ext uri="{FF2B5EF4-FFF2-40B4-BE49-F238E27FC236}">
                <a16:creationId xmlns:a16="http://schemas.microsoft.com/office/drawing/2014/main" id="{2112EDAF-7780-00B8-0A27-45BEE568F36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15238" y="4026892"/>
            <a:ext cx="558014" cy="558014"/>
          </a:xfrm>
          <a:prstGeom prst="rect">
            <a:avLst/>
          </a:prstGeom>
        </p:spPr>
      </p:pic>
      <p:pic>
        <p:nvPicPr>
          <p:cNvPr id="66" name="그래픽 65" descr="동전">
            <a:extLst>
              <a:ext uri="{FF2B5EF4-FFF2-40B4-BE49-F238E27FC236}">
                <a16:creationId xmlns:a16="http://schemas.microsoft.com/office/drawing/2014/main" id="{1242BEEA-7682-635B-8AC4-D4FF54047D6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41552" y="4107440"/>
            <a:ext cx="558014" cy="558014"/>
          </a:xfrm>
          <a:prstGeom prst="rect">
            <a:avLst/>
          </a:prstGeom>
        </p:spPr>
      </p:pic>
      <p:pic>
        <p:nvPicPr>
          <p:cNvPr id="67" name="그래픽 66" descr="동전">
            <a:extLst>
              <a:ext uri="{FF2B5EF4-FFF2-40B4-BE49-F238E27FC236}">
                <a16:creationId xmlns:a16="http://schemas.microsoft.com/office/drawing/2014/main" id="{5C551581-D321-29F2-1BBC-7B42A401C91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08155" y="3903403"/>
            <a:ext cx="558014" cy="558014"/>
          </a:xfrm>
          <a:prstGeom prst="rect">
            <a:avLst/>
          </a:prstGeom>
        </p:spPr>
      </p:pic>
      <p:pic>
        <p:nvPicPr>
          <p:cNvPr id="68" name="그래픽 67" descr="동전">
            <a:extLst>
              <a:ext uri="{FF2B5EF4-FFF2-40B4-BE49-F238E27FC236}">
                <a16:creationId xmlns:a16="http://schemas.microsoft.com/office/drawing/2014/main" id="{1B6EA04C-AB44-31BE-4CAE-19903C50CA0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54147" y="4056004"/>
            <a:ext cx="558014" cy="558014"/>
          </a:xfrm>
          <a:prstGeom prst="rect">
            <a:avLst/>
          </a:prstGeom>
        </p:spPr>
      </p:pic>
      <p:sp>
        <p:nvSpPr>
          <p:cNvPr id="70" name="자유형: 도형 69">
            <a:extLst>
              <a:ext uri="{FF2B5EF4-FFF2-40B4-BE49-F238E27FC236}">
                <a16:creationId xmlns:a16="http://schemas.microsoft.com/office/drawing/2014/main" id="{E965BD7D-9E1E-83C0-9A04-670E720850F2}"/>
              </a:ext>
            </a:extLst>
          </p:cNvPr>
          <p:cNvSpPr/>
          <p:nvPr/>
        </p:nvSpPr>
        <p:spPr>
          <a:xfrm rot="10800000">
            <a:off x="8102832" y="1399810"/>
            <a:ext cx="157113" cy="499213"/>
          </a:xfrm>
          <a:custGeom>
            <a:avLst/>
            <a:gdLst>
              <a:gd name="connsiteX0" fmla="*/ 48471 w 157113"/>
              <a:gd name="connsiteY0" fmla="*/ 0 h 499213"/>
              <a:gd name="connsiteX1" fmla="*/ 48471 w 157113"/>
              <a:gd name="connsiteY1" fmla="*/ 0 h 499213"/>
              <a:gd name="connsiteX2" fmla="*/ 12257 w 157113"/>
              <a:gd name="connsiteY2" fmla="*/ 162963 h 499213"/>
              <a:gd name="connsiteX3" fmla="*/ 39418 w 157113"/>
              <a:gd name="connsiteY3" fmla="*/ 353086 h 499213"/>
              <a:gd name="connsiteX4" fmla="*/ 48471 w 157113"/>
              <a:gd name="connsiteY4" fmla="*/ 407406 h 499213"/>
              <a:gd name="connsiteX5" fmla="*/ 39418 w 157113"/>
              <a:gd name="connsiteY5" fmla="*/ 461727 h 499213"/>
              <a:gd name="connsiteX6" fmla="*/ 3204 w 157113"/>
              <a:gd name="connsiteY6" fmla="*/ 497941 h 499213"/>
              <a:gd name="connsiteX7" fmla="*/ 75632 w 157113"/>
              <a:gd name="connsiteY7" fmla="*/ 443620 h 499213"/>
              <a:gd name="connsiteX8" fmla="*/ 157113 w 157113"/>
              <a:gd name="connsiteY8" fmla="*/ 344032 h 499213"/>
              <a:gd name="connsiteX9" fmla="*/ 129953 w 157113"/>
              <a:gd name="connsiteY9" fmla="*/ 99589 h 499213"/>
              <a:gd name="connsiteX10" fmla="*/ 102792 w 157113"/>
              <a:gd name="connsiteY10" fmla="*/ 63375 h 499213"/>
              <a:gd name="connsiteX11" fmla="*/ 84685 w 157113"/>
              <a:gd name="connsiteY11" fmla="*/ 18107 h 499213"/>
              <a:gd name="connsiteX12" fmla="*/ 48471 w 157113"/>
              <a:gd name="connsiteY12" fmla="*/ 0 h 499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57113" h="499213">
                <a:moveTo>
                  <a:pt x="48471" y="0"/>
                </a:moveTo>
                <a:lnTo>
                  <a:pt x="48471" y="0"/>
                </a:lnTo>
                <a:cubicBezTo>
                  <a:pt x="36400" y="54321"/>
                  <a:pt x="17794" y="107593"/>
                  <a:pt x="12257" y="162963"/>
                </a:cubicBezTo>
                <a:cubicBezTo>
                  <a:pt x="5823" y="227308"/>
                  <a:pt x="27056" y="291275"/>
                  <a:pt x="39418" y="353086"/>
                </a:cubicBezTo>
                <a:cubicBezTo>
                  <a:pt x="43018" y="371086"/>
                  <a:pt x="45453" y="389299"/>
                  <a:pt x="48471" y="407406"/>
                </a:cubicBezTo>
                <a:cubicBezTo>
                  <a:pt x="45453" y="425513"/>
                  <a:pt x="47627" y="445308"/>
                  <a:pt x="39418" y="461727"/>
                </a:cubicBezTo>
                <a:cubicBezTo>
                  <a:pt x="31783" y="476996"/>
                  <a:pt x="-12065" y="505576"/>
                  <a:pt x="3204" y="497941"/>
                </a:cubicBezTo>
                <a:cubicBezTo>
                  <a:pt x="30196" y="484445"/>
                  <a:pt x="52827" y="463385"/>
                  <a:pt x="75632" y="443620"/>
                </a:cubicBezTo>
                <a:cubicBezTo>
                  <a:pt x="139971" y="387860"/>
                  <a:pt x="129521" y="399216"/>
                  <a:pt x="157113" y="344032"/>
                </a:cubicBezTo>
                <a:cubicBezTo>
                  <a:pt x="153830" y="275098"/>
                  <a:pt x="166113" y="171908"/>
                  <a:pt x="129953" y="99589"/>
                </a:cubicBezTo>
                <a:cubicBezTo>
                  <a:pt x="123205" y="86093"/>
                  <a:pt x="110120" y="76565"/>
                  <a:pt x="102792" y="63375"/>
                </a:cubicBezTo>
                <a:cubicBezTo>
                  <a:pt x="94899" y="49168"/>
                  <a:pt x="91953" y="32643"/>
                  <a:pt x="84685" y="18107"/>
                </a:cubicBezTo>
                <a:cubicBezTo>
                  <a:pt x="74448" y="-2366"/>
                  <a:pt x="54507" y="3018"/>
                  <a:pt x="48471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88935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FA089-F323-9C98-43DE-0BED44564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D9D8A01-CB24-F681-A159-3DE6237876AF}"/>
              </a:ext>
            </a:extLst>
          </p:cNvPr>
          <p:cNvSpPr txBox="1"/>
          <p:nvPr/>
        </p:nvSpPr>
        <p:spPr>
          <a:xfrm>
            <a:off x="283068" y="128469"/>
            <a:ext cx="931923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/>
              <a:t> 업데이트 제안</a:t>
            </a:r>
            <a:r>
              <a:rPr lang="en-US" altLang="ko-KR" sz="2000" b="1" dirty="0"/>
              <a:t>: </a:t>
            </a:r>
            <a:r>
              <a:rPr lang="ko-KR" altLang="en-US" sz="2000" b="1" dirty="0"/>
              <a:t>위클리 아레나 </a:t>
            </a:r>
            <a:r>
              <a:rPr lang="en-US" altLang="ko-KR" sz="2000" b="1" dirty="0"/>
              <a:t>– </a:t>
            </a:r>
            <a:r>
              <a:rPr lang="ko-KR" altLang="en-US" sz="2000" b="1" dirty="0"/>
              <a:t>기대 효과</a:t>
            </a:r>
            <a:endParaRPr lang="en-US" altLang="ko-KR" sz="2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CBE3C0-44DC-EB2C-2822-9D38FB1D7029}"/>
              </a:ext>
            </a:extLst>
          </p:cNvPr>
          <p:cNvSpPr txBox="1"/>
          <p:nvPr/>
        </p:nvSpPr>
        <p:spPr>
          <a:xfrm>
            <a:off x="1754867" y="2148341"/>
            <a:ext cx="25447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1800" b="1" dirty="0"/>
              <a:t>정기적인 지출 유도</a:t>
            </a:r>
            <a:endParaRPr lang="en-US" altLang="ko-KR" sz="18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C12534-F201-C1AE-68F7-D6C752F51D20}"/>
              </a:ext>
            </a:extLst>
          </p:cNvPr>
          <p:cNvSpPr txBox="1"/>
          <p:nvPr/>
        </p:nvSpPr>
        <p:spPr>
          <a:xfrm>
            <a:off x="4823611" y="2148341"/>
            <a:ext cx="25447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1800" b="1" dirty="0"/>
              <a:t>비용 매몰 가능성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85A1D9-D967-83B4-8DD6-39309004C9F3}"/>
              </a:ext>
            </a:extLst>
          </p:cNvPr>
          <p:cNvSpPr txBox="1"/>
          <p:nvPr/>
        </p:nvSpPr>
        <p:spPr>
          <a:xfrm>
            <a:off x="8036459" y="2148341"/>
            <a:ext cx="25447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1800" b="1" dirty="0"/>
              <a:t>결제 동기 부여</a:t>
            </a:r>
            <a:br>
              <a:rPr lang="en-US" altLang="ko-KR" sz="1800" dirty="0"/>
            </a:br>
            <a:r>
              <a:rPr lang="ko-KR" altLang="en-US" sz="1800" b="1" dirty="0"/>
              <a:t>확정적 결제 유도</a:t>
            </a:r>
            <a:endParaRPr lang="ko-KR" altLang="en-US" dirty="0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4A57633B-AC04-94C1-5D00-E64F1F22783C}"/>
              </a:ext>
            </a:extLst>
          </p:cNvPr>
          <p:cNvCxnSpPr/>
          <p:nvPr/>
        </p:nvCxnSpPr>
        <p:spPr>
          <a:xfrm>
            <a:off x="3250195" y="2843375"/>
            <a:ext cx="1810693" cy="1231271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FCA0B0E2-7387-C4E8-247D-A15E53FEDFCE}"/>
              </a:ext>
            </a:extLst>
          </p:cNvPr>
          <p:cNvCxnSpPr>
            <a:cxnSpLocks/>
          </p:cNvCxnSpPr>
          <p:nvPr/>
        </p:nvCxnSpPr>
        <p:spPr>
          <a:xfrm flipH="1">
            <a:off x="7131113" y="2832058"/>
            <a:ext cx="1810693" cy="1231271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05B9C716-1045-6A8F-D4EF-EE4BB27F6FBD}"/>
              </a:ext>
            </a:extLst>
          </p:cNvPr>
          <p:cNvCxnSpPr>
            <a:cxnSpLocks/>
          </p:cNvCxnSpPr>
          <p:nvPr/>
        </p:nvCxnSpPr>
        <p:spPr>
          <a:xfrm>
            <a:off x="6096000" y="2843375"/>
            <a:ext cx="0" cy="1219954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F9FCC83-890A-04D1-B633-B43DBA66A416}"/>
              </a:ext>
            </a:extLst>
          </p:cNvPr>
          <p:cNvSpPr txBox="1"/>
          <p:nvPr/>
        </p:nvSpPr>
        <p:spPr>
          <a:xfrm>
            <a:off x="3027255" y="4556564"/>
            <a:ext cx="61374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1" dirty="0">
                <a:highlight>
                  <a:srgbClr val="FFFF00"/>
                </a:highlight>
              </a:rPr>
              <a:t>매출 상승을 기대할 수 있습니다</a:t>
            </a:r>
            <a:r>
              <a:rPr lang="en-US" altLang="ko-KR" sz="3200" b="1" dirty="0">
                <a:highlight>
                  <a:srgbClr val="FFFF00"/>
                </a:highlight>
              </a:rPr>
              <a:t>.</a:t>
            </a:r>
            <a:endParaRPr lang="ko-KR" altLang="en-US" sz="32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84506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C97105-6EAE-5DCA-F536-957ED3792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7776" y="5013690"/>
            <a:ext cx="3801208" cy="1325563"/>
          </a:xfrm>
        </p:spPr>
        <p:txBody>
          <a:bodyPr/>
          <a:lstStyle/>
          <a:p>
            <a:pPr algn="r"/>
            <a:r>
              <a:rPr lang="ko-KR" altLang="en-US" b="1" dirty="0"/>
              <a:t>감사합니다</a:t>
            </a:r>
            <a:r>
              <a:rPr lang="en-US" altLang="ko-KR" b="1" dirty="0"/>
              <a:t>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479017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7193</TotalTime>
  <Words>2227</Words>
  <Application>Microsoft Office PowerPoint</Application>
  <PresentationFormat>와이드스크린</PresentationFormat>
  <Paragraphs>486</Paragraphs>
  <Slides>35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39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감사합니다.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sbk4992@gmail.com</dc:creator>
  <cp:lastModifiedBy>sbk4992@gmail.com</cp:lastModifiedBy>
  <cp:revision>1282</cp:revision>
  <dcterms:created xsi:type="dcterms:W3CDTF">2025-08-19T01:20:43Z</dcterms:created>
  <dcterms:modified xsi:type="dcterms:W3CDTF">2025-11-06T02:46:04Z</dcterms:modified>
</cp:coreProperties>
</file>