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8" r:id="rId3"/>
    <p:sldId id="277" r:id="rId4"/>
    <p:sldId id="297" r:id="rId5"/>
    <p:sldId id="288" r:id="rId6"/>
    <p:sldId id="289" r:id="rId7"/>
    <p:sldId id="290" r:id="rId8"/>
    <p:sldId id="287" r:id="rId9"/>
    <p:sldId id="286" r:id="rId10"/>
    <p:sldId id="283" r:id="rId11"/>
    <p:sldId id="292" r:id="rId12"/>
    <p:sldId id="293" r:id="rId13"/>
    <p:sldId id="294" r:id="rId14"/>
    <p:sldId id="295" r:id="rId15"/>
    <p:sldId id="296" r:id="rId16"/>
    <p:sldId id="291" r:id="rId17"/>
    <p:sldId id="298" r:id="rId18"/>
    <p:sldId id="313" r:id="rId19"/>
    <p:sldId id="299" r:id="rId20"/>
    <p:sldId id="300" r:id="rId21"/>
    <p:sldId id="305" r:id="rId22"/>
    <p:sldId id="304" r:id="rId23"/>
    <p:sldId id="301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7" r:id="rId32"/>
    <p:sldId id="315" r:id="rId33"/>
    <p:sldId id="316" r:id="rId34"/>
    <p:sldId id="318" r:id="rId35"/>
    <p:sldId id="31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B9"/>
    <a:srgbClr val="FFE4B3"/>
    <a:srgbClr val="FFB9B9"/>
    <a:srgbClr val="CCECFF"/>
    <a:srgbClr val="E4D2F2"/>
    <a:srgbClr val="D1FFAF"/>
    <a:srgbClr val="E7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5199" autoAdjust="0"/>
  </p:normalViewPr>
  <p:slideViewPr>
    <p:cSldViewPr snapToGrid="0">
      <p:cViewPr varScale="1">
        <p:scale>
          <a:sx n="109" d="100"/>
          <a:sy n="109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1669E-5F3D-4A06-8AA1-2D4814B51A8F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ED387-86D2-4BB4-8467-50AD7682C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53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D387-86D2-4BB4-8467-50AD7682C6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1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D387-86D2-4BB4-8467-50AD7682C69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01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D387-86D2-4BB4-8467-50AD7682C69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80AA4-19BE-A88B-15DD-ABDCE909F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50654B-8660-7655-7368-BC744A33B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22F4E-C3EF-6968-67DA-3B0867AC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9E37DB-FAA3-9E0A-4963-07764920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A34C6-09BF-7C46-C5C1-49C3395D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53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766C7-896F-0D92-2241-057A39FC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AB95-B3A8-C0CE-1ACC-CBBB70035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7198B3-41B5-B72B-52EB-0A549F64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27A75-725D-3163-DFE7-00AF1EEE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303BE-D5A1-64AF-9270-800D6ABF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0DBB8-A397-6B01-A11B-2ED252E91046}"/>
              </a:ext>
            </a:extLst>
          </p:cNvPr>
          <p:cNvSpPr txBox="1"/>
          <p:nvPr userDrawn="1"/>
        </p:nvSpPr>
        <p:spPr>
          <a:xfrm>
            <a:off x="3481754" y="0"/>
            <a:ext cx="87102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ko-KR" altLang="en-US" sz="1000" dirty="0" err="1">
                <a:solidFill>
                  <a:schemeClr val="accent3"/>
                </a:solidFill>
              </a:rPr>
              <a:t>쿠키런</a:t>
            </a:r>
            <a:r>
              <a:rPr lang="en-US" altLang="ko-KR" sz="1000" dirty="0">
                <a:solidFill>
                  <a:schemeClr val="accent3"/>
                </a:solidFill>
              </a:rPr>
              <a:t>:</a:t>
            </a:r>
            <a:r>
              <a:rPr lang="ko-KR" altLang="en-US" sz="1000" dirty="0" err="1">
                <a:solidFill>
                  <a:schemeClr val="accent3"/>
                </a:solidFill>
              </a:rPr>
              <a:t>킹덤</a:t>
            </a:r>
            <a:r>
              <a:rPr lang="ko-KR" altLang="en-US" sz="1000" dirty="0">
                <a:solidFill>
                  <a:schemeClr val="accent3"/>
                </a:solidFill>
              </a:rPr>
              <a:t> </a:t>
            </a:r>
            <a:r>
              <a:rPr lang="en-US" altLang="ko-KR" sz="1000" dirty="0">
                <a:solidFill>
                  <a:schemeClr val="accent3"/>
                </a:solidFill>
              </a:rPr>
              <a:t>– </a:t>
            </a:r>
            <a:r>
              <a:rPr lang="ko-KR" altLang="en-US" sz="1000" dirty="0">
                <a:solidFill>
                  <a:schemeClr val="accent3"/>
                </a:solidFill>
              </a:rPr>
              <a:t>업데이트 제안서</a:t>
            </a:r>
          </a:p>
        </p:txBody>
      </p:sp>
    </p:spTree>
    <p:extLst>
      <p:ext uri="{BB962C8B-B14F-4D97-AF65-F5344CB8AC3E}">
        <p14:creationId xmlns:p14="http://schemas.microsoft.com/office/powerpoint/2010/main" val="376123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76168-8906-8582-62A4-FD11904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ED95BD-6E70-02C9-45B1-B44DE9321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3C65-8676-DC34-1181-8E861E0D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E25E1-BB98-F07E-7336-C66516FF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F31092-57A3-C844-94DD-90A08557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2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F5009-4B63-255D-0DF0-AAA6CF94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A7F16C-C69F-240B-E5F4-07FD26C28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BE940D-9EAE-0593-C28D-F48E7641A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F51C4B-E597-90B8-0E19-A0ED2F6C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AA542-799D-9F5C-6A6D-CC97F30B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8267A2-2D37-2F6D-4B08-C87AD84C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05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D3353-6893-8464-94AF-F426CB3C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61DDCF-293B-8748-74C4-EBFCFCB4D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8487DF-9B06-37D2-E8A1-2595A02B8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83CCCD-1EFE-D10A-1EA3-37C72DB5F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D2F5D2-A236-5384-6D02-66582A28A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A3C1EA-DC04-AE92-3261-58A9DDA6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34E41A-BF02-D4C6-BF99-D5BC405C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FB92B6-358F-DBF5-887A-C4C6D1B8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06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A46E3-9343-C159-1153-F0AA08AC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447EE3-B520-4C73-7C5C-D9A4B6CD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0301CC-409B-02DD-6325-368DC027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CB71E5-81A2-29B1-285A-CC8293CC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4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871F86-370F-A661-B785-0A88D625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0F1AB-7026-27E7-6DEE-6EEDE468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27229-525D-E109-E83D-8CD35FF9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04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DB633-C7F2-7DEE-B1BE-19894BB3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31EC5-537A-2C47-155B-D383453F4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6136ED-E14D-B5F5-6E20-1FE16E2C6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EDFC57-B780-A154-167F-3C346511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642D7-7D84-BD09-06E2-7C1B74A7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49D4E1-DAAF-9AA9-34B7-34BA9303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94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112F7-66CC-AD18-2C14-757FF688F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6A9E88-BC18-5B38-86CE-0B86FD70D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D36E15-0738-6CF8-FD2A-9A0BFC72B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9F0BB2-D93E-AC8C-7153-32334F2C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BD4BE3-1382-28F9-07A9-B9DD0C97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509E03-45E5-9C57-C27F-E857A3B0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3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21C07-E740-C3D9-7288-175E33F3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EF049-3B94-0AC3-2914-C1FE0CA7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D68882-5431-0DD9-8DC1-7C9B6FD4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43799-3DF9-6D5C-772E-FAB5CB49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9FA5B-577E-E68F-D788-D944E552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19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475D58-ADC3-E009-2750-C272F1089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0567C6-FBF1-55EB-28F2-56BEF0818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3B4D7E-7DC0-2590-413B-D9430454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52F807-1D64-3BA2-9063-57EA27FC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F3B50-5013-F9B4-51DD-A842EC9D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66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F783FD-7DBB-2401-41EE-3C065E0E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A140E6-6359-1AD6-62F7-D6C38BC4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ACEEC-4776-2868-F1A0-9AC8A2C1A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BA9FD-E679-494B-B9B0-502AA2E693B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5FF65-2FD0-E347-59EB-80F545C57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D526D3-3101-DAE7-DA9E-9F04B86C7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91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2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31.svg"/><Relationship Id="rId7" Type="http://schemas.openxmlformats.org/officeDocument/2006/relationships/image" Target="../media/image29.svg"/><Relationship Id="rId12" Type="http://schemas.openxmlformats.org/officeDocument/2006/relationships/image" Target="../media/image3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5.svg"/><Relationship Id="rId5" Type="http://schemas.openxmlformats.org/officeDocument/2006/relationships/image" Target="../media/image3.sv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4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9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9" Type="http://schemas.openxmlformats.org/officeDocument/2006/relationships/image" Target="../media/image4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5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5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1.svg"/><Relationship Id="rId7" Type="http://schemas.openxmlformats.org/officeDocument/2006/relationships/image" Target="../media/image3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27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99A22C-D0A2-A56E-780B-3CA77EBD3066}"/>
              </a:ext>
            </a:extLst>
          </p:cNvPr>
          <p:cNvSpPr/>
          <p:nvPr/>
        </p:nvSpPr>
        <p:spPr>
          <a:xfrm>
            <a:off x="0" y="0"/>
            <a:ext cx="5410201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F1A92-DAE3-D0DC-FEEB-A6923DCCF057}"/>
              </a:ext>
            </a:extLst>
          </p:cNvPr>
          <p:cNvSpPr txBox="1"/>
          <p:nvPr/>
        </p:nvSpPr>
        <p:spPr>
          <a:xfrm>
            <a:off x="6096000" y="1784864"/>
            <a:ext cx="5166946" cy="356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400" b="1" dirty="0"/>
              <a:t> 개요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400" b="1" dirty="0"/>
              <a:t> 유료 상품 분석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400" b="1" dirty="0"/>
              <a:t> </a:t>
            </a:r>
            <a:r>
              <a:rPr lang="ko-KR" altLang="en-US" sz="1400" b="1" dirty="0"/>
              <a:t>유저 분석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400" b="1" dirty="0"/>
              <a:t> 향후 업데이트 전략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/>
              <a:t> 업데이트 제안</a:t>
            </a:r>
            <a:r>
              <a:rPr lang="en-US" altLang="ko-KR" b="1" dirty="0"/>
              <a:t>: </a:t>
            </a:r>
            <a:r>
              <a:rPr lang="ko-KR" altLang="en-US" b="1" dirty="0"/>
              <a:t>위클리 아레나 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</a:rPr>
              <a:t>신규 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</a:rPr>
              <a:t>PvP 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</a:rPr>
              <a:t>컨텐츠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컨텐츠 설정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관련 유료 상품 설정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기대효과</a:t>
            </a:r>
            <a:endParaRPr lang="en-US" altLang="ko-KR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F17B79-82EC-2EFF-1128-3B572D2D5882}"/>
              </a:ext>
            </a:extLst>
          </p:cNvPr>
          <p:cNvSpPr/>
          <p:nvPr/>
        </p:nvSpPr>
        <p:spPr>
          <a:xfrm>
            <a:off x="0" y="2224454"/>
            <a:ext cx="5410201" cy="2409092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7F854-11FD-4F7F-890E-4B0E9319882E}"/>
              </a:ext>
            </a:extLst>
          </p:cNvPr>
          <p:cNvSpPr txBox="1"/>
          <p:nvPr/>
        </p:nvSpPr>
        <p:spPr>
          <a:xfrm>
            <a:off x="155748" y="2518975"/>
            <a:ext cx="4987752" cy="182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쿠키런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ko-KR" alt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킹덤</a:t>
            </a:r>
            <a:r>
              <a:rPr lang="ko-KR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b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업데이트 제안서</a:t>
            </a:r>
            <a:endParaRPr lang="en-US" altLang="ko-KR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9FB09-D1F2-E3B3-2441-FD84664C667F}"/>
              </a:ext>
            </a:extLst>
          </p:cNvPr>
          <p:cNvSpPr txBox="1"/>
          <p:nvPr/>
        </p:nvSpPr>
        <p:spPr>
          <a:xfrm>
            <a:off x="0" y="5773792"/>
            <a:ext cx="5410201" cy="108420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1"/>
            <a:tileRect/>
          </a:gradFill>
        </p:spPr>
        <p:txBody>
          <a:bodyPr wrap="square" anchor="b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schemeClr val="bg1"/>
                </a:solidFill>
              </a:rPr>
              <a:t>2025.10.02</a:t>
            </a:r>
          </a:p>
          <a:p>
            <a:pPr algn="r">
              <a:lnSpc>
                <a:spcPct val="150000"/>
              </a:lnSpc>
            </a:pPr>
            <a:r>
              <a:rPr lang="ko-KR" altLang="en-US" sz="1400" b="1" dirty="0" err="1">
                <a:solidFill>
                  <a:schemeClr val="bg1"/>
                </a:solidFill>
              </a:rPr>
              <a:t>성백규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경일 게임 아카데미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47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D55913-833D-7AD5-E782-CBE739517D1B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버전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AF967-A8F5-47ED-0B36-14AEEF765B9E}"/>
              </a:ext>
            </a:extLst>
          </p:cNvPr>
          <p:cNvSpPr txBox="1"/>
          <p:nvPr/>
        </p:nvSpPr>
        <p:spPr>
          <a:xfrm>
            <a:off x="283068" y="1139465"/>
            <a:ext cx="4958117" cy="181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Ver01 – 25.10.02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최초 작성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Ver02 – 25.10.02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유저분석 </a:t>
            </a:r>
            <a:r>
              <a:rPr lang="en-US" altLang="ko-KR" sz="1200" dirty="0"/>
              <a:t>– </a:t>
            </a:r>
            <a:r>
              <a:rPr lang="ko-KR" altLang="en-US" sz="1200" dirty="0"/>
              <a:t>컨텐츠 소비 방식 이미지 수정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9295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1C38-7C24-7204-D088-171A9940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74A9BCD-9183-59C6-0429-1857DC64258B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개요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71BC3-ADC7-8E24-6245-629EF30B79D6}"/>
              </a:ext>
            </a:extLst>
          </p:cNvPr>
          <p:cNvSpPr txBox="1"/>
          <p:nvPr/>
        </p:nvSpPr>
        <p:spPr>
          <a:xfrm>
            <a:off x="1138976" y="2685110"/>
            <a:ext cx="9914048" cy="148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‘</a:t>
            </a:r>
            <a:r>
              <a:rPr lang="ko-KR" altLang="en-US" sz="1400" dirty="0" err="1"/>
              <a:t>쿠키런</a:t>
            </a:r>
            <a:r>
              <a:rPr lang="en-US" altLang="ko-KR" sz="1400" dirty="0"/>
              <a:t>:</a:t>
            </a:r>
            <a:r>
              <a:rPr lang="ko-KR" altLang="en-US" sz="1400" dirty="0" err="1"/>
              <a:t>킹덤</a:t>
            </a:r>
            <a:r>
              <a:rPr lang="en-US" altLang="ko-KR" sz="1400" dirty="0"/>
              <a:t>’ </a:t>
            </a:r>
            <a:r>
              <a:rPr lang="ko-KR" altLang="en-US" sz="1400" dirty="0"/>
              <a:t>의 신규 업데이트 제안서 입니다</a:t>
            </a:r>
            <a:r>
              <a:rPr lang="en-US" altLang="ko-KR" sz="1400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en-US" altLang="ko-KR" sz="1200" dirty="0"/>
              <a:t>‘</a:t>
            </a:r>
            <a:r>
              <a:rPr lang="ko-KR" altLang="en-US" sz="1200" dirty="0" err="1"/>
              <a:t>쿠키런</a:t>
            </a:r>
            <a:r>
              <a:rPr lang="en-US" altLang="ko-KR" sz="1200" dirty="0"/>
              <a:t>:</a:t>
            </a:r>
            <a:r>
              <a:rPr lang="ko-KR" altLang="en-US" sz="1200" dirty="0" err="1"/>
              <a:t>킹덤</a:t>
            </a:r>
            <a:r>
              <a:rPr lang="en-US" altLang="ko-KR" sz="1200" dirty="0"/>
              <a:t>’</a:t>
            </a:r>
            <a:r>
              <a:rPr lang="ko-KR" altLang="en-US" sz="1200" dirty="0"/>
              <a:t>이 신규 업데이트를 하게 된다면</a:t>
            </a: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sz="1200" dirty="0"/>
              <a:t>유료 상품과 유저의 현 상황을 진단하여 패치를 진행하는 것이 좋겠다 라고 생각하여</a:t>
            </a:r>
            <a:br>
              <a:rPr lang="en-US" altLang="ko-KR" sz="1200" dirty="0"/>
            </a:br>
            <a:r>
              <a:rPr lang="ko-KR" altLang="en-US" sz="1200" dirty="0"/>
              <a:t>이를 기반으로 신규 업데이트 제안서를 작성했습니다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32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52D5-8D5C-D732-E336-85501802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5A8316-AE55-1A96-8040-8FB877964A67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lang="en-US" altLang="ko-KR" sz="1100" dirty="0">
                <a:solidFill>
                  <a:prstClr val="white">
                    <a:lumMod val="6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r>
              <a:rPr lang="ko-KR" altLang="en-US" sz="1100" dirty="0">
                <a:solidFill>
                  <a:prstClr val="white">
                    <a:lumMod val="6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월 기준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3DD313-16DA-A726-48C6-A24C18A06C5D}"/>
              </a:ext>
            </a:extLst>
          </p:cNvPr>
          <p:cNvSpPr/>
          <p:nvPr/>
        </p:nvSpPr>
        <p:spPr>
          <a:xfrm>
            <a:off x="2397530" y="1513535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4F0797-6014-6981-743E-335D39A86AE6}"/>
              </a:ext>
            </a:extLst>
          </p:cNvPr>
          <p:cNvSpPr/>
          <p:nvPr/>
        </p:nvSpPr>
        <p:spPr>
          <a:xfrm>
            <a:off x="1012735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성능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ADB31F-8A06-3614-9675-29A9C7576862}"/>
              </a:ext>
            </a:extLst>
          </p:cNvPr>
          <p:cNvSpPr/>
          <p:nvPr/>
        </p:nvSpPr>
        <p:spPr>
          <a:xfrm>
            <a:off x="3621130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감성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95B4ED-81F7-DE9E-37B6-506C07E55936}"/>
              </a:ext>
            </a:extLst>
          </p:cNvPr>
          <p:cNvSpPr/>
          <p:nvPr/>
        </p:nvSpPr>
        <p:spPr>
          <a:xfrm>
            <a:off x="1340979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재화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자원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7D0D88-0751-9D09-DD1D-66CFDA55D789}"/>
              </a:ext>
            </a:extLst>
          </p:cNvPr>
          <p:cNvSpPr/>
          <p:nvPr/>
        </p:nvSpPr>
        <p:spPr>
          <a:xfrm>
            <a:off x="1340979" y="327695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가챠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9FD77A-DEC5-A130-173B-565786A3B999}"/>
              </a:ext>
            </a:extLst>
          </p:cNvPr>
          <p:cNvSpPr/>
          <p:nvPr/>
        </p:nvSpPr>
        <p:spPr>
          <a:xfrm>
            <a:off x="1340979" y="369041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성장 가속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AD566A-452E-897D-12F1-3D30A49EF077}"/>
              </a:ext>
            </a:extLst>
          </p:cNvPr>
          <p:cNvSpPr/>
          <p:nvPr/>
        </p:nvSpPr>
        <p:spPr>
          <a:xfrm>
            <a:off x="1340979" y="4103873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편의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시간 단축 등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F9420A-2C5B-761B-750B-8D4DE619C186}"/>
              </a:ext>
            </a:extLst>
          </p:cNvPr>
          <p:cNvSpPr/>
          <p:nvPr/>
        </p:nvSpPr>
        <p:spPr>
          <a:xfrm>
            <a:off x="3940583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코디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스킨 수집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1545C2C-5B2B-492B-C95D-AE56192D027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156343" y="302790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C65DB04-2D96-BA31-5A9D-E8952BC48C5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156343" y="343719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09FCCE-1FE6-E548-28E9-07B819DCEDD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6343" y="385065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9112CED-EF70-FBF5-3E3C-501C6A03E73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156343" y="4264107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3D9F202-D9D9-8F40-CD00-4829174C33D4}"/>
              </a:ext>
            </a:extLst>
          </p:cNvPr>
          <p:cNvCxnSpPr>
            <a:cxnSpLocks/>
          </p:cNvCxnSpPr>
          <p:nvPr/>
        </p:nvCxnSpPr>
        <p:spPr>
          <a:xfrm>
            <a:off x="1156343" y="2458373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38C0418-363F-7D6C-E2B8-D07A75AFAF2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741292" y="3027900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0FBF7B3-94BA-729D-C965-44D43720D3BD}"/>
              </a:ext>
            </a:extLst>
          </p:cNvPr>
          <p:cNvCxnSpPr>
            <a:cxnSpLocks/>
          </p:cNvCxnSpPr>
          <p:nvPr/>
        </p:nvCxnSpPr>
        <p:spPr>
          <a:xfrm>
            <a:off x="3747155" y="2458373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BDC8342-9C0C-475C-0ECB-1DCB8095EBD6}"/>
              </a:ext>
            </a:extLst>
          </p:cNvPr>
          <p:cNvSpPr/>
          <p:nvPr/>
        </p:nvSpPr>
        <p:spPr>
          <a:xfrm>
            <a:off x="1475788" y="4837797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시즌패스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 err="1">
                <a:solidFill>
                  <a:schemeClr val="tx1"/>
                </a:solidFill>
              </a:rPr>
              <a:t>배틀패스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6A17F69-0782-A360-B634-9A631DE1BA2B}"/>
              </a:ext>
            </a:extLst>
          </p:cNvPr>
          <p:cNvSpPr/>
          <p:nvPr/>
        </p:nvSpPr>
        <p:spPr>
          <a:xfrm>
            <a:off x="1475788" y="5247090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1"/>
                </a:solidFill>
              </a:rPr>
              <a:t>온보딩</a:t>
            </a:r>
            <a:r>
              <a:rPr lang="ko-KR" altLang="en-US" sz="1100" dirty="0">
                <a:solidFill>
                  <a:schemeClr val="tx1"/>
                </a:solidFill>
              </a:rPr>
              <a:t> 패키지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CC9DB19-96DA-417C-8652-49C20D434A0C}"/>
              </a:ext>
            </a:extLst>
          </p:cNvPr>
          <p:cNvCxnSpPr>
            <a:cxnSpLocks/>
          </p:cNvCxnSpPr>
          <p:nvPr/>
        </p:nvCxnSpPr>
        <p:spPr>
          <a:xfrm flipH="1">
            <a:off x="1156343" y="5407324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D5E9AE7-7180-4408-0109-B28CD1897750}"/>
              </a:ext>
            </a:extLst>
          </p:cNvPr>
          <p:cNvCxnSpPr>
            <a:cxnSpLocks/>
          </p:cNvCxnSpPr>
          <p:nvPr/>
        </p:nvCxnSpPr>
        <p:spPr>
          <a:xfrm flipH="1">
            <a:off x="1156343" y="4998031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AB233E5-8265-272E-3F2C-FDF508D5C753}"/>
              </a:ext>
            </a:extLst>
          </p:cNvPr>
          <p:cNvCxnSpPr>
            <a:cxnSpLocks/>
          </p:cNvCxnSpPr>
          <p:nvPr/>
        </p:nvCxnSpPr>
        <p:spPr>
          <a:xfrm flipH="1">
            <a:off x="3413048" y="5407324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8AB126B-AB79-240C-7B3D-9B9328995E85}"/>
              </a:ext>
            </a:extLst>
          </p:cNvPr>
          <p:cNvCxnSpPr>
            <a:cxnSpLocks/>
          </p:cNvCxnSpPr>
          <p:nvPr/>
        </p:nvCxnSpPr>
        <p:spPr>
          <a:xfrm flipH="1">
            <a:off x="3413048" y="4998031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7EEE1753-35BA-EC6A-3E66-6B62232931D4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757151" y="1780075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D803DE54-68E8-BCFC-B628-FB5B56486FAF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3710504" y="1780075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8C10C31-9655-A0E7-0E66-2AC36ADE139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65546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C38126A-EE84-741A-3996-B7029DF20E74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757151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A7D83D9-916F-0611-34E4-04D12DD1FAC0}"/>
              </a:ext>
            </a:extLst>
          </p:cNvPr>
          <p:cNvSpPr txBox="1"/>
          <p:nvPr/>
        </p:nvSpPr>
        <p:spPr>
          <a:xfrm>
            <a:off x="6096000" y="1401009"/>
            <a:ext cx="5658863" cy="405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유료 상품을 크게 세 가지로 분류했습니다</a:t>
            </a:r>
            <a:r>
              <a:rPr lang="en-US" altLang="ko-KR" sz="1400" b="1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FFE4B3"/>
                </a:highlight>
              </a:rPr>
              <a:t>성능</a:t>
            </a:r>
            <a:r>
              <a:rPr lang="ko-KR" altLang="en-US" sz="1400" b="1" dirty="0"/>
              <a:t> 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수직적 디자인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수집</a:t>
            </a:r>
            <a:r>
              <a:rPr lang="en-US" altLang="ko-KR" sz="1100" dirty="0"/>
              <a:t>/</a:t>
            </a:r>
            <a:r>
              <a:rPr lang="ko-KR" altLang="en-US" sz="1100" dirty="0"/>
              <a:t>성장</a:t>
            </a:r>
            <a:r>
              <a:rPr lang="en-US" altLang="ko-KR" sz="1100" dirty="0"/>
              <a:t>/</a:t>
            </a:r>
            <a:r>
              <a:rPr lang="ko-KR" altLang="en-US" sz="1100" dirty="0"/>
              <a:t>경쟁 욕구를 충족 시켜주는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원활한 컨텐츠 소비를 돕는 상품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CCECFF"/>
                </a:highlight>
              </a:rPr>
              <a:t>감성</a:t>
            </a:r>
            <a:r>
              <a:rPr lang="ko-KR" altLang="en-US" sz="1200" b="1" dirty="0"/>
              <a:t> 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수평적 디자인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치장 아이템 같은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컨텐츠 소비 외의 보조 요소 상품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E4D2F2"/>
                </a:highlight>
              </a:rPr>
              <a:t>복합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성능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감성 상품의 결합 판매</a:t>
            </a: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위의 두 가지 방향성의 아이템을 모두 포함하는 고효율 상품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타 아이템을 기준점으로 삼았을 때 최고 효율의 상품</a:t>
            </a:r>
            <a:endParaRPr lang="en-US" altLang="ko-KR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2429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ACBD-9D86-5AA4-C170-EE41538B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A00DD6E-89AA-AA12-FB48-13BE7EA1E3D9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기준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A430D-204F-0B2C-575A-33DA1AE9E825}"/>
              </a:ext>
            </a:extLst>
          </p:cNvPr>
          <p:cNvSpPr txBox="1"/>
          <p:nvPr/>
        </p:nvSpPr>
        <p:spPr>
          <a:xfrm>
            <a:off x="6096000" y="457906"/>
            <a:ext cx="5003820" cy="433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FFE4B3"/>
                </a:highlight>
              </a:rPr>
              <a:t>성능 아이템</a:t>
            </a: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설계 의도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유저별로 컨텐츠 소비량 및 보상을 차등화 하여</a:t>
            </a:r>
            <a:br>
              <a:rPr lang="en-US" altLang="ko-KR" sz="1100" dirty="0"/>
            </a:br>
            <a:r>
              <a:rPr lang="ko-KR" altLang="en-US" sz="1100" dirty="0"/>
              <a:t>상위 유저들에게 결제 시 만족감을 제공하며</a:t>
            </a:r>
            <a:br>
              <a:rPr lang="en-US" altLang="ko-KR" sz="1100" dirty="0"/>
            </a:br>
            <a:r>
              <a:rPr lang="ko-KR" altLang="en-US" sz="1100" dirty="0"/>
              <a:t>하위 유저들은 상위 유저를 보며</a:t>
            </a:r>
            <a:br>
              <a:rPr lang="en-US" altLang="ko-KR" sz="1100" dirty="0"/>
            </a:br>
            <a:r>
              <a:rPr lang="ko-KR" altLang="en-US" sz="1100" dirty="0"/>
              <a:t>컨텐츠 소비 관련 구매욕을 느끼게 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타겟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컨텐츠를 빨리</a:t>
            </a:r>
            <a:r>
              <a:rPr lang="en-US" altLang="ko-KR" sz="1100" dirty="0"/>
              <a:t>/</a:t>
            </a:r>
            <a:r>
              <a:rPr lang="ko-KR" altLang="en-US" sz="1100" dirty="0"/>
              <a:t>많이 소비하고 싶거나</a:t>
            </a:r>
            <a:br>
              <a:rPr lang="en-US" altLang="ko-KR" sz="1100" dirty="0"/>
            </a:br>
            <a:r>
              <a:rPr lang="ko-KR" altLang="en-US" sz="1100" dirty="0"/>
              <a:t>남들보다 앞서고 싶은 유저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첫 판매 전략</a:t>
            </a:r>
            <a:endParaRPr lang="en-US" altLang="ko-KR" sz="1200" b="1" dirty="0"/>
          </a:p>
          <a:p>
            <a:pPr marL="628650" marR="0" lvl="1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게임 초반에 캐릭터 빌리기 등으로 과금 유저 노출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628650" marR="0" lvl="1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캐릭터 첫 획득 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스테이지 패배 시</a:t>
            </a:r>
            <a:b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한정 팝업 할인 패키지 판매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0D4A7-74C3-DA0E-770C-25D2138BA130}"/>
              </a:ext>
            </a:extLst>
          </p:cNvPr>
          <p:cNvSpPr/>
          <p:nvPr/>
        </p:nvSpPr>
        <p:spPr>
          <a:xfrm>
            <a:off x="2397530" y="1515141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E89161-BFA0-C428-1B67-3C863F3A7059}"/>
              </a:ext>
            </a:extLst>
          </p:cNvPr>
          <p:cNvSpPr/>
          <p:nvPr/>
        </p:nvSpPr>
        <p:spPr>
          <a:xfrm>
            <a:off x="1012735" y="2139511"/>
            <a:ext cx="1488832" cy="3204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</a:rPr>
              <a:t>성능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FEE4E2-2600-8AD6-8618-5749EF9F19E9}"/>
              </a:ext>
            </a:extLst>
          </p:cNvPr>
          <p:cNvSpPr/>
          <p:nvPr/>
        </p:nvSpPr>
        <p:spPr>
          <a:xfrm>
            <a:off x="3621130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</a:rPr>
              <a:t>감성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FEF1BF-9628-B47F-BE67-EA19CC25504C}"/>
              </a:ext>
            </a:extLst>
          </p:cNvPr>
          <p:cNvSpPr/>
          <p:nvPr/>
        </p:nvSpPr>
        <p:spPr>
          <a:xfrm>
            <a:off x="1340979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재화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자원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9CD95F-78AE-39C9-C798-E4FAE49E34C2}"/>
              </a:ext>
            </a:extLst>
          </p:cNvPr>
          <p:cNvSpPr/>
          <p:nvPr/>
        </p:nvSpPr>
        <p:spPr>
          <a:xfrm>
            <a:off x="1340979" y="327856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가챠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6C0079-4FBF-1C23-21C5-A01B5F18CFB5}"/>
              </a:ext>
            </a:extLst>
          </p:cNvPr>
          <p:cNvSpPr/>
          <p:nvPr/>
        </p:nvSpPr>
        <p:spPr>
          <a:xfrm>
            <a:off x="1340979" y="369202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성장 가속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BAC5F4-9E2A-1375-79E0-53648321A5FC}"/>
              </a:ext>
            </a:extLst>
          </p:cNvPr>
          <p:cNvSpPr/>
          <p:nvPr/>
        </p:nvSpPr>
        <p:spPr>
          <a:xfrm>
            <a:off x="1340979" y="410547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편의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시간 단축 등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0DAF11-7DA3-16F4-5D77-92513903F745}"/>
              </a:ext>
            </a:extLst>
          </p:cNvPr>
          <p:cNvSpPr/>
          <p:nvPr/>
        </p:nvSpPr>
        <p:spPr>
          <a:xfrm>
            <a:off x="3940583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코디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스킨 수집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0B19508-07ED-EC49-5FFA-48D74A15A91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56343" y="302950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649FA66-2198-919C-4CE8-5D0FDACA7047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156343" y="3438799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615578D-80F7-1F41-9423-5A352D37773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156343" y="385225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B7FD95F-E419-99C5-1D23-3220AA1F77D5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156343" y="426571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22663C5-92F2-5C41-5353-18BE91F2A393}"/>
              </a:ext>
            </a:extLst>
          </p:cNvPr>
          <p:cNvCxnSpPr>
            <a:cxnSpLocks/>
          </p:cNvCxnSpPr>
          <p:nvPr/>
        </p:nvCxnSpPr>
        <p:spPr>
          <a:xfrm>
            <a:off x="1156343" y="2459979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D53C068-E9FC-C422-4A44-FBD081BB2C04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41292" y="3029506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E4C5974-EC6C-705E-8818-10382507AA41}"/>
              </a:ext>
            </a:extLst>
          </p:cNvPr>
          <p:cNvCxnSpPr>
            <a:cxnSpLocks/>
          </p:cNvCxnSpPr>
          <p:nvPr/>
        </p:nvCxnSpPr>
        <p:spPr>
          <a:xfrm>
            <a:off x="3747155" y="2459979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A70646-49DE-2346-B6DB-74FD6C5AB708}"/>
              </a:ext>
            </a:extLst>
          </p:cNvPr>
          <p:cNvSpPr/>
          <p:nvPr/>
        </p:nvSpPr>
        <p:spPr>
          <a:xfrm>
            <a:off x="1475788" y="4839403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시즌패스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배틀패스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4F2A1F-E04A-16F3-4275-2CD7B39E56D9}"/>
              </a:ext>
            </a:extLst>
          </p:cNvPr>
          <p:cNvSpPr/>
          <p:nvPr/>
        </p:nvSpPr>
        <p:spPr>
          <a:xfrm>
            <a:off x="1475788" y="5248696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온보딩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 패키지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7B79F80-B2C2-6469-2418-B188A50E3B23}"/>
              </a:ext>
            </a:extLst>
          </p:cNvPr>
          <p:cNvCxnSpPr>
            <a:cxnSpLocks/>
          </p:cNvCxnSpPr>
          <p:nvPr/>
        </p:nvCxnSpPr>
        <p:spPr>
          <a:xfrm flipH="1">
            <a:off x="1156343" y="5408930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E0A2399-AFE8-81EF-3403-991BE6852E34}"/>
              </a:ext>
            </a:extLst>
          </p:cNvPr>
          <p:cNvCxnSpPr>
            <a:cxnSpLocks/>
          </p:cNvCxnSpPr>
          <p:nvPr/>
        </p:nvCxnSpPr>
        <p:spPr>
          <a:xfrm flipH="1">
            <a:off x="1156343" y="4999637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AB2D177-BE09-106B-BAEB-107F113ED2FA}"/>
              </a:ext>
            </a:extLst>
          </p:cNvPr>
          <p:cNvCxnSpPr>
            <a:cxnSpLocks/>
          </p:cNvCxnSpPr>
          <p:nvPr/>
        </p:nvCxnSpPr>
        <p:spPr>
          <a:xfrm flipH="1">
            <a:off x="3413048" y="5408930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796253E-BCD1-1900-C6B5-176C4A2E6E7D}"/>
              </a:ext>
            </a:extLst>
          </p:cNvPr>
          <p:cNvCxnSpPr>
            <a:cxnSpLocks/>
          </p:cNvCxnSpPr>
          <p:nvPr/>
        </p:nvCxnSpPr>
        <p:spPr>
          <a:xfrm flipH="1">
            <a:off x="3413048" y="4999637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A30F307-2A05-9D6A-45AB-372BDDE00E86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757151" y="1781681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99E25AA-BF5F-0E06-FAD4-361C7C1C3B8D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710504" y="1781681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41A362D-D0AD-5230-238F-0416AB7BF3E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65546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0000A74-7C88-A3D6-7593-2307FF578A6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57151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2F55B47-BEC3-D8F6-7F58-7AA704F6BC77}"/>
              </a:ext>
            </a:extLst>
          </p:cNvPr>
          <p:cNvSpPr/>
          <p:nvPr/>
        </p:nvSpPr>
        <p:spPr>
          <a:xfrm>
            <a:off x="908699" y="2092626"/>
            <a:ext cx="2057388" cy="239071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사용자">
            <a:extLst>
              <a:ext uri="{FF2B5EF4-FFF2-40B4-BE49-F238E27FC236}">
                <a16:creationId xmlns:a16="http://schemas.microsoft.com/office/drawing/2014/main" id="{45917032-A49C-412E-D10A-76D94326B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9445" y="5514682"/>
            <a:ext cx="1315770" cy="1315770"/>
          </a:xfrm>
          <a:prstGeom prst="rect">
            <a:avLst/>
          </a:prstGeom>
        </p:spPr>
      </p:pic>
      <p:pic>
        <p:nvPicPr>
          <p:cNvPr id="48" name="그래픽 47" descr="돈 봉투">
            <a:extLst>
              <a:ext uri="{FF2B5EF4-FFF2-40B4-BE49-F238E27FC236}">
                <a16:creationId xmlns:a16="http://schemas.microsoft.com/office/drawing/2014/main" id="{A4426877-2AB4-3C60-1C7F-A87D4594E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3979" y="5898823"/>
            <a:ext cx="914400" cy="914400"/>
          </a:xfrm>
          <a:prstGeom prst="rect">
            <a:avLst/>
          </a:prstGeom>
        </p:spPr>
      </p:pic>
      <p:sp>
        <p:nvSpPr>
          <p:cNvPr id="49" name="현 48">
            <a:extLst>
              <a:ext uri="{FF2B5EF4-FFF2-40B4-BE49-F238E27FC236}">
                <a16:creationId xmlns:a16="http://schemas.microsoft.com/office/drawing/2014/main" id="{4CA03FEB-AA0D-65D0-DA12-8A88188C4E3B}"/>
              </a:ext>
            </a:extLst>
          </p:cNvPr>
          <p:cNvSpPr/>
          <p:nvPr/>
        </p:nvSpPr>
        <p:spPr>
          <a:xfrm rot="16200000">
            <a:off x="7371705" y="5890398"/>
            <a:ext cx="211250" cy="211250"/>
          </a:xfrm>
          <a:prstGeom prst="chord">
            <a:avLst>
              <a:gd name="adj1" fmla="val 5393729"/>
              <a:gd name="adj2" fmla="val 162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 descr="사용자">
            <a:extLst>
              <a:ext uri="{FF2B5EF4-FFF2-40B4-BE49-F238E27FC236}">
                <a16:creationId xmlns:a16="http://schemas.microsoft.com/office/drawing/2014/main" id="{39D3ED43-3822-1158-A051-A0DB7A78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3647" y="5817948"/>
            <a:ext cx="959063" cy="959063"/>
          </a:xfrm>
          <a:prstGeom prst="rect">
            <a:avLst/>
          </a:prstGeom>
        </p:spPr>
      </p:pic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AD1EF5D8-4236-39EA-1552-4C470DD1B668}"/>
              </a:ext>
            </a:extLst>
          </p:cNvPr>
          <p:cNvSpPr/>
          <p:nvPr/>
        </p:nvSpPr>
        <p:spPr>
          <a:xfrm rot="10800000">
            <a:off x="6858541" y="5438971"/>
            <a:ext cx="328242" cy="66267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4CFFF5C9-4331-FA34-80A9-DAB9843EEF05}"/>
              </a:ext>
            </a:extLst>
          </p:cNvPr>
          <p:cNvSpPr/>
          <p:nvPr/>
        </p:nvSpPr>
        <p:spPr>
          <a:xfrm rot="10800000">
            <a:off x="7757276" y="5770310"/>
            <a:ext cx="203618" cy="41107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72C4078D-B8C9-250C-A970-391CDD5F33E3}"/>
              </a:ext>
            </a:extLst>
          </p:cNvPr>
          <p:cNvSpPr/>
          <p:nvPr/>
        </p:nvSpPr>
        <p:spPr>
          <a:xfrm rot="10800000">
            <a:off x="7483206" y="5254983"/>
            <a:ext cx="158738" cy="32047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말풍선: 모서리가 둥근 사각형 53">
            <a:extLst>
              <a:ext uri="{FF2B5EF4-FFF2-40B4-BE49-F238E27FC236}">
                <a16:creationId xmlns:a16="http://schemas.microsoft.com/office/drawing/2014/main" id="{D8D2C693-B639-FCEF-20FD-3CCAA0D93C56}"/>
              </a:ext>
            </a:extLst>
          </p:cNvPr>
          <p:cNvSpPr/>
          <p:nvPr/>
        </p:nvSpPr>
        <p:spPr>
          <a:xfrm>
            <a:off x="4984504" y="4999637"/>
            <a:ext cx="1742480" cy="984971"/>
          </a:xfrm>
          <a:prstGeom prst="wedgeRoundRectCallout">
            <a:avLst>
              <a:gd name="adj1" fmla="val 56763"/>
              <a:gd name="adj2" fmla="val 75488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컨텐츠도 할 게 많고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보상도 많이 주니까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진짜 재밌네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6B3E200-1246-EE80-473A-D0FC0CE69869}"/>
              </a:ext>
            </a:extLst>
          </p:cNvPr>
          <p:cNvSpPr/>
          <p:nvPr/>
        </p:nvSpPr>
        <p:spPr>
          <a:xfrm>
            <a:off x="9293178" y="5159871"/>
            <a:ext cx="1742479" cy="4868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나도 좀만 지를까</a:t>
            </a:r>
            <a:r>
              <a:rPr lang="en-US" altLang="ko-KR" sz="1200" dirty="0">
                <a:solidFill>
                  <a:schemeClr val="tx1"/>
                </a:solidFill>
              </a:rPr>
              <a:t>……?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088E688-C363-4B1D-0674-10662405DB41}"/>
              </a:ext>
            </a:extLst>
          </p:cNvPr>
          <p:cNvSpPr/>
          <p:nvPr/>
        </p:nvSpPr>
        <p:spPr>
          <a:xfrm>
            <a:off x="9729132" y="5791432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F63561C-9CE2-7A5F-DF5C-77AD56BDC747}"/>
              </a:ext>
            </a:extLst>
          </p:cNvPr>
          <p:cNvSpPr/>
          <p:nvPr/>
        </p:nvSpPr>
        <p:spPr>
          <a:xfrm>
            <a:off x="9592927" y="5996022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40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7450-1C0B-8629-D89A-678E2335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49D081-DF50-C523-58D0-0E0D786C6577}"/>
              </a:ext>
            </a:extLst>
          </p:cNvPr>
          <p:cNvSpPr txBox="1"/>
          <p:nvPr/>
        </p:nvSpPr>
        <p:spPr>
          <a:xfrm>
            <a:off x="6096000" y="457906"/>
            <a:ext cx="5003820" cy="433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CCECFF"/>
                </a:highlight>
              </a:rPr>
              <a:t>감성 아이템</a:t>
            </a: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설계 의도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캐릭터 외형 또는 영지를 꾸미면서</a:t>
            </a:r>
            <a:br>
              <a:rPr lang="en-US" altLang="ko-KR" sz="1100" dirty="0"/>
            </a:br>
            <a:r>
              <a:rPr lang="ko-KR" altLang="en-US" sz="1100" dirty="0"/>
              <a:t>자기만족이나 과시욕이 생기는 유저들이</a:t>
            </a:r>
            <a:br>
              <a:rPr lang="en-US" altLang="ko-KR" sz="1100" dirty="0"/>
            </a:br>
            <a:r>
              <a:rPr lang="ko-KR" altLang="en-US" sz="1100" dirty="0"/>
              <a:t>유료 아이템을 소비할 수 있도록 하여 수익화 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타겟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캐릭터 외형 </a:t>
            </a:r>
            <a:r>
              <a:rPr lang="en-US" altLang="ko-KR" sz="1100" dirty="0"/>
              <a:t>/ </a:t>
            </a:r>
            <a:r>
              <a:rPr lang="ko-KR" altLang="en-US" sz="1100" dirty="0"/>
              <a:t>기타 치장 아이템으로</a:t>
            </a:r>
            <a:br>
              <a:rPr lang="en-US" altLang="ko-KR" sz="1100" dirty="0"/>
            </a:br>
            <a:r>
              <a:rPr lang="ko-KR" altLang="en-US" sz="1100" dirty="0"/>
              <a:t>자기만족이나 과시욕을 충족하고 싶은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첫 판매 전략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게임 초반에 캐릭터 빌리기 및 영지 방문 등으로 과금 유저 노출 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치장 컨텐츠의 튜토리얼 플레이 유도와 스펙화로</a:t>
            </a:r>
            <a:br>
              <a:rPr lang="en-US" altLang="ko-KR" sz="1100" dirty="0">
                <a:solidFill>
                  <a:prstClr val="black"/>
                </a:solidFill>
              </a:rPr>
            </a:br>
            <a:r>
              <a:rPr lang="ko-KR" altLang="en-US" sz="1100" dirty="0">
                <a:solidFill>
                  <a:prstClr val="black"/>
                </a:solidFill>
              </a:rPr>
              <a:t>치장을 해야 하는 상황을 자주 만들어</a:t>
            </a:r>
            <a:br>
              <a:rPr lang="en-US" altLang="ko-KR" sz="1100" dirty="0">
                <a:solidFill>
                  <a:prstClr val="black"/>
                </a:solidFill>
              </a:rPr>
            </a:br>
            <a:r>
              <a:rPr lang="ko-KR" altLang="en-US" sz="1100" dirty="0">
                <a:solidFill>
                  <a:prstClr val="black"/>
                </a:solidFill>
              </a:rPr>
              <a:t>비주얼의 중요성 강조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3CA76B-D85E-9C85-E179-40A31581BE92}"/>
              </a:ext>
            </a:extLst>
          </p:cNvPr>
          <p:cNvSpPr/>
          <p:nvPr/>
        </p:nvSpPr>
        <p:spPr>
          <a:xfrm>
            <a:off x="2397530" y="1515141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E67CAA-9F71-00B0-B976-1660A1028A5D}"/>
              </a:ext>
            </a:extLst>
          </p:cNvPr>
          <p:cNvSpPr/>
          <p:nvPr/>
        </p:nvSpPr>
        <p:spPr>
          <a:xfrm>
            <a:off x="1012735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</a:rPr>
              <a:t>성능</a:t>
            </a:r>
            <a:endParaRPr lang="ko-KR" altLang="en-US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B288A9-5E53-0A71-5E63-31FF5F0BE75D}"/>
              </a:ext>
            </a:extLst>
          </p:cNvPr>
          <p:cNvSpPr/>
          <p:nvPr/>
        </p:nvSpPr>
        <p:spPr>
          <a:xfrm>
            <a:off x="3621130" y="2139511"/>
            <a:ext cx="1488832" cy="32046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감성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146847-B52E-2156-F5B4-F889878F7F7E}"/>
              </a:ext>
            </a:extLst>
          </p:cNvPr>
          <p:cNvSpPr/>
          <p:nvPr/>
        </p:nvSpPr>
        <p:spPr>
          <a:xfrm>
            <a:off x="1340979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재화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자원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63CA6D-220A-07A2-00E2-31B13A19D49C}"/>
              </a:ext>
            </a:extLst>
          </p:cNvPr>
          <p:cNvSpPr/>
          <p:nvPr/>
        </p:nvSpPr>
        <p:spPr>
          <a:xfrm>
            <a:off x="1340979" y="327856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가챠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A84C81-0810-1244-3B9B-13DEE9405490}"/>
              </a:ext>
            </a:extLst>
          </p:cNvPr>
          <p:cNvSpPr/>
          <p:nvPr/>
        </p:nvSpPr>
        <p:spPr>
          <a:xfrm>
            <a:off x="1340979" y="369202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성장 가속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55F3C-441E-42A7-854D-22E04EFCC55D}"/>
              </a:ext>
            </a:extLst>
          </p:cNvPr>
          <p:cNvSpPr/>
          <p:nvPr/>
        </p:nvSpPr>
        <p:spPr>
          <a:xfrm>
            <a:off x="1340979" y="410547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편의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시간 단축 등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2DCA9A-3536-0FF5-9143-845AD57A04AD}"/>
              </a:ext>
            </a:extLst>
          </p:cNvPr>
          <p:cNvSpPr/>
          <p:nvPr/>
        </p:nvSpPr>
        <p:spPr>
          <a:xfrm>
            <a:off x="3940583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코디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스킨 수집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9EE501F-8D42-FEFC-4ABC-4FE30D5C652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56343" y="302950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3A11EFD-5AF1-FCFC-963F-EF580B541312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156343" y="3438799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DDAEB2B-2F62-7E5B-F00F-18C15FDCF9C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156343" y="385225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B123CDA-E58C-09B9-0E9E-77A258C553CE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156343" y="426571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7B1765C-9ACC-D2C5-A849-97DBF41B5914}"/>
              </a:ext>
            </a:extLst>
          </p:cNvPr>
          <p:cNvCxnSpPr>
            <a:cxnSpLocks/>
          </p:cNvCxnSpPr>
          <p:nvPr/>
        </p:nvCxnSpPr>
        <p:spPr>
          <a:xfrm>
            <a:off x="1156343" y="2459979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BEEFDE5-0584-E746-9438-F20C59BDCC7A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41292" y="3029506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6479F6A-4CEC-DCB3-BDEA-1323805CA42F}"/>
              </a:ext>
            </a:extLst>
          </p:cNvPr>
          <p:cNvCxnSpPr>
            <a:cxnSpLocks/>
          </p:cNvCxnSpPr>
          <p:nvPr/>
        </p:nvCxnSpPr>
        <p:spPr>
          <a:xfrm>
            <a:off x="3747155" y="2459979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AD8801-E85C-BEBD-A4D7-385B03EBDDAF}"/>
              </a:ext>
            </a:extLst>
          </p:cNvPr>
          <p:cNvSpPr/>
          <p:nvPr/>
        </p:nvSpPr>
        <p:spPr>
          <a:xfrm>
            <a:off x="1475788" y="4839403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시즌패스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배틀패스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D8D0A2-CA98-1D6A-4D16-1C0FFEDA5F5B}"/>
              </a:ext>
            </a:extLst>
          </p:cNvPr>
          <p:cNvSpPr/>
          <p:nvPr/>
        </p:nvSpPr>
        <p:spPr>
          <a:xfrm>
            <a:off x="1475788" y="5248696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온보딩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 패키지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E090232-6876-00A5-6EDB-B027B05000A4}"/>
              </a:ext>
            </a:extLst>
          </p:cNvPr>
          <p:cNvCxnSpPr>
            <a:cxnSpLocks/>
          </p:cNvCxnSpPr>
          <p:nvPr/>
        </p:nvCxnSpPr>
        <p:spPr>
          <a:xfrm flipH="1">
            <a:off x="1156343" y="5408930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AE89147-C26F-0693-7D90-5F8399AF8719}"/>
              </a:ext>
            </a:extLst>
          </p:cNvPr>
          <p:cNvCxnSpPr>
            <a:cxnSpLocks/>
          </p:cNvCxnSpPr>
          <p:nvPr/>
        </p:nvCxnSpPr>
        <p:spPr>
          <a:xfrm flipH="1">
            <a:off x="1156343" y="4999637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EC708EA-E11E-61D3-D4FB-C016E9785D9D}"/>
              </a:ext>
            </a:extLst>
          </p:cNvPr>
          <p:cNvCxnSpPr>
            <a:cxnSpLocks/>
          </p:cNvCxnSpPr>
          <p:nvPr/>
        </p:nvCxnSpPr>
        <p:spPr>
          <a:xfrm flipH="1">
            <a:off x="3413048" y="5408930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A38CD4C-DB5D-1A11-C6A4-7AB79A7E1672}"/>
              </a:ext>
            </a:extLst>
          </p:cNvPr>
          <p:cNvCxnSpPr>
            <a:cxnSpLocks/>
          </p:cNvCxnSpPr>
          <p:nvPr/>
        </p:nvCxnSpPr>
        <p:spPr>
          <a:xfrm flipH="1">
            <a:off x="3413048" y="4999637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611D336-BBDB-A472-ECBB-D1118D743726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757151" y="1781681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7018BC6-5E5D-306A-1E31-A3E3E06FD613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710504" y="1781681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A3D1D48-C881-4BE5-CE5A-E7DD77DC2A65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65546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8469020-BD46-5A90-8189-1B3AAE7A13F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57151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CEF7C4-4D35-B0C2-95A5-F1364B224B0A}"/>
              </a:ext>
            </a:extLst>
          </p:cNvPr>
          <p:cNvSpPr/>
          <p:nvPr/>
        </p:nvSpPr>
        <p:spPr>
          <a:xfrm>
            <a:off x="3505188" y="2092624"/>
            <a:ext cx="2057388" cy="117640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 descr="사용자">
            <a:extLst>
              <a:ext uri="{FF2B5EF4-FFF2-40B4-BE49-F238E27FC236}">
                <a16:creationId xmlns:a16="http://schemas.microsoft.com/office/drawing/2014/main" id="{FE15E07E-8CED-796F-ECE7-247C3BE96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9000" y="5817948"/>
            <a:ext cx="959063" cy="959063"/>
          </a:xfrm>
          <a:prstGeom prst="rect">
            <a:avLst/>
          </a:prstGeom>
        </p:spPr>
      </p:pic>
      <p:sp>
        <p:nvSpPr>
          <p:cNvPr id="54" name="말풍선: 모서리가 둥근 사각형 53">
            <a:extLst>
              <a:ext uri="{FF2B5EF4-FFF2-40B4-BE49-F238E27FC236}">
                <a16:creationId xmlns:a16="http://schemas.microsoft.com/office/drawing/2014/main" id="{32F5457B-E9D8-7318-B1C6-D89B6D69E0E0}"/>
              </a:ext>
            </a:extLst>
          </p:cNvPr>
          <p:cNvSpPr/>
          <p:nvPr/>
        </p:nvSpPr>
        <p:spPr>
          <a:xfrm>
            <a:off x="4943593" y="5097137"/>
            <a:ext cx="1253706" cy="421380"/>
          </a:xfrm>
          <a:prstGeom prst="wedgeRoundRectCallout">
            <a:avLst>
              <a:gd name="adj1" fmla="val 45542"/>
              <a:gd name="adj2" fmla="val 81748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난 너무 멋져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1D86A4D-33FA-B2C9-7749-F80CE39F0751}"/>
              </a:ext>
            </a:extLst>
          </p:cNvPr>
          <p:cNvSpPr/>
          <p:nvPr/>
        </p:nvSpPr>
        <p:spPr>
          <a:xfrm>
            <a:off x="9602305" y="5159871"/>
            <a:ext cx="1874932" cy="4868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나도 꾸미고 싶은데</a:t>
            </a:r>
            <a:r>
              <a:rPr lang="en-US" altLang="ko-KR" sz="1200" dirty="0">
                <a:solidFill>
                  <a:schemeClr val="tx1"/>
                </a:solidFill>
              </a:rPr>
              <a:t>……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B516BFD-8977-85AD-C21B-ABB3CC5D7F20}"/>
              </a:ext>
            </a:extLst>
          </p:cNvPr>
          <p:cNvSpPr/>
          <p:nvPr/>
        </p:nvSpPr>
        <p:spPr>
          <a:xfrm>
            <a:off x="10104485" y="5791432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BC47A57-C2B7-C59E-D4EB-141A203DDFF4}"/>
              </a:ext>
            </a:extLst>
          </p:cNvPr>
          <p:cNvSpPr/>
          <p:nvPr/>
        </p:nvSpPr>
        <p:spPr>
          <a:xfrm>
            <a:off x="9968280" y="5996022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래픽 2" descr="왕관">
            <a:extLst>
              <a:ext uri="{FF2B5EF4-FFF2-40B4-BE49-F238E27FC236}">
                <a16:creationId xmlns:a16="http://schemas.microsoft.com/office/drawing/2014/main" id="{4A44FA62-AAAD-E697-D4AF-76F2665FF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0451" y="5005835"/>
            <a:ext cx="845050" cy="845050"/>
          </a:xfrm>
          <a:prstGeom prst="rect">
            <a:avLst/>
          </a:prstGeom>
        </p:spPr>
      </p:pic>
      <p:pic>
        <p:nvPicPr>
          <p:cNvPr id="59" name="그래픽 58" descr="남자 옆모습">
            <a:extLst>
              <a:ext uri="{FF2B5EF4-FFF2-40B4-BE49-F238E27FC236}">
                <a16:creationId xmlns:a16="http://schemas.microsoft.com/office/drawing/2014/main" id="{FA4E9867-0B8C-B465-470F-505E9343B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6124" y="5545714"/>
            <a:ext cx="1253705" cy="125370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E7946E-E43B-F202-DE1F-62ADF9C3BB5C}"/>
              </a:ext>
            </a:extLst>
          </p:cNvPr>
          <p:cNvGrpSpPr/>
          <p:nvPr/>
        </p:nvGrpSpPr>
        <p:grpSpPr>
          <a:xfrm>
            <a:off x="7055501" y="5450768"/>
            <a:ext cx="1191375" cy="1348651"/>
            <a:chOff x="4064563" y="5526011"/>
            <a:chExt cx="914400" cy="1035112"/>
          </a:xfrm>
        </p:grpSpPr>
        <p:pic>
          <p:nvPicPr>
            <p:cNvPr id="11" name="그래픽 10" descr="여성 프로필">
              <a:extLst>
                <a:ext uri="{FF2B5EF4-FFF2-40B4-BE49-F238E27FC236}">
                  <a16:creationId xmlns:a16="http://schemas.microsoft.com/office/drawing/2014/main" id="{8A729283-FD29-CF7B-4FAD-9E43E6DB2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64563" y="5646723"/>
              <a:ext cx="914400" cy="914400"/>
            </a:xfrm>
            <a:prstGeom prst="rect">
              <a:avLst/>
            </a:prstGeom>
          </p:spPr>
        </p:pic>
        <p:pic>
          <p:nvPicPr>
            <p:cNvPr id="6" name="그래픽 5" descr="줄기가 없는 꽃">
              <a:extLst>
                <a:ext uri="{FF2B5EF4-FFF2-40B4-BE49-F238E27FC236}">
                  <a16:creationId xmlns:a16="http://schemas.microsoft.com/office/drawing/2014/main" id="{9AD8D759-FFC4-6F83-55D5-20416E55A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74657" y="5526011"/>
              <a:ext cx="447106" cy="447106"/>
            </a:xfrm>
            <a:prstGeom prst="rect">
              <a:avLst/>
            </a:prstGeom>
          </p:spPr>
        </p:pic>
      </p:grp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F2D355E6-C2FF-87E0-1A0F-B412BB8BDC4D}"/>
              </a:ext>
            </a:extLst>
          </p:cNvPr>
          <p:cNvSpPr/>
          <p:nvPr/>
        </p:nvSpPr>
        <p:spPr>
          <a:xfrm>
            <a:off x="8054699" y="4988959"/>
            <a:ext cx="1037227" cy="637736"/>
          </a:xfrm>
          <a:prstGeom prst="wedgeRoundRectCallout">
            <a:avLst>
              <a:gd name="adj1" fmla="val -43670"/>
              <a:gd name="adj2" fmla="val 70049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이거 봐</a:t>
            </a:r>
            <a:r>
              <a:rPr lang="en-US" altLang="ko-KR" sz="1100" dirty="0">
                <a:solidFill>
                  <a:schemeClr val="tx1"/>
                </a:solidFill>
              </a:rPr>
              <a:t>~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이쁘지 않아</a:t>
            </a:r>
            <a:r>
              <a:rPr lang="en-US" altLang="ko-KR" sz="1100" dirty="0">
                <a:solidFill>
                  <a:schemeClr val="tx1"/>
                </a:solidFill>
              </a:rPr>
              <a:t>?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710C9F-9F82-6DC6-4047-9C2B7A7DD46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기준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53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E07C-AE2C-0224-3407-29EAE01D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A3DAA1-6A04-B299-871C-920CB76C35C0}"/>
              </a:ext>
            </a:extLst>
          </p:cNvPr>
          <p:cNvSpPr txBox="1"/>
          <p:nvPr/>
        </p:nvSpPr>
        <p:spPr>
          <a:xfrm>
            <a:off x="6095999" y="457906"/>
            <a:ext cx="5075451" cy="433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E4D2F2"/>
                </a:highlight>
              </a:rPr>
              <a:t>복합 아이템</a:t>
            </a:r>
            <a:endParaRPr lang="en-US" altLang="ko-KR" sz="1400" b="1" dirty="0">
              <a:highlight>
                <a:srgbClr val="E4D2F2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설계 의도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저렴한 가격으로 여러 종류의 아이템을 한번쯤 활용하도록 유도하고</a:t>
            </a:r>
            <a:br>
              <a:rPr lang="ko-KR" altLang="en-US" sz="1100" dirty="0"/>
            </a:br>
            <a:r>
              <a:rPr lang="ko-KR" altLang="en-US" sz="1100" dirty="0"/>
              <a:t>이를 통해 유저가 특정 아이템의 결핍을 느끼게 하며</a:t>
            </a:r>
            <a:br>
              <a:rPr lang="ko-KR" altLang="en-US" sz="1100" dirty="0"/>
            </a:br>
            <a:r>
              <a:rPr lang="ko-KR" altLang="en-US" sz="1100" dirty="0"/>
              <a:t>추가 구매로 이어지도록 유도한다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출석 보상 방식으로 결제 유저의 </a:t>
            </a:r>
            <a:r>
              <a:rPr lang="ko-KR" altLang="en-US" sz="1100" dirty="0" err="1"/>
              <a:t>리텐션을</a:t>
            </a:r>
            <a:r>
              <a:rPr lang="ko-KR" altLang="en-US" sz="1100" dirty="0"/>
              <a:t> 개선한다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시즌마다 상품을 판매하여 정기적이고 안정적인 수익을 창출한다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타겟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싼 가격의 상품의 유혹에 약한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오랜 기간 꾸준히 게임하는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첫 판매 전략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인 게임 배너에 지속적으로 노출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타 상품 대비 엄청난 효율과 가격으로 유혹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568A47-C5FF-982F-DBD4-1B70B494DFE5}"/>
              </a:ext>
            </a:extLst>
          </p:cNvPr>
          <p:cNvSpPr/>
          <p:nvPr/>
        </p:nvSpPr>
        <p:spPr>
          <a:xfrm>
            <a:off x="2397530" y="1515141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D681B7-83F6-8AAA-B505-2A36BF972F0D}"/>
              </a:ext>
            </a:extLst>
          </p:cNvPr>
          <p:cNvSpPr/>
          <p:nvPr/>
        </p:nvSpPr>
        <p:spPr>
          <a:xfrm>
            <a:off x="1012735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</a:rPr>
              <a:t>성능</a:t>
            </a:r>
            <a:endParaRPr lang="ko-KR" altLang="en-US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BB474B-7741-4FA2-1535-4AC4A4FC934F}"/>
              </a:ext>
            </a:extLst>
          </p:cNvPr>
          <p:cNvSpPr/>
          <p:nvPr/>
        </p:nvSpPr>
        <p:spPr>
          <a:xfrm>
            <a:off x="3621130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</a:rPr>
              <a:t>감성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62A921-F029-8780-0A60-46D5AF200A6B}"/>
              </a:ext>
            </a:extLst>
          </p:cNvPr>
          <p:cNvSpPr/>
          <p:nvPr/>
        </p:nvSpPr>
        <p:spPr>
          <a:xfrm>
            <a:off x="1340979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재화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자원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AD295B-66FE-2292-504F-D40F2C7B35EF}"/>
              </a:ext>
            </a:extLst>
          </p:cNvPr>
          <p:cNvSpPr/>
          <p:nvPr/>
        </p:nvSpPr>
        <p:spPr>
          <a:xfrm>
            <a:off x="1340979" y="327856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가챠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F3D60E-3CEE-CBE6-1E56-410D063041AF}"/>
              </a:ext>
            </a:extLst>
          </p:cNvPr>
          <p:cNvSpPr/>
          <p:nvPr/>
        </p:nvSpPr>
        <p:spPr>
          <a:xfrm>
            <a:off x="1340979" y="369202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성장 가속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E08796-4F70-7B50-F422-AC21DE77D81F}"/>
              </a:ext>
            </a:extLst>
          </p:cNvPr>
          <p:cNvSpPr/>
          <p:nvPr/>
        </p:nvSpPr>
        <p:spPr>
          <a:xfrm>
            <a:off x="1340979" y="410547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편의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시간 단축 등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78ECD6-7710-51E6-5AB8-3B75D15F6634}"/>
              </a:ext>
            </a:extLst>
          </p:cNvPr>
          <p:cNvSpPr/>
          <p:nvPr/>
        </p:nvSpPr>
        <p:spPr>
          <a:xfrm>
            <a:off x="3940583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코디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스킨 수집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1DFC40D-11C9-C21E-12CE-CBBEB2DA289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56343" y="302950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A2D349E-C780-907B-98FC-80EFE178161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156343" y="3438799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7312F41-8E62-0D11-32F4-88660D20F245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156343" y="385225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B635F23-CC84-FE59-3FED-465B23FD89E2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156343" y="426571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9E1EA1D-EFB1-A690-FA0B-305A93502845}"/>
              </a:ext>
            </a:extLst>
          </p:cNvPr>
          <p:cNvCxnSpPr>
            <a:cxnSpLocks/>
          </p:cNvCxnSpPr>
          <p:nvPr/>
        </p:nvCxnSpPr>
        <p:spPr>
          <a:xfrm>
            <a:off x="1156343" y="2459979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B2D4BF7-C805-2823-7026-F8FF137B706C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41292" y="3029506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F4B832F-135C-4D64-D915-5CE6980149A9}"/>
              </a:ext>
            </a:extLst>
          </p:cNvPr>
          <p:cNvCxnSpPr>
            <a:cxnSpLocks/>
          </p:cNvCxnSpPr>
          <p:nvPr/>
        </p:nvCxnSpPr>
        <p:spPr>
          <a:xfrm>
            <a:off x="3747155" y="2459979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0F64CB-686E-1C07-293D-EDB0E84CD745}"/>
              </a:ext>
            </a:extLst>
          </p:cNvPr>
          <p:cNvSpPr/>
          <p:nvPr/>
        </p:nvSpPr>
        <p:spPr>
          <a:xfrm>
            <a:off x="1475788" y="4839403"/>
            <a:ext cx="1931396" cy="320468"/>
          </a:xfrm>
          <a:prstGeom prst="rect">
            <a:avLst/>
          </a:prstGeom>
          <a:solidFill>
            <a:srgbClr val="7030A0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시즌패스</a:t>
            </a:r>
            <a:r>
              <a:rPr lang="en-US" altLang="ko-KR" sz="1600" b="1" dirty="0">
                <a:solidFill>
                  <a:schemeClr val="bg1"/>
                </a:solidFill>
              </a:rPr>
              <a:t>/</a:t>
            </a:r>
            <a:r>
              <a:rPr lang="ko-KR" altLang="en-US" sz="1600" b="1" dirty="0" err="1">
                <a:solidFill>
                  <a:schemeClr val="bg1"/>
                </a:solidFill>
              </a:rPr>
              <a:t>배틀패스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1FBAE6-34E8-622A-2A75-9A0CF70AAF69}"/>
              </a:ext>
            </a:extLst>
          </p:cNvPr>
          <p:cNvSpPr/>
          <p:nvPr/>
        </p:nvSpPr>
        <p:spPr>
          <a:xfrm>
            <a:off x="1475788" y="5248696"/>
            <a:ext cx="1931396" cy="320468"/>
          </a:xfrm>
          <a:prstGeom prst="rect">
            <a:avLst/>
          </a:prstGeom>
          <a:solidFill>
            <a:srgbClr val="7030A0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 err="1">
                <a:solidFill>
                  <a:schemeClr val="bg1"/>
                </a:solidFill>
              </a:rPr>
              <a:t>온보딩</a:t>
            </a:r>
            <a:r>
              <a:rPr lang="ko-KR" altLang="en-US" sz="1600" b="1" dirty="0">
                <a:solidFill>
                  <a:schemeClr val="bg1"/>
                </a:solidFill>
              </a:rPr>
              <a:t> 패키지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398E19D-AAE2-6A7F-4E40-F6014DBAB92E}"/>
              </a:ext>
            </a:extLst>
          </p:cNvPr>
          <p:cNvCxnSpPr>
            <a:cxnSpLocks/>
          </p:cNvCxnSpPr>
          <p:nvPr/>
        </p:nvCxnSpPr>
        <p:spPr>
          <a:xfrm flipH="1">
            <a:off x="1156343" y="5408930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A0D2EB-E62E-8651-E10B-7C59E997C71F}"/>
              </a:ext>
            </a:extLst>
          </p:cNvPr>
          <p:cNvCxnSpPr>
            <a:cxnSpLocks/>
          </p:cNvCxnSpPr>
          <p:nvPr/>
        </p:nvCxnSpPr>
        <p:spPr>
          <a:xfrm flipH="1">
            <a:off x="1156343" y="4999637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22EFC00-81D1-2890-9901-26AE159BE946}"/>
              </a:ext>
            </a:extLst>
          </p:cNvPr>
          <p:cNvCxnSpPr>
            <a:cxnSpLocks/>
          </p:cNvCxnSpPr>
          <p:nvPr/>
        </p:nvCxnSpPr>
        <p:spPr>
          <a:xfrm flipH="1">
            <a:off x="3413048" y="5408930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3353B62-FACC-B57C-E6AA-A7072E52447B}"/>
              </a:ext>
            </a:extLst>
          </p:cNvPr>
          <p:cNvCxnSpPr>
            <a:cxnSpLocks/>
          </p:cNvCxnSpPr>
          <p:nvPr/>
        </p:nvCxnSpPr>
        <p:spPr>
          <a:xfrm flipH="1">
            <a:off x="3413048" y="4999637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C3ED3E7-C27D-F9FB-9B30-388ADCE06B69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757151" y="1781681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6E8C9B9-1592-DE10-F0F3-89A43055F34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710504" y="1781681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CB99547-A70D-882A-8AAE-E7ADCA267A9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65546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1754BB5-B7A0-8D4D-0CBE-1D39AEBFBAC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57151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26893D5-1FE8-BDAD-8B57-03691C9AEB9F}"/>
              </a:ext>
            </a:extLst>
          </p:cNvPr>
          <p:cNvSpPr/>
          <p:nvPr/>
        </p:nvSpPr>
        <p:spPr>
          <a:xfrm>
            <a:off x="1020547" y="4787938"/>
            <a:ext cx="2866322" cy="84902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 descr="사용자">
            <a:extLst>
              <a:ext uri="{FF2B5EF4-FFF2-40B4-BE49-F238E27FC236}">
                <a16:creationId xmlns:a16="http://schemas.microsoft.com/office/drawing/2014/main" id="{095E5143-3175-0F99-F195-EB11DA522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409" y="5381266"/>
            <a:ext cx="1301514" cy="1301512"/>
          </a:xfrm>
          <a:prstGeom prst="rect">
            <a:avLst/>
          </a:prstGeom>
        </p:spPr>
      </p:pic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A330EC4-B414-B604-272A-8949991A86A6}"/>
              </a:ext>
            </a:extLst>
          </p:cNvPr>
          <p:cNvSpPr/>
          <p:nvPr/>
        </p:nvSpPr>
        <p:spPr>
          <a:xfrm>
            <a:off x="4916542" y="5003384"/>
            <a:ext cx="2488680" cy="102901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엄청 싸서 구매는 했는데</a:t>
            </a:r>
            <a:r>
              <a:rPr lang="en-US" altLang="ko-KR" sz="1100" dirty="0">
                <a:solidFill>
                  <a:schemeClr val="tx1"/>
                </a:solidFill>
              </a:rPr>
              <a:t>……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막 쓰다 보니 다른 재화에 비해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부족한 재화가 생겨서 불편하네</a:t>
            </a:r>
            <a:r>
              <a:rPr lang="en-US" altLang="ko-KR" sz="1100" dirty="0">
                <a:solidFill>
                  <a:schemeClr val="tx1"/>
                </a:solidFill>
              </a:rPr>
              <a:t>……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3A45925-B943-5325-0315-F2FA6DEB08EE}"/>
              </a:ext>
            </a:extLst>
          </p:cNvPr>
          <p:cNvSpPr/>
          <p:nvPr/>
        </p:nvSpPr>
        <p:spPr>
          <a:xfrm>
            <a:off x="7479397" y="5960022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C265C8F-0ECD-CCB6-7CE9-D842F85EFEC2}"/>
              </a:ext>
            </a:extLst>
          </p:cNvPr>
          <p:cNvSpPr/>
          <p:nvPr/>
        </p:nvSpPr>
        <p:spPr>
          <a:xfrm>
            <a:off x="7711604" y="6114144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30A6A87-35D9-B337-947C-8A4A2E6FDC12}"/>
              </a:ext>
            </a:extLst>
          </p:cNvPr>
          <p:cNvSpPr/>
          <p:nvPr/>
        </p:nvSpPr>
        <p:spPr>
          <a:xfrm>
            <a:off x="9243303" y="5063633"/>
            <a:ext cx="2016540" cy="902808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이미 질렀겠다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하나만 더 사면 되는데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조금만 더 질러볼까</a:t>
            </a:r>
            <a:r>
              <a:rPr lang="en-US" altLang="ko-KR" sz="1200" dirty="0">
                <a:solidFill>
                  <a:schemeClr val="tx1"/>
                </a:solidFill>
              </a:rPr>
              <a:t>?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FE83D13-4440-AA51-C30F-52675BE77042}"/>
              </a:ext>
            </a:extLst>
          </p:cNvPr>
          <p:cNvSpPr/>
          <p:nvPr/>
        </p:nvSpPr>
        <p:spPr>
          <a:xfrm>
            <a:off x="9099303" y="5939243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68FDAB4-A139-B2AC-8132-545549C941FC}"/>
              </a:ext>
            </a:extLst>
          </p:cNvPr>
          <p:cNvSpPr/>
          <p:nvPr/>
        </p:nvSpPr>
        <p:spPr>
          <a:xfrm>
            <a:off x="8959249" y="6114144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 descr="다이아몬드">
            <a:extLst>
              <a:ext uri="{FF2B5EF4-FFF2-40B4-BE49-F238E27FC236}">
                <a16:creationId xmlns:a16="http://schemas.microsoft.com/office/drawing/2014/main" id="{45698C17-FCED-5FCB-55D6-E78D1824B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049144">
            <a:off x="7661053" y="6457946"/>
            <a:ext cx="177862" cy="17786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798E23A4-2047-8410-E93E-09A0F988FCF6}"/>
              </a:ext>
            </a:extLst>
          </p:cNvPr>
          <p:cNvGrpSpPr/>
          <p:nvPr/>
        </p:nvGrpSpPr>
        <p:grpSpPr>
          <a:xfrm rot="2038737">
            <a:off x="8136762" y="6218805"/>
            <a:ext cx="575705" cy="539887"/>
            <a:chOff x="7337617" y="6234675"/>
            <a:chExt cx="575705" cy="539887"/>
          </a:xfrm>
        </p:grpSpPr>
        <p:pic>
          <p:nvPicPr>
            <p:cNvPr id="27" name="그래픽 26" descr="진저브레드 쿠키">
              <a:extLst>
                <a:ext uri="{FF2B5EF4-FFF2-40B4-BE49-F238E27FC236}">
                  <a16:creationId xmlns:a16="http://schemas.microsoft.com/office/drawing/2014/main" id="{F3E2A9E9-9BA9-0A1F-F056-D0299621E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140792">
              <a:off x="7432951" y="6312120"/>
              <a:ext cx="314400" cy="314400"/>
            </a:xfrm>
            <a:prstGeom prst="rect">
              <a:avLst/>
            </a:prstGeom>
          </p:spPr>
        </p:pic>
        <p:pic>
          <p:nvPicPr>
            <p:cNvPr id="44" name="그래픽 43" descr="진저브레드 쿠키">
              <a:extLst>
                <a:ext uri="{FF2B5EF4-FFF2-40B4-BE49-F238E27FC236}">
                  <a16:creationId xmlns:a16="http://schemas.microsoft.com/office/drawing/2014/main" id="{5DD8AC54-0BBF-BFCF-D4B8-F83651F97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258785">
              <a:off x="7598922" y="6234675"/>
              <a:ext cx="314400" cy="314400"/>
            </a:xfrm>
            <a:prstGeom prst="rect">
              <a:avLst/>
            </a:prstGeom>
          </p:spPr>
        </p:pic>
        <p:pic>
          <p:nvPicPr>
            <p:cNvPr id="45" name="그래픽 44" descr="진저브레드 쿠키">
              <a:extLst>
                <a:ext uri="{FF2B5EF4-FFF2-40B4-BE49-F238E27FC236}">
                  <a16:creationId xmlns:a16="http://schemas.microsoft.com/office/drawing/2014/main" id="{465858BC-BB28-84CB-C28F-8D3BF2558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486799">
              <a:off x="7578918" y="6392467"/>
              <a:ext cx="314400" cy="314400"/>
            </a:xfrm>
            <a:prstGeom prst="rect">
              <a:avLst/>
            </a:prstGeom>
          </p:spPr>
        </p:pic>
        <p:pic>
          <p:nvPicPr>
            <p:cNvPr id="46" name="그래픽 45" descr="진저브레드 쿠키">
              <a:extLst>
                <a:ext uri="{FF2B5EF4-FFF2-40B4-BE49-F238E27FC236}">
                  <a16:creationId xmlns:a16="http://schemas.microsoft.com/office/drawing/2014/main" id="{E69942A0-B292-2853-E95A-EF2368A7D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491343">
              <a:off x="7337617" y="6460162"/>
              <a:ext cx="314400" cy="314400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45634E0-32DA-481E-CC36-3820518D1ADF}"/>
              </a:ext>
            </a:extLst>
          </p:cNvPr>
          <p:cNvGrpSpPr/>
          <p:nvPr/>
        </p:nvGrpSpPr>
        <p:grpSpPr>
          <a:xfrm>
            <a:off x="8828782" y="6232477"/>
            <a:ext cx="664863" cy="471600"/>
            <a:chOff x="8627292" y="6302295"/>
            <a:chExt cx="664863" cy="471600"/>
          </a:xfrm>
        </p:grpSpPr>
        <p:pic>
          <p:nvPicPr>
            <p:cNvPr id="34" name="그래픽 33" descr="동전">
              <a:extLst>
                <a:ext uri="{FF2B5EF4-FFF2-40B4-BE49-F238E27FC236}">
                  <a16:creationId xmlns:a16="http://schemas.microsoft.com/office/drawing/2014/main" id="{F73B2438-6105-68E5-6E01-0A4E8CF3A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55241" y="6459495"/>
              <a:ext cx="314400" cy="314400"/>
            </a:xfrm>
            <a:prstGeom prst="rect">
              <a:avLst/>
            </a:prstGeom>
          </p:spPr>
        </p:pic>
        <p:pic>
          <p:nvPicPr>
            <p:cNvPr id="48" name="그래픽 47" descr="동전">
              <a:extLst>
                <a:ext uri="{FF2B5EF4-FFF2-40B4-BE49-F238E27FC236}">
                  <a16:creationId xmlns:a16="http://schemas.microsoft.com/office/drawing/2014/main" id="{363CFDE5-D47F-AB03-D3A7-458FEF59E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977755" y="6357367"/>
              <a:ext cx="314400" cy="314400"/>
            </a:xfrm>
            <a:prstGeom prst="rect">
              <a:avLst/>
            </a:prstGeom>
          </p:spPr>
        </p:pic>
        <p:pic>
          <p:nvPicPr>
            <p:cNvPr id="49" name="그래픽 48" descr="동전">
              <a:extLst>
                <a:ext uri="{FF2B5EF4-FFF2-40B4-BE49-F238E27FC236}">
                  <a16:creationId xmlns:a16="http://schemas.microsoft.com/office/drawing/2014/main" id="{7C6C05E1-BA52-53A8-11DA-E75C4E01D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759298" y="6302295"/>
              <a:ext cx="314400" cy="314400"/>
            </a:xfrm>
            <a:prstGeom prst="rect">
              <a:avLst/>
            </a:prstGeom>
          </p:spPr>
        </p:pic>
        <p:pic>
          <p:nvPicPr>
            <p:cNvPr id="51" name="그래픽 50" descr="동전">
              <a:extLst>
                <a:ext uri="{FF2B5EF4-FFF2-40B4-BE49-F238E27FC236}">
                  <a16:creationId xmlns:a16="http://schemas.microsoft.com/office/drawing/2014/main" id="{FB0865DB-4A3D-1B95-77DD-E5D583E9E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27292" y="6424263"/>
              <a:ext cx="314400" cy="314400"/>
            </a:xfrm>
            <a:prstGeom prst="rect">
              <a:avLst/>
            </a:prstGeom>
          </p:spPr>
        </p:pic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32E0A24-0303-936C-8361-F443E61433AC}"/>
              </a:ext>
            </a:extLst>
          </p:cNvPr>
          <p:cNvCxnSpPr/>
          <p:nvPr/>
        </p:nvCxnSpPr>
        <p:spPr>
          <a:xfrm>
            <a:off x="7483472" y="6354444"/>
            <a:ext cx="140677" cy="10212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D60B4FA-22D7-2E18-C1F5-623B0E1F1D18}"/>
              </a:ext>
            </a:extLst>
          </p:cNvPr>
          <p:cNvCxnSpPr>
            <a:cxnSpLocks/>
          </p:cNvCxnSpPr>
          <p:nvPr/>
        </p:nvCxnSpPr>
        <p:spPr>
          <a:xfrm>
            <a:off x="7509181" y="6509220"/>
            <a:ext cx="8338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B2E779C-4D50-1E04-B142-B656581FB0C2}"/>
              </a:ext>
            </a:extLst>
          </p:cNvPr>
          <p:cNvCxnSpPr>
            <a:cxnSpLocks/>
          </p:cNvCxnSpPr>
          <p:nvPr/>
        </p:nvCxnSpPr>
        <p:spPr>
          <a:xfrm>
            <a:off x="7640700" y="6319870"/>
            <a:ext cx="34782" cy="76376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D966234-AEDC-6A96-B5F9-CDC45A816413}"/>
              </a:ext>
            </a:extLst>
          </p:cNvPr>
          <p:cNvCxnSpPr>
            <a:cxnSpLocks/>
          </p:cNvCxnSpPr>
          <p:nvPr/>
        </p:nvCxnSpPr>
        <p:spPr>
          <a:xfrm flipV="1">
            <a:off x="7495332" y="6564454"/>
            <a:ext cx="128065" cy="4451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6E1E61A-2CC0-AB8A-A2FC-2F4A052C40E0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기준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14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8A04-E2EB-EC12-C4DB-F77CA152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C99D6AB-AB58-76FC-357F-7412E949F980}"/>
              </a:ext>
            </a:extLst>
          </p:cNvPr>
          <p:cNvSpPr/>
          <p:nvPr/>
        </p:nvSpPr>
        <p:spPr>
          <a:xfrm>
            <a:off x="1340566" y="4695149"/>
            <a:ext cx="2213162" cy="1008308"/>
          </a:xfrm>
          <a:prstGeom prst="roundRect">
            <a:avLst>
              <a:gd name="adj" fmla="val 2384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9B3AF-2984-423C-C7B1-08633EB62FCC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유료 상품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5F0BC8-B27E-D941-6ABA-9FC8E624B482}"/>
              </a:ext>
            </a:extLst>
          </p:cNvPr>
          <p:cNvSpPr/>
          <p:nvPr/>
        </p:nvSpPr>
        <p:spPr>
          <a:xfrm>
            <a:off x="2397530" y="1513535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C64CFB-105D-B3D7-7F07-8CF338AD67A9}"/>
              </a:ext>
            </a:extLst>
          </p:cNvPr>
          <p:cNvSpPr/>
          <p:nvPr/>
        </p:nvSpPr>
        <p:spPr>
          <a:xfrm>
            <a:off x="1012735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성능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48C329-81C5-1603-21F3-D884B148919B}"/>
              </a:ext>
            </a:extLst>
          </p:cNvPr>
          <p:cNvSpPr/>
          <p:nvPr/>
        </p:nvSpPr>
        <p:spPr>
          <a:xfrm>
            <a:off x="3621130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감성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F5DFC6-6658-4935-AA3F-8E05B3C5FBEC}"/>
              </a:ext>
            </a:extLst>
          </p:cNvPr>
          <p:cNvSpPr/>
          <p:nvPr/>
        </p:nvSpPr>
        <p:spPr>
          <a:xfrm>
            <a:off x="1340979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재화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자원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7B1085-F6FF-BFBB-AB6E-82186B831F71}"/>
              </a:ext>
            </a:extLst>
          </p:cNvPr>
          <p:cNvSpPr/>
          <p:nvPr/>
        </p:nvSpPr>
        <p:spPr>
          <a:xfrm>
            <a:off x="1340979" y="327695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가챠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E8401B-16D1-A257-1088-B1A6D315B56B}"/>
              </a:ext>
            </a:extLst>
          </p:cNvPr>
          <p:cNvSpPr/>
          <p:nvPr/>
        </p:nvSpPr>
        <p:spPr>
          <a:xfrm>
            <a:off x="1340979" y="369041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성장 가속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2EA393-939B-3FC2-F376-57FDF28255A5}"/>
              </a:ext>
            </a:extLst>
          </p:cNvPr>
          <p:cNvSpPr/>
          <p:nvPr/>
        </p:nvSpPr>
        <p:spPr>
          <a:xfrm>
            <a:off x="1340979" y="4103873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편의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시간 단축 등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ABCE9F-A822-0F8E-D56E-4C99D58BFE12}"/>
              </a:ext>
            </a:extLst>
          </p:cNvPr>
          <p:cNvSpPr/>
          <p:nvPr/>
        </p:nvSpPr>
        <p:spPr>
          <a:xfrm>
            <a:off x="3940583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코디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스킨 수집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F53A924-CD6D-BE25-E32E-B853B575053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156343" y="302790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ACB6965-1109-C1CD-1DF1-216A16CDCA4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156343" y="343719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05148C4-FE8E-754F-C0F2-8CE9A4E9EBF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6343" y="385065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0CBB2EB-D994-7168-26C1-9DF93C69456A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156343" y="4264107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1B917F-21D7-AFC0-AD56-54FD563108E6}"/>
              </a:ext>
            </a:extLst>
          </p:cNvPr>
          <p:cNvCxnSpPr>
            <a:cxnSpLocks/>
          </p:cNvCxnSpPr>
          <p:nvPr/>
        </p:nvCxnSpPr>
        <p:spPr>
          <a:xfrm>
            <a:off x="1156343" y="2458373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FE4C698-48E6-ED25-232D-FFF8F31C6D25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741292" y="3027900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246C700-2D4B-C199-C791-CAB759C1C8A3}"/>
              </a:ext>
            </a:extLst>
          </p:cNvPr>
          <p:cNvCxnSpPr>
            <a:cxnSpLocks/>
          </p:cNvCxnSpPr>
          <p:nvPr/>
        </p:nvCxnSpPr>
        <p:spPr>
          <a:xfrm>
            <a:off x="3747155" y="2458373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57B0F7F-37DE-CEFA-DFB6-1F741D71FA37}"/>
              </a:ext>
            </a:extLst>
          </p:cNvPr>
          <p:cNvSpPr/>
          <p:nvPr/>
        </p:nvSpPr>
        <p:spPr>
          <a:xfrm>
            <a:off x="1475788" y="4837797"/>
            <a:ext cx="1931396" cy="320468"/>
          </a:xfrm>
          <a:prstGeom prst="rect">
            <a:avLst/>
          </a:prstGeom>
          <a:solidFill>
            <a:srgbClr val="FFF5B9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시즌패스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 err="1">
                <a:solidFill>
                  <a:schemeClr val="tx1"/>
                </a:solidFill>
              </a:rPr>
              <a:t>배틀패스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9843E02-82E5-E107-8C99-67A49225908E}"/>
              </a:ext>
            </a:extLst>
          </p:cNvPr>
          <p:cNvSpPr/>
          <p:nvPr/>
        </p:nvSpPr>
        <p:spPr>
          <a:xfrm>
            <a:off x="1475788" y="5247090"/>
            <a:ext cx="1931396" cy="320468"/>
          </a:xfrm>
          <a:prstGeom prst="rect">
            <a:avLst/>
          </a:prstGeom>
          <a:solidFill>
            <a:srgbClr val="FFF5B9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1"/>
                </a:solidFill>
              </a:rPr>
              <a:t>온보딩</a:t>
            </a:r>
            <a:r>
              <a:rPr lang="ko-KR" altLang="en-US" sz="1100" dirty="0">
                <a:solidFill>
                  <a:schemeClr val="tx1"/>
                </a:solidFill>
              </a:rPr>
              <a:t> 패키지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452883B-0795-4E0C-CCB1-9A386B0F8A21}"/>
              </a:ext>
            </a:extLst>
          </p:cNvPr>
          <p:cNvCxnSpPr>
            <a:cxnSpLocks/>
          </p:cNvCxnSpPr>
          <p:nvPr/>
        </p:nvCxnSpPr>
        <p:spPr>
          <a:xfrm flipH="1">
            <a:off x="1156343" y="5407324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01AD752-70C7-6A42-3257-748FB6131ABC}"/>
              </a:ext>
            </a:extLst>
          </p:cNvPr>
          <p:cNvCxnSpPr>
            <a:cxnSpLocks/>
          </p:cNvCxnSpPr>
          <p:nvPr/>
        </p:nvCxnSpPr>
        <p:spPr>
          <a:xfrm flipH="1">
            <a:off x="1156343" y="4998031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046A3C5-AC8E-2804-78E9-9A856BD8BCFA}"/>
              </a:ext>
            </a:extLst>
          </p:cNvPr>
          <p:cNvCxnSpPr>
            <a:cxnSpLocks/>
          </p:cNvCxnSpPr>
          <p:nvPr/>
        </p:nvCxnSpPr>
        <p:spPr>
          <a:xfrm flipH="1">
            <a:off x="3413048" y="5407324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8838389-46E5-24FB-3994-45B8C2CED010}"/>
              </a:ext>
            </a:extLst>
          </p:cNvPr>
          <p:cNvCxnSpPr>
            <a:cxnSpLocks/>
          </p:cNvCxnSpPr>
          <p:nvPr/>
        </p:nvCxnSpPr>
        <p:spPr>
          <a:xfrm flipH="1">
            <a:off x="3413048" y="4998031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43D100E-5A7C-D40A-492B-0B1912E5D25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757151" y="1780075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4E7B700-4E4F-9461-4DA8-1829C2168201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3710504" y="1780075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FB9310B-D645-DB8C-50DE-C593C5CD803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65546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DAADDE2-B8CE-AE56-B4FD-C7BCBBCB2649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757151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10AA38D-5649-5023-5845-3884577E883D}"/>
              </a:ext>
            </a:extLst>
          </p:cNvPr>
          <p:cNvSpPr txBox="1"/>
          <p:nvPr/>
        </p:nvSpPr>
        <p:spPr>
          <a:xfrm>
            <a:off x="5854378" y="1217324"/>
            <a:ext cx="5900485" cy="411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의견</a:t>
            </a:r>
            <a:endParaRPr lang="en-US" altLang="ko-KR" sz="1600" b="1" dirty="0">
              <a:highlight>
                <a:srgbClr val="FFE4B3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highlight>
                <a:srgbClr val="FFE4B3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highlight>
                <a:srgbClr val="FFE4B3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FFE4B3"/>
                </a:highlight>
              </a:rPr>
              <a:t>성능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CCECFF"/>
                </a:highlight>
              </a:rPr>
              <a:t>감성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성능을 중요시 하는 유저</a:t>
            </a:r>
            <a:r>
              <a:rPr lang="en-US" altLang="ko-KR" sz="1100" dirty="0"/>
              <a:t>,</a:t>
            </a:r>
            <a:r>
              <a:rPr lang="ko-KR" altLang="en-US" sz="1100" dirty="0"/>
              <a:t> 감성을 중요시 하는 유저</a:t>
            </a:r>
            <a:r>
              <a:rPr lang="en-US" altLang="ko-KR" sz="1100" dirty="0"/>
              <a:t> </a:t>
            </a:r>
            <a:r>
              <a:rPr lang="ko-KR" altLang="en-US" sz="1100" dirty="0"/>
              <a:t>모두가 만족 할 수 있게끔</a:t>
            </a:r>
            <a:br>
              <a:rPr lang="en-US" altLang="ko-KR" sz="1100" dirty="0"/>
            </a:br>
            <a:r>
              <a:rPr lang="ko-KR" altLang="en-US" sz="1100" dirty="0"/>
              <a:t>서로 다른 방향성의 상품들을 판매 중인 것으로</a:t>
            </a:r>
            <a:r>
              <a:rPr lang="en-US" altLang="ko-KR" sz="1100" dirty="0"/>
              <a:t> </a:t>
            </a:r>
            <a:r>
              <a:rPr lang="ko-KR" altLang="en-US" sz="1100" dirty="0"/>
              <a:t>예상됩니다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E4D2F2"/>
                </a:highlight>
              </a:rPr>
              <a:t>복합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/>
              <a:t>싼 값으로 구매를 유도하고</a:t>
            </a:r>
            <a:r>
              <a:rPr lang="en-US" altLang="ko-KR" sz="1100" dirty="0"/>
              <a:t> </a:t>
            </a:r>
            <a:r>
              <a:rPr lang="ko-KR" altLang="en-US" sz="1100" dirty="0"/>
              <a:t>특정 방향성의 아이템의 결핍을 느끼게 하며</a:t>
            </a:r>
            <a:br>
              <a:rPr lang="en-US" altLang="ko-KR" sz="1100" dirty="0"/>
            </a:br>
            <a:r>
              <a:rPr lang="ko-KR" altLang="en-US" sz="1100" dirty="0"/>
              <a:t>추가 구매로 이어지도록 유도하는 판매 전략을 사용하는 것 같습니다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가격 대비 효율을 생각한다면 </a:t>
            </a:r>
            <a:r>
              <a:rPr lang="ko-KR" altLang="en-US" sz="1200" b="1" dirty="0">
                <a:highlight>
                  <a:srgbClr val="E4D2F2"/>
                </a:highlight>
              </a:rPr>
              <a:t>복합 상품</a:t>
            </a:r>
            <a:r>
              <a:rPr lang="ko-KR" altLang="en-US" sz="1200" b="1" dirty="0">
                <a:highlight>
                  <a:srgbClr val="FFFF00"/>
                </a:highlight>
              </a:rPr>
              <a:t>이 주력 유료 상품인 것으로 예상됩니다</a:t>
            </a:r>
            <a:r>
              <a:rPr lang="en-US" altLang="ko-KR" sz="1200" b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52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AA8E-063C-541F-6B81-59DB8830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C471FC-8C78-8F0D-A751-B3F8F6003BD0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유료 상품 분석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유저 과금 지표 분석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OO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기준 국내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OO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스토어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6~8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평균 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E5B6809-C382-2FE9-5142-C06672B54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708463"/>
              </p:ext>
            </p:extLst>
          </p:nvPr>
        </p:nvGraphicFramePr>
        <p:xfrm>
          <a:off x="3258909" y="1257381"/>
          <a:ext cx="5674183" cy="1455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8685">
                  <a:extLst>
                    <a:ext uri="{9D8B030D-6E8A-4147-A177-3AD203B41FA5}">
                      <a16:colId xmlns:a16="http://schemas.microsoft.com/office/drawing/2014/main" val="4182792535"/>
                    </a:ext>
                  </a:extLst>
                </a:gridCol>
                <a:gridCol w="823866">
                  <a:extLst>
                    <a:ext uri="{9D8B030D-6E8A-4147-A177-3AD203B41FA5}">
                      <a16:colId xmlns:a16="http://schemas.microsoft.com/office/drawing/2014/main" val="442580249"/>
                    </a:ext>
                  </a:extLst>
                </a:gridCol>
                <a:gridCol w="1097873">
                  <a:extLst>
                    <a:ext uri="{9D8B030D-6E8A-4147-A177-3AD203B41FA5}">
                      <a16:colId xmlns:a16="http://schemas.microsoft.com/office/drawing/2014/main" val="2258235410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2937145788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455798201"/>
                    </a:ext>
                  </a:extLst>
                </a:gridCol>
                <a:gridCol w="1303729">
                  <a:extLst>
                    <a:ext uri="{9D8B030D-6E8A-4147-A177-3AD203B41FA5}">
                      <a16:colId xmlns:a16="http://schemas.microsoft.com/office/drawing/2014/main" val="1604122080"/>
                    </a:ext>
                  </a:extLst>
                </a:gridCol>
              </a:tblGrid>
              <a:tr h="5439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쿠키런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킹덤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PUR</a:t>
                      </a:r>
                      <a:br>
                        <a:rPr lang="en-US" sz="1200" b="1" u="none" strike="noStrike" dirty="0">
                          <a:effectLst/>
                        </a:rPr>
                      </a:b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Paying User Rate</a:t>
                      </a:r>
                      <a:endParaRPr 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ARPPU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Revenue Per Paying User</a:t>
                      </a: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8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Paying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</a:rPr>
                        <a:t> 총 매출 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78181"/>
                  </a:ext>
                </a:extLst>
              </a:tr>
              <a:tr h="303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20.1%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6,964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507211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101793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</a:t>
                      </a:r>
                      <a:r>
                        <a:rPr lang="en-US" altLang="ko-KR" sz="1100" u="none" strike="noStrike" dirty="0">
                          <a:effectLst/>
                        </a:rPr>
                        <a:t>708,912,300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050948"/>
                  </a:ext>
                </a:extLst>
              </a:tr>
              <a:tr h="303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7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19.5%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6,601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498975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97532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</a:t>
                      </a:r>
                      <a:r>
                        <a:rPr lang="en-US" altLang="ko-KR" sz="1100" u="none" strike="noStrike" dirty="0">
                          <a:effectLst/>
                        </a:rPr>
                        <a:t>643,785,900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164464"/>
                  </a:ext>
                </a:extLst>
              </a:tr>
              <a:tr h="303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8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20.1%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6,630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479237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96221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</a:t>
                      </a:r>
                      <a:r>
                        <a:rPr lang="en-US" altLang="ko-KR" sz="1100" u="none" strike="noStrike" dirty="0">
                          <a:effectLst/>
                        </a:rPr>
                        <a:t>637,925,300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66715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4AD5F24-999D-E6A7-B492-70EE4BA5CD4B}"/>
              </a:ext>
            </a:extLst>
          </p:cNvPr>
          <p:cNvSpPr txBox="1"/>
          <p:nvPr/>
        </p:nvSpPr>
        <p:spPr>
          <a:xfrm>
            <a:off x="2520462" y="4872882"/>
            <a:ext cx="7151076" cy="1418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highlight>
                  <a:srgbClr val="FFFF00"/>
                </a:highlight>
              </a:rPr>
              <a:t>PUR</a:t>
            </a:r>
            <a:r>
              <a:rPr lang="ko-KR" altLang="en-US" sz="1600" b="1" dirty="0">
                <a:highlight>
                  <a:srgbClr val="FFFF00"/>
                </a:highlight>
              </a:rPr>
              <a:t>은 높지만 </a:t>
            </a:r>
            <a:r>
              <a:rPr lang="en-US" altLang="ko-KR" sz="1600" b="1" dirty="0">
                <a:highlight>
                  <a:srgbClr val="FFFF00"/>
                </a:highlight>
              </a:rPr>
              <a:t>ARPPU</a:t>
            </a:r>
            <a:r>
              <a:rPr lang="ko-KR" altLang="en-US" sz="1600" b="1" dirty="0">
                <a:highlight>
                  <a:srgbClr val="FFFF00"/>
                </a:highlight>
              </a:rPr>
              <a:t>가 낮습니다</a:t>
            </a:r>
            <a:r>
              <a:rPr lang="en-US" altLang="ko-KR" sz="1600" b="1" dirty="0">
                <a:highlight>
                  <a:srgbClr val="FFFF00"/>
                </a:highlight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같은 장르의 타 게임과 비교 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ko-KR" sz="700" b="1" dirty="0"/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AU</a:t>
            </a:r>
            <a:r>
              <a:rPr lang="ko-KR" altLang="en-US" sz="1200" dirty="0"/>
              <a:t> 확보보다 </a:t>
            </a:r>
            <a:r>
              <a:rPr lang="en-US" altLang="ko-KR" sz="1200" dirty="0"/>
              <a:t>PU </a:t>
            </a:r>
            <a:r>
              <a:rPr lang="ko-KR" altLang="en-US" sz="1200" dirty="0"/>
              <a:t>내에서 매출을 확보하는 단가 상승 전략을 활용하는 것이 좋을 것 같습니다</a:t>
            </a:r>
            <a:r>
              <a:rPr lang="en-US" altLang="ko-KR" sz="1200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단가 상승 전략을 활용한다면 자기만족의 기능을 하는 </a:t>
            </a:r>
            <a:r>
              <a:rPr lang="ko-KR" altLang="en-US" sz="1200" b="1" dirty="0">
                <a:highlight>
                  <a:srgbClr val="CCECFF"/>
                </a:highlight>
              </a:rPr>
              <a:t>감성 아이템</a:t>
            </a:r>
            <a:r>
              <a:rPr lang="ko-KR" altLang="en-US" sz="1200" dirty="0"/>
              <a:t>이 아닌</a:t>
            </a:r>
            <a:br>
              <a:rPr lang="en-US" altLang="ko-KR" sz="1200" dirty="0"/>
            </a:br>
            <a:r>
              <a:rPr lang="ko-KR" altLang="en-US" sz="1200" dirty="0"/>
              <a:t>미 구매 시 남들보다 뒤쳐진다는 위협감이 들 수 있는</a:t>
            </a:r>
            <a:r>
              <a:rPr lang="en-US" altLang="ko-KR" sz="1200" dirty="0"/>
              <a:t> </a:t>
            </a:r>
            <a:r>
              <a:rPr lang="ko-KR" altLang="en-US" sz="1200" b="1" dirty="0">
                <a:highlight>
                  <a:srgbClr val="FFE4B3"/>
                </a:highlight>
              </a:rPr>
              <a:t>성능 아이템</a:t>
            </a:r>
            <a:r>
              <a:rPr lang="ko-KR" altLang="en-US" sz="1200" dirty="0"/>
              <a:t>을 고려하는 것이 좋아 보입니다</a:t>
            </a:r>
            <a:r>
              <a:rPr lang="en-US" altLang="ko-KR" sz="1200" dirty="0"/>
              <a:t>.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3043B9A-8609-18B2-9313-46610D21B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014792"/>
              </p:ext>
            </p:extLst>
          </p:nvPr>
        </p:nvGraphicFramePr>
        <p:xfrm>
          <a:off x="3258908" y="3065131"/>
          <a:ext cx="5674182" cy="1455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984">
                  <a:extLst>
                    <a:ext uri="{9D8B030D-6E8A-4147-A177-3AD203B41FA5}">
                      <a16:colId xmlns:a16="http://schemas.microsoft.com/office/drawing/2014/main" val="2347846185"/>
                    </a:ext>
                  </a:extLst>
                </a:gridCol>
                <a:gridCol w="837619">
                  <a:extLst>
                    <a:ext uri="{9D8B030D-6E8A-4147-A177-3AD203B41FA5}">
                      <a16:colId xmlns:a16="http://schemas.microsoft.com/office/drawing/2014/main" val="2635126249"/>
                    </a:ext>
                  </a:extLst>
                </a:gridCol>
                <a:gridCol w="1088820">
                  <a:extLst>
                    <a:ext uri="{9D8B030D-6E8A-4147-A177-3AD203B41FA5}">
                      <a16:colId xmlns:a16="http://schemas.microsoft.com/office/drawing/2014/main" val="4058769074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1716116926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2462786551"/>
                    </a:ext>
                  </a:extLst>
                </a:gridCol>
                <a:gridCol w="1303729">
                  <a:extLst>
                    <a:ext uri="{9D8B030D-6E8A-4147-A177-3AD203B41FA5}">
                      <a16:colId xmlns:a16="http://schemas.microsoft.com/office/drawing/2014/main" val="1061015045"/>
                    </a:ext>
                  </a:extLst>
                </a:gridCol>
              </a:tblGrid>
              <a:tr h="56397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타 게임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PUR</a:t>
                      </a:r>
                      <a:br>
                        <a:rPr lang="en-US" sz="1200" b="1" u="none" strike="noStrike" dirty="0">
                          <a:effectLst/>
                        </a:rPr>
                      </a:b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Paying User Rate</a:t>
                      </a:r>
                      <a:endParaRPr 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ARPPU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Revenue Per Paying User</a:t>
                      </a: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8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Paying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</a:rPr>
                        <a:t> 총 매출 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95541"/>
                  </a:ext>
                </a:extLst>
              </a:tr>
              <a:tr h="297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8.0%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29,368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</a:rPr>
                        <a:t>-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361657"/>
                  </a:ext>
                </a:extLst>
              </a:tr>
              <a:tr h="297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7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7.5%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₩       </a:t>
                      </a:r>
                      <a:r>
                        <a:rPr lang="en-US" altLang="ko-KR" sz="1100" u="none" strike="noStrike">
                          <a:effectLst/>
                        </a:rPr>
                        <a:t>28,757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</a:t>
                      </a:r>
                      <a:r>
                        <a:rPr lang="en-US" altLang="ko-KR" sz="1100" u="none" strike="noStrike">
                          <a:effectLst/>
                        </a:rPr>
                        <a:t>-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45498"/>
                  </a:ext>
                </a:extLst>
              </a:tr>
              <a:tr h="297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8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8.0%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25,985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</a:rPr>
                        <a:t>-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03194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9EA9BC7F-440C-8063-739A-F6135EBAD764}"/>
              </a:ext>
            </a:extLst>
          </p:cNvPr>
          <p:cNvSpPr/>
          <p:nvPr/>
        </p:nvSpPr>
        <p:spPr>
          <a:xfrm>
            <a:off x="4038610" y="1178169"/>
            <a:ext cx="2057389" cy="3420207"/>
          </a:xfrm>
          <a:prstGeom prst="rect">
            <a:avLst/>
          </a:prstGeom>
          <a:noFill/>
          <a:ln w="38100">
            <a:solidFill>
              <a:srgbClr val="FF0000">
                <a:alpha val="25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46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D0828-D767-2704-F2D1-1554ECC2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01A6D9-6140-9ADA-0C77-64744D9F683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9C1D5AE-41F6-7976-F8AF-B4B29B511C41}"/>
              </a:ext>
            </a:extLst>
          </p:cNvPr>
          <p:cNvGrpSpPr/>
          <p:nvPr/>
        </p:nvGrpSpPr>
        <p:grpSpPr>
          <a:xfrm>
            <a:off x="2565887" y="5150086"/>
            <a:ext cx="2074986" cy="668216"/>
            <a:chOff x="1441937" y="5750169"/>
            <a:chExt cx="2074986" cy="668216"/>
          </a:xfrm>
        </p:grpSpPr>
        <p:sp>
          <p:nvSpPr>
            <p:cNvPr id="22" name="사다리꼴 21">
              <a:extLst>
                <a:ext uri="{FF2B5EF4-FFF2-40B4-BE49-F238E27FC236}">
                  <a16:creationId xmlns:a16="http://schemas.microsoft.com/office/drawing/2014/main" id="{1494D2AE-5540-17CA-24FD-85A00A1D2538}"/>
                </a:ext>
              </a:extLst>
            </p:cNvPr>
            <p:cNvSpPr/>
            <p:nvPr/>
          </p:nvSpPr>
          <p:spPr>
            <a:xfrm rot="10800000">
              <a:off x="1441937" y="5750169"/>
              <a:ext cx="2074986" cy="668216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4854E13-B8D2-A140-DCE0-A19CF5E2C80B}"/>
                </a:ext>
              </a:extLst>
            </p:cNvPr>
            <p:cNvSpPr txBox="1"/>
            <p:nvPr/>
          </p:nvSpPr>
          <p:spPr>
            <a:xfrm>
              <a:off x="2098554" y="5899611"/>
              <a:ext cx="761751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충성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6DAE961-0460-DD24-8AEE-0F8B4037A9D2}"/>
              </a:ext>
            </a:extLst>
          </p:cNvPr>
          <p:cNvGrpSpPr/>
          <p:nvPr/>
        </p:nvGrpSpPr>
        <p:grpSpPr>
          <a:xfrm>
            <a:off x="1968010" y="2434899"/>
            <a:ext cx="3270740" cy="668216"/>
            <a:chOff x="844060" y="2129917"/>
            <a:chExt cx="3270740" cy="668216"/>
          </a:xfrm>
        </p:grpSpPr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0AFB524D-D83B-91AC-2D11-0CB88D362104}"/>
                </a:ext>
              </a:extLst>
            </p:cNvPr>
            <p:cNvSpPr/>
            <p:nvPr/>
          </p:nvSpPr>
          <p:spPr>
            <a:xfrm rot="10800000">
              <a:off x="844060" y="2129917"/>
              <a:ext cx="3270740" cy="668216"/>
            </a:xfrm>
            <a:prstGeom prst="trapezoid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754035-9E8F-2905-E2B7-EE68FB5A9652}"/>
                </a:ext>
              </a:extLst>
            </p:cNvPr>
            <p:cNvSpPr txBox="1"/>
            <p:nvPr/>
          </p:nvSpPr>
          <p:spPr>
            <a:xfrm>
              <a:off x="2098556" y="2279359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학습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86E7CB8-FC56-250C-AEE3-70685AC72D63}"/>
              </a:ext>
            </a:extLst>
          </p:cNvPr>
          <p:cNvGrpSpPr/>
          <p:nvPr/>
        </p:nvGrpSpPr>
        <p:grpSpPr>
          <a:xfrm>
            <a:off x="2170233" y="3339962"/>
            <a:ext cx="2866294" cy="668216"/>
            <a:chOff x="1046283" y="3336668"/>
            <a:chExt cx="2866294" cy="668216"/>
          </a:xfrm>
        </p:grpSpPr>
        <p:sp>
          <p:nvSpPr>
            <p:cNvPr id="16" name="사다리꼴 15">
              <a:extLst>
                <a:ext uri="{FF2B5EF4-FFF2-40B4-BE49-F238E27FC236}">
                  <a16:creationId xmlns:a16="http://schemas.microsoft.com/office/drawing/2014/main" id="{88704B06-7F31-6CD9-BD96-B3BB20778F59}"/>
                </a:ext>
              </a:extLst>
            </p:cNvPr>
            <p:cNvSpPr/>
            <p:nvPr/>
          </p:nvSpPr>
          <p:spPr>
            <a:xfrm rot="10800000">
              <a:off x="1046283" y="3336668"/>
              <a:ext cx="2866294" cy="668216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3EBDC86-CFC2-0AED-6AB4-272A2032329A}"/>
                </a:ext>
              </a:extLst>
            </p:cNvPr>
            <p:cNvSpPr txBox="1"/>
            <p:nvPr/>
          </p:nvSpPr>
          <p:spPr>
            <a:xfrm>
              <a:off x="2098555" y="3486110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잔류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B67FDCA-7B73-E315-E0C5-134D43CC4CA7}"/>
              </a:ext>
            </a:extLst>
          </p:cNvPr>
          <p:cNvGrpSpPr/>
          <p:nvPr/>
        </p:nvGrpSpPr>
        <p:grpSpPr>
          <a:xfrm>
            <a:off x="2381249" y="4245025"/>
            <a:ext cx="2444262" cy="668216"/>
            <a:chOff x="1257299" y="4543419"/>
            <a:chExt cx="2444262" cy="668216"/>
          </a:xfrm>
        </p:grpSpPr>
        <p:sp>
          <p:nvSpPr>
            <p:cNvPr id="19" name="사다리꼴 18">
              <a:extLst>
                <a:ext uri="{FF2B5EF4-FFF2-40B4-BE49-F238E27FC236}">
                  <a16:creationId xmlns:a16="http://schemas.microsoft.com/office/drawing/2014/main" id="{06E85B54-2020-AAEA-40A3-24D267F46D34}"/>
                </a:ext>
              </a:extLst>
            </p:cNvPr>
            <p:cNvSpPr/>
            <p:nvPr/>
          </p:nvSpPr>
          <p:spPr>
            <a:xfrm rot="10800000">
              <a:off x="1257299" y="4543419"/>
              <a:ext cx="2444262" cy="668216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4A8E8D-4546-AFC2-BD53-9826307E3670}"/>
                </a:ext>
              </a:extLst>
            </p:cNvPr>
            <p:cNvSpPr txBox="1"/>
            <p:nvPr/>
          </p:nvSpPr>
          <p:spPr>
            <a:xfrm>
              <a:off x="2098556" y="4692861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몰입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3EBB695-0298-D66F-55BC-1326F4419E89}"/>
              </a:ext>
            </a:extLst>
          </p:cNvPr>
          <p:cNvGrpSpPr/>
          <p:nvPr/>
        </p:nvGrpSpPr>
        <p:grpSpPr>
          <a:xfrm>
            <a:off x="1792165" y="1529836"/>
            <a:ext cx="3622430" cy="668216"/>
            <a:chOff x="668215" y="923167"/>
            <a:chExt cx="3622430" cy="668216"/>
          </a:xfrm>
        </p:grpSpPr>
        <p:sp>
          <p:nvSpPr>
            <p:cNvPr id="2" name="사다리꼴 1">
              <a:extLst>
                <a:ext uri="{FF2B5EF4-FFF2-40B4-BE49-F238E27FC236}">
                  <a16:creationId xmlns:a16="http://schemas.microsoft.com/office/drawing/2014/main" id="{AF064B39-391A-B8A5-8A4D-A4300D1D2291}"/>
                </a:ext>
              </a:extLst>
            </p:cNvPr>
            <p:cNvSpPr/>
            <p:nvPr/>
          </p:nvSpPr>
          <p:spPr>
            <a:xfrm rot="10800000">
              <a:off x="668215" y="923167"/>
              <a:ext cx="3622430" cy="668216"/>
            </a:xfrm>
            <a:prstGeom prst="trapezoid">
              <a:avLst/>
            </a:prstGeom>
            <a:solidFill>
              <a:schemeClr val="bg1"/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5084E-BDDC-01FE-EC00-7B59374257F9}"/>
                </a:ext>
              </a:extLst>
            </p:cNvPr>
            <p:cNvSpPr txBox="1"/>
            <p:nvPr/>
          </p:nvSpPr>
          <p:spPr>
            <a:xfrm>
              <a:off x="1814512" y="1072609"/>
              <a:ext cx="1329836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유입</a:t>
              </a:r>
              <a:endParaRPr lang="ko-KR" altLang="en-US" b="1" dirty="0">
                <a:effectLst>
                  <a:outerShdw blurRad="88900" sx="102000" sy="102000" algn="ctr" rotWithShape="0">
                    <a:schemeClr val="bg1"/>
                  </a:outerShdw>
                </a:effectLst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B0D3D6F-5800-B356-0526-3C84D5D3303C}"/>
              </a:ext>
            </a:extLst>
          </p:cNvPr>
          <p:cNvSpPr txBox="1"/>
          <p:nvPr/>
        </p:nvSpPr>
        <p:spPr>
          <a:xfrm>
            <a:off x="5957520" y="2757310"/>
            <a:ext cx="5003820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쿠키런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킹덤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유저층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단계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유형으로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구분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하였습니다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lang="en-US" altLang="ko-KR" sz="14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위 단계를 기준으로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퍼널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분석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을 하였습니다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805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8CC0-EAAA-DF20-FCC8-6F2F852D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8BF98A-6373-25AE-E840-663A946E6116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470CD1B-7605-4944-D72F-D018D2C842CE}"/>
              </a:ext>
            </a:extLst>
          </p:cNvPr>
          <p:cNvGrpSpPr/>
          <p:nvPr/>
        </p:nvGrpSpPr>
        <p:grpSpPr>
          <a:xfrm>
            <a:off x="1424352" y="923167"/>
            <a:ext cx="3622430" cy="668216"/>
            <a:chOff x="668215" y="923167"/>
            <a:chExt cx="3622430" cy="668216"/>
          </a:xfrm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DC608D90-5A8B-2F4E-36F5-88AB974E40F7}"/>
                </a:ext>
              </a:extLst>
            </p:cNvPr>
            <p:cNvSpPr/>
            <p:nvPr/>
          </p:nvSpPr>
          <p:spPr>
            <a:xfrm rot="10800000">
              <a:off x="668215" y="923167"/>
              <a:ext cx="3622430" cy="668216"/>
            </a:xfrm>
            <a:prstGeom prst="trapezoid">
              <a:avLst/>
            </a:prstGeom>
            <a:solidFill>
              <a:schemeClr val="bg1"/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B6F75D-4FA5-E4F9-4830-165F2EF13AD6}"/>
                </a:ext>
              </a:extLst>
            </p:cNvPr>
            <p:cNvSpPr txBox="1"/>
            <p:nvPr/>
          </p:nvSpPr>
          <p:spPr>
            <a:xfrm>
              <a:off x="1814512" y="1072609"/>
              <a:ext cx="1329836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유입</a:t>
              </a:r>
              <a:endParaRPr lang="ko-KR" altLang="en-US" b="1" dirty="0">
                <a:effectLst>
                  <a:outerShdw blurRad="88900" sx="102000" sy="102000" algn="ctr" rotWithShape="0">
                    <a:schemeClr val="bg1"/>
                  </a:outerShdw>
                </a:effectLst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461FDCA-250E-6C09-BB1C-650E1192F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915287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첫 인상이 마음에 드니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조금만 더 해봐야겠다</a:t>
                      </a:r>
                      <a:r>
                        <a:rPr lang="en-US" altLang="ko-KR" sz="1100" b="0" i="0" dirty="0"/>
                        <a:t>.</a:t>
                      </a:r>
                      <a:endParaRPr lang="ko-KR" altLang="en-US" sz="11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내 취향은 아니다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게임이 무슨 내용인지 알 수 없어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E7A78825-95F5-73A5-AD04-1326821CA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1315" y="1740826"/>
            <a:ext cx="1839160" cy="183915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15BBC6B-FDA2-4498-E09D-D7BF421F6AF4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일단 한번 해보기나 하자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3B1A4-7483-7B50-2AE3-260488AE6E7E}"/>
              </a:ext>
            </a:extLst>
          </p:cNvPr>
          <p:cNvSpPr txBox="1"/>
          <p:nvPr/>
        </p:nvSpPr>
        <p:spPr>
          <a:xfrm>
            <a:off x="5763828" y="923166"/>
            <a:ext cx="5270518" cy="319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게임의 특징을 알기 위해 설치하여 접속한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첫 인상이 좋지 못할 때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취향에 맞지 않음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게임 이해 불가 등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)</a:t>
            </a:r>
            <a:b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ko-KR" altLang="en-US" sz="1100" dirty="0"/>
              <a:t>언제든지 이탈 가능하다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튜토리얼 클리어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월드 </a:t>
            </a:r>
            <a:r>
              <a:rPr lang="en-US" altLang="ko-KR" sz="1100" dirty="0">
                <a:solidFill>
                  <a:prstClr val="black"/>
                </a:solidFill>
              </a:rPr>
              <a:t>1 </a:t>
            </a:r>
            <a:r>
              <a:rPr lang="ko-KR" altLang="en-US" sz="1100" dirty="0">
                <a:solidFill>
                  <a:prstClr val="black"/>
                </a:solidFill>
              </a:rPr>
              <a:t>클리어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게임 삭제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A4E1D80-0601-3716-1F78-B009284387BA}"/>
              </a:ext>
            </a:extLst>
          </p:cNvPr>
          <p:cNvSpPr/>
          <p:nvPr/>
        </p:nvSpPr>
        <p:spPr>
          <a:xfrm>
            <a:off x="3419178" y="2713486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FF89BBC-30C8-C03D-36C3-7D041BA748F1}"/>
              </a:ext>
            </a:extLst>
          </p:cNvPr>
          <p:cNvSpPr/>
          <p:nvPr/>
        </p:nvSpPr>
        <p:spPr>
          <a:xfrm>
            <a:off x="3527178" y="255327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0E62BD9-DE12-9046-C7B3-D9AADEC6FBDD}"/>
              </a:ext>
            </a:extLst>
          </p:cNvPr>
          <p:cNvSpPr/>
          <p:nvPr/>
        </p:nvSpPr>
        <p:spPr>
          <a:xfrm>
            <a:off x="3599178" y="1701251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?</a:t>
            </a:r>
            <a:endParaRPr lang="ko-KR" altLang="en-US" sz="54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719ED78-37C0-D306-0A0D-B0E1D2AB631B}"/>
              </a:ext>
            </a:extLst>
          </p:cNvPr>
          <p:cNvSpPr/>
          <p:nvPr/>
        </p:nvSpPr>
        <p:spPr>
          <a:xfrm>
            <a:off x="5949699" y="4522232"/>
            <a:ext cx="1489326" cy="75043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게임 설치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950EA73-A8C6-2A20-E3F1-5822A68F5E01}"/>
              </a:ext>
            </a:extLst>
          </p:cNvPr>
          <p:cNvSpPr/>
          <p:nvPr/>
        </p:nvSpPr>
        <p:spPr>
          <a:xfrm>
            <a:off x="7710859" y="4522232"/>
            <a:ext cx="1489326" cy="75043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튜토리얼 및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첫 판 클리어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B7147ED-C540-BBD1-BB86-CBC29ED54A28}"/>
              </a:ext>
            </a:extLst>
          </p:cNvPr>
          <p:cNvSpPr/>
          <p:nvPr/>
        </p:nvSpPr>
        <p:spPr>
          <a:xfrm>
            <a:off x="9472019" y="5068216"/>
            <a:ext cx="1110022" cy="55931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게임 삭제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393222-B3FB-BF63-4AE5-850999A328D9}"/>
              </a:ext>
            </a:extLst>
          </p:cNvPr>
          <p:cNvSpPr/>
          <p:nvPr/>
        </p:nvSpPr>
        <p:spPr>
          <a:xfrm>
            <a:off x="9472019" y="4264762"/>
            <a:ext cx="1110022" cy="55931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몰입 시작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CF0E33B-585E-4803-73C0-DA7B11D89E1F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7439025" y="4897450"/>
            <a:ext cx="27183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09E0359-78A5-DAD9-70F3-EC7C7BB465FF}"/>
              </a:ext>
            </a:extLst>
          </p:cNvPr>
          <p:cNvCxnSpPr>
            <a:cxnSpLocks/>
            <a:stCxn id="35" idx="3"/>
            <a:endCxn id="39" idx="1"/>
          </p:cNvCxnSpPr>
          <p:nvPr/>
        </p:nvCxnSpPr>
        <p:spPr>
          <a:xfrm flipV="1">
            <a:off x="9200185" y="4544419"/>
            <a:ext cx="271834" cy="3530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A3DBFFE-B42A-FDE3-7B68-CDAC69091198}"/>
              </a:ext>
            </a:extLst>
          </p:cNvPr>
          <p:cNvCxnSpPr>
            <a:cxnSpLocks/>
            <a:stCxn id="35" idx="3"/>
            <a:endCxn id="38" idx="1"/>
          </p:cNvCxnSpPr>
          <p:nvPr/>
        </p:nvCxnSpPr>
        <p:spPr>
          <a:xfrm>
            <a:off x="9200185" y="4897450"/>
            <a:ext cx="271834" cy="45042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B58D16FF-3348-41C9-72FD-D3CE2F508318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017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D2A9-3602-5D44-C07B-523E7B33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DFE99F-48ED-D453-FBFD-74CDA5EBD3C4}"/>
              </a:ext>
            </a:extLst>
          </p:cNvPr>
          <p:cNvSpPr/>
          <p:nvPr/>
        </p:nvSpPr>
        <p:spPr>
          <a:xfrm>
            <a:off x="6350603" y="3846881"/>
            <a:ext cx="4096968" cy="2353010"/>
          </a:xfrm>
          <a:prstGeom prst="roundRect">
            <a:avLst>
              <a:gd name="adj" fmla="val 4523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C0CBE-4F8D-48F6-5016-A36B8169CE28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120C374-8291-960A-E4F8-979BFED6A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15913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이 정도면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꾸준히 할 만 하지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dirty="0"/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어떤 게임인지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파악했고 익숙해졌어</a:t>
                      </a:r>
                      <a:r>
                        <a:rPr lang="en-US" altLang="ko-KR" sz="1100" b="0" i="0" dirty="0"/>
                        <a:t>.</a:t>
                      </a:r>
                      <a:endParaRPr lang="ko-KR" altLang="en-US" sz="11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난 이 게임을 할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여건이 안돼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dirty="0"/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게임의 진행 방식이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마음에 안 들어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D6B29981-DAB2-5D77-4731-652A2F698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1315" y="1740826"/>
            <a:ext cx="1839160" cy="183915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9746F6-EF5B-B0FE-8841-DECA1DC46F96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어떤 식으로 게임이 진행되는 걸까</a:t>
            </a:r>
            <a:r>
              <a:rPr lang="en-US" altLang="ko-KR" sz="1100" dirty="0">
                <a:solidFill>
                  <a:schemeClr val="tx1"/>
                </a:solidFill>
              </a:rPr>
              <a:t>?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8586D-08C1-C7B6-5A15-DD9AAE05EFEA}"/>
              </a:ext>
            </a:extLst>
          </p:cNvPr>
          <p:cNvSpPr txBox="1"/>
          <p:nvPr/>
        </p:nvSpPr>
        <p:spPr>
          <a:xfrm>
            <a:off x="5763828" y="923166"/>
            <a:ext cx="5270518" cy="268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게임의 전체적인 흐름 방식을 이해하는 중인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게임의 양상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플레이타임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컨텐츠 등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ko-KR" altLang="en-US" sz="1100" dirty="0"/>
              <a:t>을 파악하고</a:t>
            </a:r>
            <a:br>
              <a:rPr lang="en-US" altLang="ko-KR" sz="1100" dirty="0"/>
            </a:br>
            <a:r>
              <a:rPr lang="ko-KR" altLang="en-US" sz="1100" dirty="0"/>
              <a:t>취향에 따라 몰입과 이탈이 정해진다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마지막 접속일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마지막 접속 이후 재방문에 걸린 시간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08F2BEB-F7A1-40E5-E5C1-0AF57C119D0A}"/>
              </a:ext>
            </a:extLst>
          </p:cNvPr>
          <p:cNvSpPr/>
          <p:nvPr/>
        </p:nvSpPr>
        <p:spPr>
          <a:xfrm>
            <a:off x="3419178" y="2713486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CE3C34E-B937-79FC-89C8-8C7793AA673C}"/>
              </a:ext>
            </a:extLst>
          </p:cNvPr>
          <p:cNvSpPr/>
          <p:nvPr/>
        </p:nvSpPr>
        <p:spPr>
          <a:xfrm>
            <a:off x="3527178" y="255327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A3BCA20-D12C-4ED4-F860-EB39C10EA670}"/>
              </a:ext>
            </a:extLst>
          </p:cNvPr>
          <p:cNvSpPr/>
          <p:nvPr/>
        </p:nvSpPr>
        <p:spPr>
          <a:xfrm>
            <a:off x="3599178" y="1701251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D95A50-FEF7-1A3B-256D-61AC5E301A15}"/>
              </a:ext>
            </a:extLst>
          </p:cNvPr>
          <p:cNvSpPr/>
          <p:nvPr/>
        </p:nvSpPr>
        <p:spPr>
          <a:xfrm>
            <a:off x="7781925" y="4030725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스토리 컨텐츠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812983-DB81-F8B9-D120-EDEF47C61B3C}"/>
              </a:ext>
            </a:extLst>
          </p:cNvPr>
          <p:cNvSpPr/>
          <p:nvPr/>
        </p:nvSpPr>
        <p:spPr>
          <a:xfrm>
            <a:off x="7511299" y="3628743"/>
            <a:ext cx="1775576" cy="28273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초보자 성장 가이드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29ED0E3-F87B-C62C-D5B1-49AA95A559FB}"/>
              </a:ext>
            </a:extLst>
          </p:cNvPr>
          <p:cNvCxnSpPr>
            <a:cxnSpLocks/>
            <a:stCxn id="32" idx="3"/>
            <a:endCxn id="19" idx="0"/>
          </p:cNvCxnSpPr>
          <p:nvPr/>
        </p:nvCxnSpPr>
        <p:spPr>
          <a:xfrm>
            <a:off x="9016249" y="4351606"/>
            <a:ext cx="617162" cy="397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E9E19C-7A1D-9E62-E1EF-EA453075D29D}"/>
              </a:ext>
            </a:extLst>
          </p:cNvPr>
          <p:cNvGrpSpPr/>
          <p:nvPr/>
        </p:nvGrpSpPr>
        <p:grpSpPr>
          <a:xfrm>
            <a:off x="1600197" y="920388"/>
            <a:ext cx="3270740" cy="668216"/>
            <a:chOff x="844060" y="2129917"/>
            <a:chExt cx="3270740" cy="668216"/>
          </a:xfrm>
        </p:grpSpPr>
        <p:sp>
          <p:nvSpPr>
            <p:cNvPr id="5" name="사다리꼴 4">
              <a:extLst>
                <a:ext uri="{FF2B5EF4-FFF2-40B4-BE49-F238E27FC236}">
                  <a16:creationId xmlns:a16="http://schemas.microsoft.com/office/drawing/2014/main" id="{ECB09B62-5AC2-AC07-5A58-0042405DE13F}"/>
                </a:ext>
              </a:extLst>
            </p:cNvPr>
            <p:cNvSpPr/>
            <p:nvPr/>
          </p:nvSpPr>
          <p:spPr>
            <a:xfrm rot="10800000">
              <a:off x="844060" y="2129917"/>
              <a:ext cx="3270740" cy="668216"/>
            </a:xfrm>
            <a:prstGeom prst="trapezoid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B2CFA0-7C0E-5C24-2E06-821A6D77564D}"/>
                </a:ext>
              </a:extLst>
            </p:cNvPr>
            <p:cNvSpPr txBox="1"/>
            <p:nvPr/>
          </p:nvSpPr>
          <p:spPr>
            <a:xfrm>
              <a:off x="2098556" y="2279359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학습</a:t>
              </a:r>
            </a:p>
          </p:txBody>
        </p:sp>
      </p:grpSp>
      <p:pic>
        <p:nvPicPr>
          <p:cNvPr id="13" name="그래픽 12" descr="톱니바퀴">
            <a:extLst>
              <a:ext uri="{FF2B5EF4-FFF2-40B4-BE49-F238E27FC236}">
                <a16:creationId xmlns:a16="http://schemas.microsoft.com/office/drawing/2014/main" id="{14F51668-8847-85D8-0D5F-C3527E04F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1178" y="1774317"/>
            <a:ext cx="914400" cy="91440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4F6D21-5858-2A84-A91A-A70FDE960FC2}"/>
              </a:ext>
            </a:extLst>
          </p:cNvPr>
          <p:cNvSpPr/>
          <p:nvPr/>
        </p:nvSpPr>
        <p:spPr>
          <a:xfrm>
            <a:off x="9016249" y="4749420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기타 컨텐츠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4B15592-EB74-95BA-47D9-E006B687BD6E}"/>
              </a:ext>
            </a:extLst>
          </p:cNvPr>
          <p:cNvSpPr/>
          <p:nvPr/>
        </p:nvSpPr>
        <p:spPr>
          <a:xfrm>
            <a:off x="7781925" y="5468116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하우징 컨텐츠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DDB037-B253-FC3F-C958-DE83DFFFF1A7}"/>
              </a:ext>
            </a:extLst>
          </p:cNvPr>
          <p:cNvSpPr/>
          <p:nvPr/>
        </p:nvSpPr>
        <p:spPr>
          <a:xfrm>
            <a:off x="6526834" y="4749420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성장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064D710-F4A3-3EAC-7DD6-08072A76F545}"/>
              </a:ext>
            </a:extLst>
          </p:cNvPr>
          <p:cNvCxnSpPr>
            <a:cxnSpLocks/>
            <a:stCxn id="19" idx="2"/>
            <a:endCxn id="20" idx="3"/>
          </p:cNvCxnSpPr>
          <p:nvPr/>
        </p:nvCxnSpPr>
        <p:spPr>
          <a:xfrm flipH="1">
            <a:off x="9016249" y="5391181"/>
            <a:ext cx="617162" cy="397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1CD40B0-0651-5F31-25B0-43EFCFF35F39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7143996" y="5391181"/>
            <a:ext cx="617162" cy="397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8A25ACF-7654-5DB2-0065-1472A1FDD19F}"/>
              </a:ext>
            </a:extLst>
          </p:cNvPr>
          <p:cNvCxnSpPr>
            <a:cxnSpLocks/>
            <a:stCxn id="21" idx="0"/>
            <a:endCxn id="32" idx="1"/>
          </p:cNvCxnSpPr>
          <p:nvPr/>
        </p:nvCxnSpPr>
        <p:spPr>
          <a:xfrm flipV="1">
            <a:off x="7143996" y="4351606"/>
            <a:ext cx="637929" cy="397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8A1DCE69-45B9-BCE4-87A8-2F460EBEEA4A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73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A8F31-6056-6B20-E8E2-8FA6A1BF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544AB5-FF71-48F9-A410-B5C8B69379C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FA31F1D-9356-AA96-FE79-324635D56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51321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답답한 부분이 생겨서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현질을 해서라도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해소하고 싶어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dirty="0"/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게임에 애정이 생겨서 좀 제대로 해보고 싶어</a:t>
                      </a:r>
                      <a:r>
                        <a:rPr lang="en-US" altLang="ko-KR" sz="1100" b="0" i="0" dirty="0"/>
                        <a:t>.</a:t>
                      </a:r>
                      <a:endParaRPr lang="ko-KR" altLang="en-US" sz="11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하던 짓만 하니까 질려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59F161C1-8D1C-EA64-7F53-737ADBB9B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1315" y="1740826"/>
            <a:ext cx="1839160" cy="183915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67B2CEE-E3C9-67B5-2F58-08510473388E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생각 날때마다 접속해서 놀아야지</a:t>
            </a:r>
            <a:r>
              <a:rPr lang="en-US" altLang="ko-KR" sz="1100" dirty="0">
                <a:solidFill>
                  <a:schemeClr val="tx1"/>
                </a:solidFill>
              </a:rPr>
              <a:t>~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37CC1-21F3-4558-D62A-B12B248C70DB}"/>
              </a:ext>
            </a:extLst>
          </p:cNvPr>
          <p:cNvSpPr txBox="1"/>
          <p:nvPr/>
        </p:nvSpPr>
        <p:spPr>
          <a:xfrm>
            <a:off x="5763828" y="923166"/>
            <a:ext cx="5270518" cy="291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과금 없이 게임 내 환경에 만족하여 정착한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컨텐츠 소모 및 결핍의 해소를 위해 과금을 하면서 더 몰입될 수 있고</a:t>
            </a:r>
            <a:br>
              <a:rPr lang="en-US" altLang="ko-KR" sz="1100" dirty="0"/>
            </a:br>
            <a:r>
              <a:rPr lang="ko-KR" altLang="en-US" sz="1100" dirty="0"/>
              <a:t>게임 내 재미 요소와 환경에 흥미가 떨어지면</a:t>
            </a:r>
            <a:r>
              <a:rPr lang="en-US" altLang="ko-KR" sz="1100" dirty="0"/>
              <a:t> </a:t>
            </a:r>
            <a:r>
              <a:rPr lang="ko-KR" altLang="en-US" sz="1100" dirty="0"/>
              <a:t>이탈할 수 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마지막 접속 이후 재방문에 걸린 시간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결제 여부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5C34D57-FA0C-487E-3FC0-43BAF276AC0B}"/>
              </a:ext>
            </a:extLst>
          </p:cNvPr>
          <p:cNvSpPr/>
          <p:nvPr/>
        </p:nvSpPr>
        <p:spPr>
          <a:xfrm>
            <a:off x="3419178" y="2713486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3DB727B-6C9D-9363-FDC1-06F550F2D9AC}"/>
              </a:ext>
            </a:extLst>
          </p:cNvPr>
          <p:cNvSpPr/>
          <p:nvPr/>
        </p:nvSpPr>
        <p:spPr>
          <a:xfrm>
            <a:off x="3527178" y="255327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D576CA1-75A2-525B-1198-FEE93A45A941}"/>
              </a:ext>
            </a:extLst>
          </p:cNvPr>
          <p:cNvSpPr/>
          <p:nvPr/>
        </p:nvSpPr>
        <p:spPr>
          <a:xfrm>
            <a:off x="3599178" y="1701251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 b="1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37D48D-2A49-63F9-57E6-C4EB9E776BB6}"/>
              </a:ext>
            </a:extLst>
          </p:cNvPr>
          <p:cNvGrpSpPr/>
          <p:nvPr/>
        </p:nvGrpSpPr>
        <p:grpSpPr>
          <a:xfrm>
            <a:off x="1802420" y="920868"/>
            <a:ext cx="2866294" cy="668216"/>
            <a:chOff x="1046283" y="3336668"/>
            <a:chExt cx="2866294" cy="668216"/>
          </a:xfrm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195233A8-E515-751B-44E8-14DA3F271BDB}"/>
                </a:ext>
              </a:extLst>
            </p:cNvPr>
            <p:cNvSpPr/>
            <p:nvPr/>
          </p:nvSpPr>
          <p:spPr>
            <a:xfrm rot="10800000">
              <a:off x="1046283" y="3336668"/>
              <a:ext cx="2866294" cy="668216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DBA824-F863-15F7-9091-5F269C9D03CC}"/>
                </a:ext>
              </a:extLst>
            </p:cNvPr>
            <p:cNvSpPr txBox="1"/>
            <p:nvPr/>
          </p:nvSpPr>
          <p:spPr>
            <a:xfrm>
              <a:off x="2098555" y="3486110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잔류</a:t>
              </a:r>
            </a:p>
          </p:txBody>
        </p:sp>
      </p:grpSp>
      <p:pic>
        <p:nvPicPr>
          <p:cNvPr id="14" name="그래픽 13" descr="게임 컨트롤러">
            <a:extLst>
              <a:ext uri="{FF2B5EF4-FFF2-40B4-BE49-F238E27FC236}">
                <a16:creationId xmlns:a16="http://schemas.microsoft.com/office/drawing/2014/main" id="{D1D70EDE-7239-23B0-8DA8-81C0102C2B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3174" y="1828540"/>
            <a:ext cx="779292" cy="779292"/>
          </a:xfrm>
          <a:prstGeom prst="rect">
            <a:avLst/>
          </a:prstGeom>
        </p:spPr>
      </p:pic>
      <p:pic>
        <p:nvPicPr>
          <p:cNvPr id="23" name="그래픽 22" descr="악보">
            <a:extLst>
              <a:ext uri="{FF2B5EF4-FFF2-40B4-BE49-F238E27FC236}">
                <a16:creationId xmlns:a16="http://schemas.microsoft.com/office/drawing/2014/main" id="{AFA1D162-1CBE-986C-899A-B28CF972F6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6743" y="2008320"/>
            <a:ext cx="401932" cy="401932"/>
          </a:xfrm>
          <a:prstGeom prst="rect">
            <a:avLst/>
          </a:prstGeom>
        </p:spPr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01214F9-DBE8-578C-38D2-026B51CF6672}"/>
              </a:ext>
            </a:extLst>
          </p:cNvPr>
          <p:cNvSpPr/>
          <p:nvPr/>
        </p:nvSpPr>
        <p:spPr>
          <a:xfrm>
            <a:off x="7924803" y="4371771"/>
            <a:ext cx="773770" cy="168692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성장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81975F8-F5AB-EDAB-C41B-2D105EB960CF}"/>
              </a:ext>
            </a:extLst>
          </p:cNvPr>
          <p:cNvSpPr/>
          <p:nvPr/>
        </p:nvSpPr>
        <p:spPr>
          <a:xfrm>
            <a:off x="6121391" y="4362980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스토리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컨텐츠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13D59C3-C0B3-A27C-3321-16946B33C524}"/>
              </a:ext>
            </a:extLst>
          </p:cNvPr>
          <p:cNvSpPr/>
          <p:nvPr/>
        </p:nvSpPr>
        <p:spPr>
          <a:xfrm>
            <a:off x="7035791" y="4362980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기타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컨텐츠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7248148-A84F-630A-2D51-252484838EDA}"/>
              </a:ext>
            </a:extLst>
          </p:cNvPr>
          <p:cNvSpPr/>
          <p:nvPr/>
        </p:nvSpPr>
        <p:spPr>
          <a:xfrm>
            <a:off x="6121391" y="5333956"/>
            <a:ext cx="16627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보상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7DC7445-26EE-5A7C-6487-FF256488E396}"/>
              </a:ext>
            </a:extLst>
          </p:cNvPr>
          <p:cNvSpPr/>
          <p:nvPr/>
        </p:nvSpPr>
        <p:spPr>
          <a:xfrm>
            <a:off x="9134227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하우징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B1ACD7E-9E42-A10F-641D-5799660796C0}"/>
              </a:ext>
            </a:extLst>
          </p:cNvPr>
          <p:cNvSpPr/>
          <p:nvPr/>
        </p:nvSpPr>
        <p:spPr>
          <a:xfrm>
            <a:off x="10048629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하우징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레벨 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E247963-CC23-5D26-0BBC-0E76BADAA0C9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8311688" y="4174184"/>
            <a:ext cx="0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5D06DF-1E22-3A16-C188-833D70FFD022}"/>
              </a:ext>
            </a:extLst>
          </p:cNvPr>
          <p:cNvCxnSpPr>
            <a:cxnSpLocks/>
          </p:cNvCxnSpPr>
          <p:nvPr/>
        </p:nvCxnSpPr>
        <p:spPr>
          <a:xfrm flipH="1">
            <a:off x="6495581" y="4165393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E92C819-6547-CD18-A33F-BBFBE669CE7F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4955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6F7384E-9086-4620-69DE-502F8223EBC0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4099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0C72BE1-F737-E721-50D5-192CC8BEE6FC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64955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29440E87-FD7E-8B03-6F85-A7AB87D7EE78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74099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F143ED2-8153-9DC3-B0C0-66D1C0A5807B}"/>
              </a:ext>
            </a:extLst>
          </p:cNvPr>
          <p:cNvCxnSpPr>
            <a:cxnSpLocks/>
          </p:cNvCxnSpPr>
          <p:nvPr/>
        </p:nvCxnSpPr>
        <p:spPr>
          <a:xfrm flipH="1">
            <a:off x="6487526" y="5152425"/>
            <a:ext cx="922455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2549D41-9972-1736-E091-9E494CBD0AAC}"/>
              </a:ext>
            </a:extLst>
          </p:cNvPr>
          <p:cNvCxnSpPr>
            <a:cxnSpLocks/>
          </p:cNvCxnSpPr>
          <p:nvPr/>
        </p:nvCxnSpPr>
        <p:spPr>
          <a:xfrm>
            <a:off x="6948752" y="5155968"/>
            <a:ext cx="0" cy="171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2B7F3355-EC68-4D19-8BC4-63155A954679}"/>
              </a:ext>
            </a:extLst>
          </p:cNvPr>
          <p:cNvCxnSpPr>
            <a:cxnSpLocks/>
          </p:cNvCxnSpPr>
          <p:nvPr/>
        </p:nvCxnSpPr>
        <p:spPr>
          <a:xfrm flipH="1" flipV="1">
            <a:off x="10422819" y="5145154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24D743B-FE49-E344-C372-09F1DEAB4410}"/>
              </a:ext>
            </a:extLst>
          </p:cNvPr>
          <p:cNvCxnSpPr>
            <a:cxnSpLocks/>
          </p:cNvCxnSpPr>
          <p:nvPr/>
        </p:nvCxnSpPr>
        <p:spPr>
          <a:xfrm flipH="1">
            <a:off x="9508416" y="6256284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89360E5-1F3B-66C8-857D-D1A676A0FB18}"/>
              </a:ext>
            </a:extLst>
          </p:cNvPr>
          <p:cNvCxnSpPr>
            <a:cxnSpLocks/>
          </p:cNvCxnSpPr>
          <p:nvPr/>
        </p:nvCxnSpPr>
        <p:spPr>
          <a:xfrm flipH="1" flipV="1">
            <a:off x="9508416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6F68751-372A-CFAA-95C5-03FB16437F40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9508416" y="5144249"/>
            <a:ext cx="2" cy="1984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D14BB7E-FBB4-922B-D9D8-4691BA544B56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10422819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C921564-5FF2-6802-E091-EA852D083710}"/>
              </a:ext>
            </a:extLst>
          </p:cNvPr>
          <p:cNvCxnSpPr>
            <a:cxnSpLocks/>
          </p:cNvCxnSpPr>
          <p:nvPr/>
        </p:nvCxnSpPr>
        <p:spPr>
          <a:xfrm flipH="1">
            <a:off x="9508416" y="5144701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D9D1F859-A3F0-1FB0-80C4-E7EFE31147E9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8698573" y="5700720"/>
            <a:ext cx="435654" cy="8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이등변 삼각형 98">
            <a:extLst>
              <a:ext uri="{FF2B5EF4-FFF2-40B4-BE49-F238E27FC236}">
                <a16:creationId xmlns:a16="http://schemas.microsoft.com/office/drawing/2014/main" id="{A48731B4-56DB-347F-0DD9-229CA3723CC4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750E52F-21F0-2062-77CB-92AFBF7CB959}"/>
              </a:ext>
            </a:extLst>
          </p:cNvPr>
          <p:cNvCxnSpPr>
            <a:cxnSpLocks/>
          </p:cNvCxnSpPr>
          <p:nvPr/>
        </p:nvCxnSpPr>
        <p:spPr>
          <a:xfrm>
            <a:off x="7784172" y="5691935"/>
            <a:ext cx="2168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98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9FF2-0705-163E-EB69-F6C4972E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10D5B33C-0923-7E3B-A41A-37D805A47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987" y="1740826"/>
            <a:ext cx="1839160" cy="1839156"/>
          </a:xfrm>
          <a:prstGeom prst="rect">
            <a:avLst/>
          </a:prstGeom>
        </p:spPr>
      </p:pic>
      <p:pic>
        <p:nvPicPr>
          <p:cNvPr id="21" name="그래픽 20" descr="동전">
            <a:extLst>
              <a:ext uri="{FF2B5EF4-FFF2-40B4-BE49-F238E27FC236}">
                <a16:creationId xmlns:a16="http://schemas.microsoft.com/office/drawing/2014/main" id="{7B539754-3600-9730-20FD-02C8310C7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0630" y="2249014"/>
            <a:ext cx="748377" cy="748377"/>
          </a:xfrm>
          <a:prstGeom prst="rect">
            <a:avLst/>
          </a:prstGeom>
        </p:spPr>
      </p:pic>
      <p:pic>
        <p:nvPicPr>
          <p:cNvPr id="22" name="그래픽 21" descr="동전">
            <a:extLst>
              <a:ext uri="{FF2B5EF4-FFF2-40B4-BE49-F238E27FC236}">
                <a16:creationId xmlns:a16="http://schemas.microsoft.com/office/drawing/2014/main" id="{8FD0C1A7-2863-BDB9-F850-61DC5BABF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4308" y="2728588"/>
            <a:ext cx="748377" cy="748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536F53-62B6-048E-6BF7-ECF1E353587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C42AE9A-FDB6-A523-DA7E-9A8A7F36A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46313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/>
                        <a:t>최상위 컨텐츠까지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노릴만한 것 같은데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아쉽게 못 한단 말이지</a:t>
                      </a:r>
                      <a:r>
                        <a:rPr lang="en-US" altLang="ko-KR" sz="1000" b="0" i="0" dirty="0"/>
                        <a:t>,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정기적인 과금 외의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추가 상품까지 사야 겠어</a:t>
                      </a:r>
                      <a:r>
                        <a:rPr lang="en-US" altLang="ko-KR" sz="10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00" b="0" i="0" dirty="0"/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/>
                        <a:t>내 목표는 처음부터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서버 최강이었어</a:t>
                      </a:r>
                      <a:r>
                        <a:rPr lang="en-US" altLang="ko-KR" sz="1000" b="0" i="0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/>
                        <a:t>과금을 더 하는 건 힘들고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지금 컨텐츠는</a:t>
                      </a:r>
                      <a:r>
                        <a:rPr lang="en-US" altLang="ko-KR" sz="1000" b="0" i="0" dirty="0"/>
                        <a:t> </a:t>
                      </a:r>
                      <a:r>
                        <a:rPr lang="ko-KR" altLang="en-US" sz="1000" b="0" i="0" dirty="0"/>
                        <a:t>질렸어</a:t>
                      </a:r>
                      <a:r>
                        <a:rPr lang="en-US" altLang="ko-KR" sz="1000" b="0" i="0" dirty="0"/>
                        <a:t>.</a:t>
                      </a:r>
                      <a:endParaRPr lang="en-US" altLang="ko-KR" sz="1050" b="0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07292E-4BD8-D4C8-A5F4-F7A7AA0E1FD2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확실히 현질을 해야 게임이 편해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2146C-158C-A1A6-7DAB-1A280E9BDBA8}"/>
              </a:ext>
            </a:extLst>
          </p:cNvPr>
          <p:cNvSpPr txBox="1"/>
          <p:nvPr/>
        </p:nvSpPr>
        <p:spPr>
          <a:xfrm>
            <a:off x="5763828" y="923166"/>
            <a:ext cx="5507910" cy="291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효율 좋은 유료 상품을 주로 이용해 넓은 범위의 컨텐츠를 소비하는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최상위 컨텐츠를 목표로 두는 순간 몰입될 수 있고</a:t>
            </a:r>
            <a:br>
              <a:rPr lang="en-US" altLang="ko-KR" sz="1100" dirty="0"/>
            </a:br>
            <a:r>
              <a:rPr lang="ko-KR" altLang="en-US" sz="1100" dirty="0"/>
              <a:t>현재 소비하는 컨텐츠의 비용을 감당 할 수 없게 되거나</a:t>
            </a:r>
            <a:br>
              <a:rPr lang="en-US" altLang="ko-KR" sz="1100" dirty="0"/>
            </a:br>
            <a:r>
              <a:rPr lang="ko-KR" altLang="en-US" sz="1100" dirty="0"/>
              <a:t>게임 내 재미 요소와 환경에 흥미가 떨어지면</a:t>
            </a:r>
            <a:r>
              <a:rPr lang="en-US" altLang="ko-KR" sz="1100" dirty="0"/>
              <a:t> </a:t>
            </a:r>
            <a:r>
              <a:rPr lang="ko-KR" altLang="en-US" sz="1100" dirty="0"/>
              <a:t>이탈할 수 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유료 상품 구매 품목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유료 상품 구매 경로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pic>
        <p:nvPicPr>
          <p:cNvPr id="14" name="그래픽 13" descr="게임 컨트롤러">
            <a:extLst>
              <a:ext uri="{FF2B5EF4-FFF2-40B4-BE49-F238E27FC236}">
                <a16:creationId xmlns:a16="http://schemas.microsoft.com/office/drawing/2014/main" id="{3CCE70AD-BCD1-5640-0DBA-DC7C1D5279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3779" y="2799320"/>
            <a:ext cx="715405" cy="71540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3D5603B4-812E-9D31-A998-6B4C7087097D}"/>
              </a:ext>
            </a:extLst>
          </p:cNvPr>
          <p:cNvGrpSpPr/>
          <p:nvPr/>
        </p:nvGrpSpPr>
        <p:grpSpPr>
          <a:xfrm>
            <a:off x="2013436" y="917882"/>
            <a:ext cx="2444262" cy="668216"/>
            <a:chOff x="1257299" y="4543419"/>
            <a:chExt cx="2444262" cy="668216"/>
          </a:xfrm>
        </p:grpSpPr>
        <p:sp>
          <p:nvSpPr>
            <p:cNvPr id="5" name="사다리꼴 4">
              <a:extLst>
                <a:ext uri="{FF2B5EF4-FFF2-40B4-BE49-F238E27FC236}">
                  <a16:creationId xmlns:a16="http://schemas.microsoft.com/office/drawing/2014/main" id="{B1115BF5-CDDF-2144-39E5-F2C775975380}"/>
                </a:ext>
              </a:extLst>
            </p:cNvPr>
            <p:cNvSpPr/>
            <p:nvPr/>
          </p:nvSpPr>
          <p:spPr>
            <a:xfrm rot="10800000">
              <a:off x="1257299" y="4543419"/>
              <a:ext cx="2444262" cy="668216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65203A-8474-BB4A-4083-3230CA10B2AF}"/>
                </a:ext>
              </a:extLst>
            </p:cNvPr>
            <p:cNvSpPr txBox="1"/>
            <p:nvPr/>
          </p:nvSpPr>
          <p:spPr>
            <a:xfrm>
              <a:off x="2098556" y="4692861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몰입</a:t>
              </a:r>
            </a:p>
          </p:txBody>
        </p:sp>
      </p:grpSp>
      <p:pic>
        <p:nvPicPr>
          <p:cNvPr id="19" name="그래픽 18" descr="동전">
            <a:extLst>
              <a:ext uri="{FF2B5EF4-FFF2-40B4-BE49-F238E27FC236}">
                <a16:creationId xmlns:a16="http://schemas.microsoft.com/office/drawing/2014/main" id="{78549233-7892-F029-2269-CAE59D0D3F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2205" y="2714755"/>
            <a:ext cx="748377" cy="748377"/>
          </a:xfrm>
          <a:prstGeom prst="rect">
            <a:avLst/>
          </a:prstGeom>
        </p:spPr>
      </p:pic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5B4E1D2B-EB9E-C496-63CD-0C2AE09B45D8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85063D3-9348-FE09-6F77-8A61E870FD50}"/>
              </a:ext>
            </a:extLst>
          </p:cNvPr>
          <p:cNvSpPr/>
          <p:nvPr/>
        </p:nvSpPr>
        <p:spPr>
          <a:xfrm>
            <a:off x="7924803" y="4362979"/>
            <a:ext cx="773770" cy="16869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성장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60DF97-CE98-46A6-14DD-3DFD8C801B1A}"/>
              </a:ext>
            </a:extLst>
          </p:cNvPr>
          <p:cNvSpPr/>
          <p:nvPr/>
        </p:nvSpPr>
        <p:spPr>
          <a:xfrm>
            <a:off x="6121391" y="4362980"/>
            <a:ext cx="748381" cy="7159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스토리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컨텐츠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3C76B4-B3E0-6E9E-1D22-E9CE64B4263E}"/>
              </a:ext>
            </a:extLst>
          </p:cNvPr>
          <p:cNvSpPr/>
          <p:nvPr/>
        </p:nvSpPr>
        <p:spPr>
          <a:xfrm>
            <a:off x="7035791" y="4362980"/>
            <a:ext cx="748381" cy="7159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기타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컨텐츠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E30F981-44B6-25E7-8DF6-41BFB8DC102A}"/>
              </a:ext>
            </a:extLst>
          </p:cNvPr>
          <p:cNvSpPr/>
          <p:nvPr/>
        </p:nvSpPr>
        <p:spPr>
          <a:xfrm>
            <a:off x="6121391" y="5333956"/>
            <a:ext cx="1662781" cy="7159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chemeClr val="tx1"/>
                </a:solidFill>
              </a:rPr>
              <a:t>보상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E3A92C8-E4E1-602D-3405-073A0A7EB66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8311688" y="4165392"/>
            <a:ext cx="0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396081A-5024-4436-9F4B-86BCD85A23B4}"/>
              </a:ext>
            </a:extLst>
          </p:cNvPr>
          <p:cNvCxnSpPr>
            <a:cxnSpLocks/>
          </p:cNvCxnSpPr>
          <p:nvPr/>
        </p:nvCxnSpPr>
        <p:spPr>
          <a:xfrm flipH="1">
            <a:off x="6495581" y="4165393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F9B132-5E0E-B558-20AB-823F381528BE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4955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57DF068-FD6F-F73A-4820-DA60DC8C6AE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4099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1794A28-BEB7-FFBB-3427-800A28A73AC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4955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7B161D0-4EB8-DBD3-292F-D0544449D41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4099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124D2B0-7887-C285-337B-36F036FFCEB0}"/>
              </a:ext>
            </a:extLst>
          </p:cNvPr>
          <p:cNvCxnSpPr>
            <a:cxnSpLocks/>
          </p:cNvCxnSpPr>
          <p:nvPr/>
        </p:nvCxnSpPr>
        <p:spPr>
          <a:xfrm flipH="1">
            <a:off x="6487526" y="5152425"/>
            <a:ext cx="922455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0B4024A-95F0-555C-3F2B-D9FD625F5830}"/>
              </a:ext>
            </a:extLst>
          </p:cNvPr>
          <p:cNvCxnSpPr>
            <a:cxnSpLocks/>
          </p:cNvCxnSpPr>
          <p:nvPr/>
        </p:nvCxnSpPr>
        <p:spPr>
          <a:xfrm>
            <a:off x="6948752" y="5155968"/>
            <a:ext cx="0" cy="171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999FB4CA-81DB-C271-4FD1-38B4D44F3E3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784172" y="5691935"/>
            <a:ext cx="2168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D4C703-E457-08EB-6860-B25721272266}"/>
              </a:ext>
            </a:extLst>
          </p:cNvPr>
          <p:cNvSpPr/>
          <p:nvPr/>
        </p:nvSpPr>
        <p:spPr>
          <a:xfrm>
            <a:off x="9134227" y="4362979"/>
            <a:ext cx="748381" cy="71595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유료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패스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0A8F85A-F869-EE87-9E6F-615B9B221AB3}"/>
              </a:ext>
            </a:extLst>
          </p:cNvPr>
          <p:cNvCxnSpPr>
            <a:cxnSpLocks/>
          </p:cNvCxnSpPr>
          <p:nvPr/>
        </p:nvCxnSpPr>
        <p:spPr>
          <a:xfrm>
            <a:off x="9363808" y="5078934"/>
            <a:ext cx="0" cy="248509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8E31D83-727F-5AB7-213A-55B1E0DD9CDD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698573" y="4720957"/>
            <a:ext cx="435654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42EA1DE-B4D3-50AF-6D8B-4C7C28F35D3C}"/>
              </a:ext>
            </a:extLst>
          </p:cNvPr>
          <p:cNvSpPr/>
          <p:nvPr/>
        </p:nvSpPr>
        <p:spPr>
          <a:xfrm>
            <a:off x="9134227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하우징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7489DF4-9F00-B74A-E9E1-0F271280C34C}"/>
              </a:ext>
            </a:extLst>
          </p:cNvPr>
          <p:cNvSpPr/>
          <p:nvPr/>
        </p:nvSpPr>
        <p:spPr>
          <a:xfrm>
            <a:off x="10048629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하우징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레벨 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70AFF9E-8B03-648C-21E6-7F30B87D3881}"/>
              </a:ext>
            </a:extLst>
          </p:cNvPr>
          <p:cNvCxnSpPr>
            <a:cxnSpLocks/>
          </p:cNvCxnSpPr>
          <p:nvPr/>
        </p:nvCxnSpPr>
        <p:spPr>
          <a:xfrm flipH="1" flipV="1">
            <a:off x="10422819" y="5145154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C638E7D-6358-9AEA-BC22-A029C3E4C302}"/>
              </a:ext>
            </a:extLst>
          </p:cNvPr>
          <p:cNvCxnSpPr>
            <a:cxnSpLocks/>
          </p:cNvCxnSpPr>
          <p:nvPr/>
        </p:nvCxnSpPr>
        <p:spPr>
          <a:xfrm flipH="1">
            <a:off x="9508416" y="6256284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1CF68B1-8B93-9559-BAD6-15FE400A489C}"/>
              </a:ext>
            </a:extLst>
          </p:cNvPr>
          <p:cNvCxnSpPr>
            <a:cxnSpLocks/>
          </p:cNvCxnSpPr>
          <p:nvPr/>
        </p:nvCxnSpPr>
        <p:spPr>
          <a:xfrm flipH="1" flipV="1">
            <a:off x="9508416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2090F3F-7C14-8051-D408-6FF06D2DB826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508416" y="5144249"/>
            <a:ext cx="2" cy="1984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BA01425-A29D-5660-A22F-908B7060D70D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10422819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BA6EB26-E545-1DB1-B63F-ACCE55889C0E}"/>
              </a:ext>
            </a:extLst>
          </p:cNvPr>
          <p:cNvCxnSpPr>
            <a:cxnSpLocks/>
          </p:cNvCxnSpPr>
          <p:nvPr/>
        </p:nvCxnSpPr>
        <p:spPr>
          <a:xfrm flipH="1">
            <a:off x="9508416" y="5144701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2AD7F43-0384-1908-C5B4-DAF2C70119F0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8698573" y="5700720"/>
            <a:ext cx="435654" cy="8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227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308F-4522-7A51-043B-DF5956C1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6DD80197-FE68-16E5-2B28-7804EDC3562E}"/>
              </a:ext>
            </a:extLst>
          </p:cNvPr>
          <p:cNvGrpSpPr/>
          <p:nvPr/>
        </p:nvGrpSpPr>
        <p:grpSpPr>
          <a:xfrm>
            <a:off x="1502109" y="2551703"/>
            <a:ext cx="3491918" cy="981275"/>
            <a:chOff x="5590702" y="4518708"/>
            <a:chExt cx="3491918" cy="981275"/>
          </a:xfrm>
        </p:grpSpPr>
        <p:pic>
          <p:nvPicPr>
            <p:cNvPr id="35" name="그래픽 34" descr="돈 봉투">
              <a:extLst>
                <a:ext uri="{FF2B5EF4-FFF2-40B4-BE49-F238E27FC236}">
                  <a16:creationId xmlns:a16="http://schemas.microsoft.com/office/drawing/2014/main" id="{8519EF7B-9875-6B98-833A-0823D333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8802465">
              <a:off x="5590702" y="4585583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914400 w 914400"/>
                <a:gd name="connsiteY1" fmla="*/ 914400 h 914400"/>
                <a:gd name="connsiteX2" fmla="*/ 593358 w 914400"/>
                <a:gd name="connsiteY2" fmla="*/ 914400 h 914400"/>
                <a:gd name="connsiteX3" fmla="*/ 0 w 914400"/>
                <a:gd name="connsiteY3" fmla="*/ 286380 h 914400"/>
                <a:gd name="connsiteX4" fmla="*/ 0 w 914400"/>
                <a:gd name="connsiteY4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914400" y="914400"/>
                  </a:lnTo>
                  <a:lnTo>
                    <a:pt x="593358" y="914400"/>
                  </a:lnTo>
                  <a:lnTo>
                    <a:pt x="0" y="28638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7" name="그래픽 36" descr="돈 봉투">
              <a:extLst>
                <a:ext uri="{FF2B5EF4-FFF2-40B4-BE49-F238E27FC236}">
                  <a16:creationId xmlns:a16="http://schemas.microsoft.com/office/drawing/2014/main" id="{0F1652BB-8533-6560-0F02-903B78803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6203"/>
            <a:stretch>
              <a:fillRect/>
            </a:stretch>
          </p:blipFill>
          <p:spPr>
            <a:xfrm rot="810059" flipH="1">
              <a:off x="5822805" y="4518708"/>
              <a:ext cx="914400" cy="857683"/>
            </a:xfrm>
            <a:custGeom>
              <a:avLst/>
              <a:gdLst>
                <a:gd name="connsiteX0" fmla="*/ 914400 w 914400"/>
                <a:gd name="connsiteY0" fmla="*/ 0 h 857683"/>
                <a:gd name="connsiteX1" fmla="*/ 0 w 914400"/>
                <a:gd name="connsiteY1" fmla="*/ 0 h 857683"/>
                <a:gd name="connsiteX2" fmla="*/ 0 w 914400"/>
                <a:gd name="connsiteY2" fmla="*/ 638138 h 857683"/>
                <a:gd name="connsiteX3" fmla="*/ 914400 w 914400"/>
                <a:gd name="connsiteY3" fmla="*/ 857683 h 85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" h="857683">
                  <a:moveTo>
                    <a:pt x="914400" y="0"/>
                  </a:moveTo>
                  <a:lnTo>
                    <a:pt x="0" y="0"/>
                  </a:lnTo>
                  <a:lnTo>
                    <a:pt x="0" y="638138"/>
                  </a:lnTo>
                  <a:lnTo>
                    <a:pt x="914400" y="857683"/>
                  </a:lnTo>
                  <a:close/>
                </a:path>
              </a:pathLst>
            </a:custGeom>
          </p:spPr>
        </p:pic>
        <p:pic>
          <p:nvPicPr>
            <p:cNvPr id="42" name="그래픽 41" descr="돈 봉투">
              <a:extLst>
                <a:ext uri="{FF2B5EF4-FFF2-40B4-BE49-F238E27FC236}">
                  <a16:creationId xmlns:a16="http://schemas.microsoft.com/office/drawing/2014/main" id="{F184F738-5841-641B-3F2C-F1E2D1162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542514" flipH="1">
              <a:off x="8168220" y="4567243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914400 w 914400"/>
                <a:gd name="connsiteY1" fmla="*/ 914400 h 914400"/>
                <a:gd name="connsiteX2" fmla="*/ 853479 w 914400"/>
                <a:gd name="connsiteY2" fmla="*/ 914400 h 914400"/>
                <a:gd name="connsiteX3" fmla="*/ 0 w 914400"/>
                <a:gd name="connsiteY3" fmla="*/ 503491 h 914400"/>
                <a:gd name="connsiteX4" fmla="*/ 0 w 914400"/>
                <a:gd name="connsiteY4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914400" y="914400"/>
                  </a:lnTo>
                  <a:lnTo>
                    <a:pt x="853479" y="914400"/>
                  </a:lnTo>
                  <a:lnTo>
                    <a:pt x="0" y="503491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9" name="그래픽 38" descr="돈 봉투">
              <a:extLst>
                <a:ext uri="{FF2B5EF4-FFF2-40B4-BE49-F238E27FC236}">
                  <a16:creationId xmlns:a16="http://schemas.microsoft.com/office/drawing/2014/main" id="{C13351F3-E8B0-6E2E-C201-94F8B364B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617271" flipH="1">
              <a:off x="6103985" y="4527723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0 w 914400"/>
                <a:gd name="connsiteY1" fmla="*/ 0 h 914400"/>
                <a:gd name="connsiteX2" fmla="*/ 0 w 914400"/>
                <a:gd name="connsiteY2" fmla="*/ 530835 h 914400"/>
                <a:gd name="connsiteX3" fmla="*/ 754268 w 914400"/>
                <a:gd name="connsiteY3" fmla="*/ 914400 h 914400"/>
                <a:gd name="connsiteX4" fmla="*/ 914400 w 914400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530835"/>
                  </a:lnTo>
                  <a:lnTo>
                    <a:pt x="754268" y="914400"/>
                  </a:lnTo>
                  <a:lnTo>
                    <a:pt x="914400" y="914400"/>
                  </a:lnTo>
                  <a:close/>
                </a:path>
              </a:pathLst>
            </a:custGeom>
          </p:spPr>
        </p:pic>
        <p:pic>
          <p:nvPicPr>
            <p:cNvPr id="57" name="그래픽 56" descr="돈 봉투">
              <a:extLst>
                <a:ext uri="{FF2B5EF4-FFF2-40B4-BE49-F238E27FC236}">
                  <a16:creationId xmlns:a16="http://schemas.microsoft.com/office/drawing/2014/main" id="{8FF32CE3-E583-C939-8A38-668224182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6203"/>
            <a:stretch>
              <a:fillRect/>
            </a:stretch>
          </p:blipFill>
          <p:spPr>
            <a:xfrm rot="20789941">
              <a:off x="7638750" y="4525389"/>
              <a:ext cx="914400" cy="857683"/>
            </a:xfrm>
            <a:custGeom>
              <a:avLst/>
              <a:gdLst>
                <a:gd name="connsiteX0" fmla="*/ 914400 w 914400"/>
                <a:gd name="connsiteY0" fmla="*/ 0 h 857683"/>
                <a:gd name="connsiteX1" fmla="*/ 0 w 914400"/>
                <a:gd name="connsiteY1" fmla="*/ 0 h 857683"/>
                <a:gd name="connsiteX2" fmla="*/ 0 w 914400"/>
                <a:gd name="connsiteY2" fmla="*/ 638138 h 857683"/>
                <a:gd name="connsiteX3" fmla="*/ 914400 w 914400"/>
                <a:gd name="connsiteY3" fmla="*/ 857683 h 85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" h="857683">
                  <a:moveTo>
                    <a:pt x="914400" y="0"/>
                  </a:moveTo>
                  <a:lnTo>
                    <a:pt x="0" y="0"/>
                  </a:lnTo>
                  <a:lnTo>
                    <a:pt x="0" y="638138"/>
                  </a:lnTo>
                  <a:lnTo>
                    <a:pt x="914400" y="857683"/>
                  </a:lnTo>
                  <a:close/>
                </a:path>
              </a:pathLst>
            </a:custGeom>
          </p:spPr>
        </p:pic>
        <p:pic>
          <p:nvPicPr>
            <p:cNvPr id="58" name="그래픽 57" descr="돈 봉투">
              <a:extLst>
                <a:ext uri="{FF2B5EF4-FFF2-40B4-BE49-F238E27FC236}">
                  <a16:creationId xmlns:a16="http://schemas.microsoft.com/office/drawing/2014/main" id="{A3A42345-E2D9-38A9-6A7B-5AC34895C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9982729">
              <a:off x="7919930" y="4534404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0 w 914400"/>
                <a:gd name="connsiteY1" fmla="*/ 0 h 914400"/>
                <a:gd name="connsiteX2" fmla="*/ 0 w 914400"/>
                <a:gd name="connsiteY2" fmla="*/ 530835 h 914400"/>
                <a:gd name="connsiteX3" fmla="*/ 754268 w 914400"/>
                <a:gd name="connsiteY3" fmla="*/ 914400 h 914400"/>
                <a:gd name="connsiteX4" fmla="*/ 914400 w 914400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530835"/>
                  </a:lnTo>
                  <a:lnTo>
                    <a:pt x="754268" y="914400"/>
                  </a:lnTo>
                  <a:lnTo>
                    <a:pt x="914400" y="914400"/>
                  </a:lnTo>
                  <a:close/>
                </a:path>
              </a:pathLst>
            </a:custGeom>
          </p:spPr>
        </p:pic>
      </p:grpSp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70C25288-8F36-A0CF-F97E-F079542A9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1209" y="1740324"/>
            <a:ext cx="1839160" cy="1839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52A3EA-9704-23E2-ED81-91D18EA46E3E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8709C22-9FEF-7C14-BD87-4AA04F4DD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45776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정착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신규</a:t>
                      </a:r>
                      <a:r>
                        <a:rPr lang="en-US" altLang="ko-KR" sz="1100" b="0" i="0" dirty="0"/>
                        <a:t> </a:t>
                      </a:r>
                      <a:r>
                        <a:rPr lang="ko-KR" altLang="en-US" sz="1100" b="0" i="0" dirty="0"/>
                        <a:t>캐릭터와 컨텐츠</a:t>
                      </a:r>
                      <a:r>
                        <a:rPr lang="en-US" altLang="ko-KR" sz="1100" b="0" i="0" dirty="0"/>
                        <a:t>?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지를 게 또 생겼으니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질러야지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dirty="0"/>
                        <a:t>할거 더 안내주면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딴 게임 하러 가야지</a:t>
                      </a:r>
                      <a:r>
                        <a:rPr lang="en-US" altLang="ko-KR" sz="105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50" b="0" i="0" dirty="0"/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dirty="0"/>
                        <a:t>돈을 </a:t>
                      </a:r>
                      <a:r>
                        <a:rPr lang="ko-KR" altLang="en-US" sz="1050" b="0" i="0" dirty="0" err="1"/>
                        <a:t>이렇게나</a:t>
                      </a:r>
                      <a:r>
                        <a:rPr lang="ko-KR" altLang="en-US" sz="1050" b="0" i="0" dirty="0"/>
                        <a:t> 지르는데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지른 템 가치는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계속 떨어지고</a:t>
                      </a:r>
                      <a:r>
                        <a:rPr lang="en-US" altLang="ko-KR" sz="1050" b="0" i="0" dirty="0"/>
                        <a:t>,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하는 컨텐츠가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달라지는 것도 아니고</a:t>
                      </a:r>
                      <a:r>
                        <a:rPr lang="en-US" altLang="ko-KR" sz="1050" b="0" i="0" dirty="0"/>
                        <a:t>......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918711-06C0-4885-54C7-592693237C60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　　　　　게임에선 내가 왕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　　　　　게임 회사 입장에서도 내가 왕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882FAF-6225-B406-9ABE-0683F758EE2C}"/>
              </a:ext>
            </a:extLst>
          </p:cNvPr>
          <p:cNvSpPr txBox="1"/>
          <p:nvPr/>
        </p:nvSpPr>
        <p:spPr>
          <a:xfrm>
            <a:off x="5763828" y="923166"/>
            <a:ext cx="5270518" cy="291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가성비 유료 상품 외의 추가 유료 상품을 구매하며</a:t>
            </a:r>
            <a:br>
              <a:rPr lang="en-US" altLang="ko-KR" sz="1100" dirty="0"/>
            </a:br>
            <a:r>
              <a:rPr lang="ko-KR" altLang="en-US" sz="1100" dirty="0"/>
              <a:t>최상위 컨텐츠를 즐기는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높은 </a:t>
            </a:r>
            <a:r>
              <a:rPr lang="ko-KR" altLang="en-US" sz="1100" dirty="0" err="1"/>
              <a:t>과금량과</a:t>
            </a:r>
            <a:r>
              <a:rPr lang="ko-KR" altLang="en-US" sz="1100" dirty="0"/>
              <a:t> 충성심의 유저이나</a:t>
            </a:r>
            <a:br>
              <a:rPr lang="en-US" altLang="ko-KR" sz="1100" dirty="0"/>
            </a:br>
            <a:r>
              <a:rPr lang="ko-KR" altLang="en-US" sz="1100" dirty="0"/>
              <a:t>투자한 아이템의 가치가 떨어지는 위협을 느끼거나</a:t>
            </a:r>
            <a:br>
              <a:rPr lang="en-US" altLang="ko-KR" sz="1100" dirty="0"/>
            </a:br>
            <a:r>
              <a:rPr lang="ko-KR" altLang="en-US" sz="1100" dirty="0"/>
              <a:t>투자할 컨텐츠가 없다고 느껴질 때 이탈할 수 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유료 상품 구매 품목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0EA668A-BCEA-D225-9AE3-0823628B010C}"/>
              </a:ext>
            </a:extLst>
          </p:cNvPr>
          <p:cNvGrpSpPr/>
          <p:nvPr/>
        </p:nvGrpSpPr>
        <p:grpSpPr>
          <a:xfrm>
            <a:off x="2198074" y="922665"/>
            <a:ext cx="2074986" cy="668216"/>
            <a:chOff x="1441937" y="5750169"/>
            <a:chExt cx="2074986" cy="668216"/>
          </a:xfrm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25BCDF6C-AE6D-FE32-C64E-CA7ABE9B46C0}"/>
                </a:ext>
              </a:extLst>
            </p:cNvPr>
            <p:cNvSpPr/>
            <p:nvPr/>
          </p:nvSpPr>
          <p:spPr>
            <a:xfrm rot="10800000">
              <a:off x="1441937" y="5750169"/>
              <a:ext cx="2074986" cy="668216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6B9317-041A-BB40-E358-C1F72FE40676}"/>
                </a:ext>
              </a:extLst>
            </p:cNvPr>
            <p:cNvSpPr txBox="1"/>
            <p:nvPr/>
          </p:nvSpPr>
          <p:spPr>
            <a:xfrm>
              <a:off x="2098554" y="5899611"/>
              <a:ext cx="761751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충성</a:t>
              </a:r>
            </a:p>
          </p:txBody>
        </p:sp>
      </p:grp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58AAED40-EA12-03F2-660D-690F4ADAF6E0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게임 컨트롤러">
            <a:extLst>
              <a:ext uri="{FF2B5EF4-FFF2-40B4-BE49-F238E27FC236}">
                <a16:creationId xmlns:a16="http://schemas.microsoft.com/office/drawing/2014/main" id="{386D7E52-3BEF-C261-1E7A-A96BF83507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3087" y="2799320"/>
            <a:ext cx="715405" cy="715405"/>
          </a:xfrm>
          <a:prstGeom prst="rect">
            <a:avLst/>
          </a:prstGeom>
        </p:spPr>
      </p:pic>
      <p:pic>
        <p:nvPicPr>
          <p:cNvPr id="18" name="그래픽 17" descr="왕관">
            <a:extLst>
              <a:ext uri="{FF2B5EF4-FFF2-40B4-BE49-F238E27FC236}">
                <a16:creationId xmlns:a16="http://schemas.microsoft.com/office/drawing/2014/main" id="{3E32531D-3373-728A-188A-4C95303C86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800000">
            <a:off x="2614488" y="1637373"/>
            <a:ext cx="741994" cy="523860"/>
          </a:xfrm>
          <a:prstGeom prst="rect">
            <a:avLst/>
          </a:prstGeom>
        </p:spPr>
      </p:pic>
      <p:pic>
        <p:nvPicPr>
          <p:cNvPr id="26" name="그래픽 25" descr="선글라스">
            <a:extLst>
              <a:ext uri="{FF2B5EF4-FFF2-40B4-BE49-F238E27FC236}">
                <a16:creationId xmlns:a16="http://schemas.microsoft.com/office/drawing/2014/main" id="{37F9D45A-D23D-5632-DF50-DC861C6D5C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54726" y="1949692"/>
            <a:ext cx="752124" cy="752124"/>
          </a:xfrm>
          <a:prstGeom prst="rect">
            <a:avLst/>
          </a:prstGeom>
        </p:spPr>
      </p:pic>
      <p:pic>
        <p:nvPicPr>
          <p:cNvPr id="50" name="그래픽 49" descr="동전">
            <a:extLst>
              <a:ext uri="{FF2B5EF4-FFF2-40B4-BE49-F238E27FC236}">
                <a16:creationId xmlns:a16="http://schemas.microsoft.com/office/drawing/2014/main" id="{B023DA5F-AA97-9278-9579-0B9264B17D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700000">
            <a:off x="1990709" y="1616623"/>
            <a:ext cx="487712" cy="487712"/>
          </a:xfrm>
          <a:prstGeom prst="rect">
            <a:avLst/>
          </a:prstGeom>
        </p:spPr>
      </p:pic>
      <p:pic>
        <p:nvPicPr>
          <p:cNvPr id="51" name="그래픽 50" descr="동전">
            <a:extLst>
              <a:ext uri="{FF2B5EF4-FFF2-40B4-BE49-F238E27FC236}">
                <a16:creationId xmlns:a16="http://schemas.microsoft.com/office/drawing/2014/main" id="{650E6545-7D48-1C83-A3C3-06A7C3612D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56341">
            <a:off x="3501994" y="2426716"/>
            <a:ext cx="487712" cy="487712"/>
          </a:xfrm>
          <a:prstGeom prst="rect">
            <a:avLst/>
          </a:prstGeom>
        </p:spPr>
      </p:pic>
      <p:pic>
        <p:nvPicPr>
          <p:cNvPr id="53" name="그래픽 52" descr="동전">
            <a:extLst>
              <a:ext uri="{FF2B5EF4-FFF2-40B4-BE49-F238E27FC236}">
                <a16:creationId xmlns:a16="http://schemas.microsoft.com/office/drawing/2014/main" id="{3EE15D7E-7C36-17FE-3F39-4A28C3442E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490496">
            <a:off x="3915886" y="2090146"/>
            <a:ext cx="487712" cy="487712"/>
          </a:xfrm>
          <a:prstGeom prst="rect">
            <a:avLst/>
          </a:prstGeom>
        </p:spPr>
      </p:pic>
      <p:sp>
        <p:nvSpPr>
          <p:cNvPr id="54" name="별: 꼭짓점 4개 53">
            <a:extLst>
              <a:ext uri="{FF2B5EF4-FFF2-40B4-BE49-F238E27FC236}">
                <a16:creationId xmlns:a16="http://schemas.microsoft.com/office/drawing/2014/main" id="{499F50C6-73FD-2E75-9B88-4CAD72F3D75C}"/>
              </a:ext>
            </a:extLst>
          </p:cNvPr>
          <p:cNvSpPr/>
          <p:nvPr/>
        </p:nvSpPr>
        <p:spPr>
          <a:xfrm>
            <a:off x="3381507" y="1892406"/>
            <a:ext cx="469869" cy="521219"/>
          </a:xfrm>
          <a:prstGeom prst="star4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A15A462F-0CD0-C95E-24DD-2FC0CB278A6F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F2B762-D1BF-2127-D7A7-86A7B5BC8DA5}"/>
              </a:ext>
            </a:extLst>
          </p:cNvPr>
          <p:cNvSpPr/>
          <p:nvPr/>
        </p:nvSpPr>
        <p:spPr>
          <a:xfrm>
            <a:off x="7924803" y="4362979"/>
            <a:ext cx="773770" cy="1686927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</a:rPr>
              <a:t>성장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F356F78-20AD-D017-79A4-35DDEB2C520B}"/>
              </a:ext>
            </a:extLst>
          </p:cNvPr>
          <p:cNvSpPr/>
          <p:nvPr/>
        </p:nvSpPr>
        <p:spPr>
          <a:xfrm>
            <a:off x="6155578" y="4395687"/>
            <a:ext cx="680008" cy="65054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스토리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en-US" altLang="ko-KR" sz="1100" dirty="0">
                <a:solidFill>
                  <a:schemeClr val="tx1"/>
                </a:solidFill>
              </a:rPr>
              <a:t>-</a:t>
            </a:r>
            <a:r>
              <a:rPr lang="ko-KR" altLang="en-US" sz="1100" dirty="0">
                <a:solidFill>
                  <a:schemeClr val="tx1"/>
                </a:solidFill>
              </a:rPr>
              <a:t>完</a:t>
            </a:r>
            <a:r>
              <a:rPr lang="en-US" altLang="ko-KR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8B44CD4-ED5A-D8DA-074C-1DB53C246CB2}"/>
              </a:ext>
            </a:extLst>
          </p:cNvPr>
          <p:cNvSpPr/>
          <p:nvPr/>
        </p:nvSpPr>
        <p:spPr>
          <a:xfrm>
            <a:off x="7008328" y="4338254"/>
            <a:ext cx="803308" cy="765410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기타</a:t>
            </a:r>
            <a:br>
              <a:rPr lang="en-US" altLang="ko-KR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컨텐츠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310C61F-8C97-68CC-54E5-017040E2582E}"/>
              </a:ext>
            </a:extLst>
          </p:cNvPr>
          <p:cNvSpPr/>
          <p:nvPr/>
        </p:nvSpPr>
        <p:spPr>
          <a:xfrm>
            <a:off x="6121391" y="5333956"/>
            <a:ext cx="1662781" cy="715957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chemeClr val="tx1"/>
                </a:solidFill>
              </a:rPr>
              <a:t>보상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27107A9-8E52-78AF-A306-3BCF0D3CD1C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311688" y="4165392"/>
            <a:ext cx="0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C0185A7-3A90-8DFD-5497-B6623723276F}"/>
              </a:ext>
            </a:extLst>
          </p:cNvPr>
          <p:cNvCxnSpPr>
            <a:cxnSpLocks/>
          </p:cNvCxnSpPr>
          <p:nvPr/>
        </p:nvCxnSpPr>
        <p:spPr>
          <a:xfrm flipH="1">
            <a:off x="7409981" y="4165393"/>
            <a:ext cx="91440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2A775E1-7716-A2DA-5964-6C1184D87B5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409981" y="4165393"/>
            <a:ext cx="1" cy="17286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CA6A763-E211-07BB-C597-05AC8B806E8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7409982" y="5103664"/>
            <a:ext cx="0" cy="48761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355FA13-7BA2-0418-CB71-EA743A098D61}"/>
              </a:ext>
            </a:extLst>
          </p:cNvPr>
          <p:cNvCxnSpPr>
            <a:cxnSpLocks/>
          </p:cNvCxnSpPr>
          <p:nvPr/>
        </p:nvCxnSpPr>
        <p:spPr>
          <a:xfrm flipH="1">
            <a:off x="6948752" y="5152425"/>
            <a:ext cx="461229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11368D4-F91B-22EC-2C1E-A74DA615E2FE}"/>
              </a:ext>
            </a:extLst>
          </p:cNvPr>
          <p:cNvCxnSpPr>
            <a:cxnSpLocks/>
          </p:cNvCxnSpPr>
          <p:nvPr/>
        </p:nvCxnSpPr>
        <p:spPr>
          <a:xfrm>
            <a:off x="6948752" y="5155968"/>
            <a:ext cx="0" cy="171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E2D9AE-294E-8907-1D1F-28C4BFC6E19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784172" y="5691935"/>
            <a:ext cx="2168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307CD00-1146-BA96-7015-75293435B3CC}"/>
              </a:ext>
            </a:extLst>
          </p:cNvPr>
          <p:cNvSpPr/>
          <p:nvPr/>
        </p:nvSpPr>
        <p:spPr>
          <a:xfrm>
            <a:off x="10048629" y="4364984"/>
            <a:ext cx="748381" cy="71595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추가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유료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상품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BE2FC91-547D-3842-535D-AD5B1F6A2FFF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10422820" y="4177135"/>
            <a:ext cx="0" cy="187849"/>
          </a:xfrm>
          <a:prstGeom prst="straightConnector1">
            <a:avLst/>
          </a:prstGeom>
          <a:ln w="254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1E03F2F-502A-9968-46BF-60ED732B7392}"/>
              </a:ext>
            </a:extLst>
          </p:cNvPr>
          <p:cNvCxnSpPr>
            <a:cxnSpLocks/>
          </p:cNvCxnSpPr>
          <p:nvPr/>
        </p:nvCxnSpPr>
        <p:spPr>
          <a:xfrm flipH="1">
            <a:off x="8572500" y="4168343"/>
            <a:ext cx="1850319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25B2F14-5C2E-7419-C617-5E800F647D35}"/>
              </a:ext>
            </a:extLst>
          </p:cNvPr>
          <p:cNvCxnSpPr>
            <a:cxnSpLocks/>
          </p:cNvCxnSpPr>
          <p:nvPr/>
        </p:nvCxnSpPr>
        <p:spPr>
          <a:xfrm>
            <a:off x="8572500" y="4165392"/>
            <a:ext cx="0" cy="19758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A53412-278E-34BC-8FBC-10B6E95EB093}"/>
              </a:ext>
            </a:extLst>
          </p:cNvPr>
          <p:cNvSpPr/>
          <p:nvPr/>
        </p:nvSpPr>
        <p:spPr>
          <a:xfrm>
            <a:off x="9134227" y="4362979"/>
            <a:ext cx="748381" cy="71595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유료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패스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3679888-71F7-4A9C-A68C-06242CEB528D}"/>
              </a:ext>
            </a:extLst>
          </p:cNvPr>
          <p:cNvCxnSpPr>
            <a:cxnSpLocks/>
          </p:cNvCxnSpPr>
          <p:nvPr/>
        </p:nvCxnSpPr>
        <p:spPr>
          <a:xfrm>
            <a:off x="9363808" y="5078934"/>
            <a:ext cx="0" cy="248509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33EE06D-8D08-DA5B-71AE-334541E091F3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698573" y="4720957"/>
            <a:ext cx="435654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82C416F-3FA8-8D93-782C-8B2630C8C901}"/>
              </a:ext>
            </a:extLst>
          </p:cNvPr>
          <p:cNvSpPr/>
          <p:nvPr/>
        </p:nvSpPr>
        <p:spPr>
          <a:xfrm>
            <a:off x="9134227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하우징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E04675E-5C4C-975B-6775-0E5894CAF606}"/>
              </a:ext>
            </a:extLst>
          </p:cNvPr>
          <p:cNvSpPr/>
          <p:nvPr/>
        </p:nvSpPr>
        <p:spPr>
          <a:xfrm>
            <a:off x="10048629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하우징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레벨 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489E3E5-BBBC-D4A4-E739-CA918E5A7719}"/>
              </a:ext>
            </a:extLst>
          </p:cNvPr>
          <p:cNvCxnSpPr>
            <a:cxnSpLocks/>
          </p:cNvCxnSpPr>
          <p:nvPr/>
        </p:nvCxnSpPr>
        <p:spPr>
          <a:xfrm flipH="1" flipV="1">
            <a:off x="10422819" y="5145154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99DA049-D5D7-C716-6BB5-C5AC79C6FF8F}"/>
              </a:ext>
            </a:extLst>
          </p:cNvPr>
          <p:cNvCxnSpPr>
            <a:cxnSpLocks/>
          </p:cNvCxnSpPr>
          <p:nvPr/>
        </p:nvCxnSpPr>
        <p:spPr>
          <a:xfrm flipH="1">
            <a:off x="9508416" y="6256284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28BB316-52AD-9770-5268-935853E88666}"/>
              </a:ext>
            </a:extLst>
          </p:cNvPr>
          <p:cNvCxnSpPr>
            <a:cxnSpLocks/>
          </p:cNvCxnSpPr>
          <p:nvPr/>
        </p:nvCxnSpPr>
        <p:spPr>
          <a:xfrm flipH="1" flipV="1">
            <a:off x="9508416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8209A-11E0-6354-3D4E-21D8D84B89E6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9508416" y="5144249"/>
            <a:ext cx="2" cy="1984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FF916EC-D550-79C2-5DA2-9540603942F1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10422819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C3D9388-E165-9BD3-278B-85E3ED5CFCEC}"/>
              </a:ext>
            </a:extLst>
          </p:cNvPr>
          <p:cNvCxnSpPr>
            <a:cxnSpLocks/>
          </p:cNvCxnSpPr>
          <p:nvPr/>
        </p:nvCxnSpPr>
        <p:spPr>
          <a:xfrm flipH="1">
            <a:off x="9508416" y="5144701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4BF1B66-D0E0-E4C2-2285-222A4F640376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8698573" y="5700720"/>
            <a:ext cx="435654" cy="8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758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F1475-AD71-E937-A7A3-BB76DD5B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D4C4E9-FABA-F23C-3C08-A28805A756A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유저 </a:t>
            </a:r>
            <a:r>
              <a:rPr lang="ko-KR" altLang="en-US" sz="2000" b="1" dirty="0" err="1"/>
              <a:t>퍼널</a:t>
            </a:r>
            <a:r>
              <a:rPr lang="ko-KR" altLang="en-US" sz="2000" b="1" dirty="0"/>
              <a:t> 분석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OO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사이트 기준 국내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OO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스토어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2025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년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6~8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월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NRU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(New Registered User)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사다리꼴 1">
            <a:extLst>
              <a:ext uri="{FF2B5EF4-FFF2-40B4-BE49-F238E27FC236}">
                <a16:creationId xmlns:a16="http://schemas.microsoft.com/office/drawing/2014/main" id="{4645043B-847D-9D33-E8F9-275FE0F17007}"/>
              </a:ext>
            </a:extLst>
          </p:cNvPr>
          <p:cNvSpPr/>
          <p:nvPr/>
        </p:nvSpPr>
        <p:spPr>
          <a:xfrm rot="10800000">
            <a:off x="1661630" y="923167"/>
            <a:ext cx="3622430" cy="668216"/>
          </a:xfrm>
          <a:prstGeom prst="trapezoid">
            <a:avLst/>
          </a:prstGeom>
          <a:solidFill>
            <a:schemeClr val="bg1"/>
          </a:solidFill>
          <a:ln w="127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1DD1DC05-DDCB-5AA3-A940-8B7F31C96ECB}"/>
              </a:ext>
            </a:extLst>
          </p:cNvPr>
          <p:cNvSpPr/>
          <p:nvPr/>
        </p:nvSpPr>
        <p:spPr>
          <a:xfrm rot="10800000">
            <a:off x="1837475" y="2129917"/>
            <a:ext cx="3270740" cy="668216"/>
          </a:xfrm>
          <a:prstGeom prst="trapezoid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다리꼴 15">
            <a:extLst>
              <a:ext uri="{FF2B5EF4-FFF2-40B4-BE49-F238E27FC236}">
                <a16:creationId xmlns:a16="http://schemas.microsoft.com/office/drawing/2014/main" id="{CC9CACB0-6996-2047-0BB8-9CC94A79FB87}"/>
              </a:ext>
            </a:extLst>
          </p:cNvPr>
          <p:cNvSpPr/>
          <p:nvPr/>
        </p:nvSpPr>
        <p:spPr>
          <a:xfrm rot="10800000">
            <a:off x="2039698" y="3336668"/>
            <a:ext cx="2866294" cy="668216"/>
          </a:xfrm>
          <a:prstGeom prst="trapezoi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다리꼴 18">
            <a:extLst>
              <a:ext uri="{FF2B5EF4-FFF2-40B4-BE49-F238E27FC236}">
                <a16:creationId xmlns:a16="http://schemas.microsoft.com/office/drawing/2014/main" id="{6EBD01B3-61EE-BE35-0F26-3CE5DA4EE867}"/>
              </a:ext>
            </a:extLst>
          </p:cNvPr>
          <p:cNvSpPr/>
          <p:nvPr/>
        </p:nvSpPr>
        <p:spPr>
          <a:xfrm rot="10800000">
            <a:off x="2250714" y="4543419"/>
            <a:ext cx="2444262" cy="668216"/>
          </a:xfrm>
          <a:prstGeom prst="trapezoid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사다리꼴 21">
            <a:extLst>
              <a:ext uri="{FF2B5EF4-FFF2-40B4-BE49-F238E27FC236}">
                <a16:creationId xmlns:a16="http://schemas.microsoft.com/office/drawing/2014/main" id="{E5D781CB-BF16-AB0D-428D-07FEC7427731}"/>
              </a:ext>
            </a:extLst>
          </p:cNvPr>
          <p:cNvSpPr/>
          <p:nvPr/>
        </p:nvSpPr>
        <p:spPr>
          <a:xfrm rot="10800000">
            <a:off x="2435352" y="5750169"/>
            <a:ext cx="2074986" cy="668216"/>
          </a:xfrm>
          <a:prstGeom prst="trapezoid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CBA238-1DC1-A5E3-E09B-6D57B7FE5D4A}"/>
              </a:ext>
            </a:extLst>
          </p:cNvPr>
          <p:cNvSpPr txBox="1"/>
          <p:nvPr/>
        </p:nvSpPr>
        <p:spPr>
          <a:xfrm>
            <a:off x="3091969" y="5899611"/>
            <a:ext cx="761751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충성</a:t>
            </a: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57A1B3FA-89C0-E7B6-9739-58C9CC7D40BC}"/>
              </a:ext>
            </a:extLst>
          </p:cNvPr>
          <p:cNvSpPr/>
          <p:nvPr/>
        </p:nvSpPr>
        <p:spPr>
          <a:xfrm rot="10800000">
            <a:off x="3296998" y="1674947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A914F874-23FB-425E-2250-24D172F784EC}"/>
              </a:ext>
            </a:extLst>
          </p:cNvPr>
          <p:cNvSpPr/>
          <p:nvPr/>
        </p:nvSpPr>
        <p:spPr>
          <a:xfrm rot="10800000">
            <a:off x="3296998" y="2872854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6E113824-23E8-A411-ABAA-00C13B42728F}"/>
              </a:ext>
            </a:extLst>
          </p:cNvPr>
          <p:cNvSpPr/>
          <p:nvPr/>
        </p:nvSpPr>
        <p:spPr>
          <a:xfrm rot="10800000">
            <a:off x="3296998" y="4084027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18526B80-7263-6968-B607-12177B6D44D9}"/>
              </a:ext>
            </a:extLst>
          </p:cNvPr>
          <p:cNvSpPr/>
          <p:nvPr/>
        </p:nvSpPr>
        <p:spPr>
          <a:xfrm rot="10800000">
            <a:off x="3296998" y="5290777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C88B6B-8DA9-8D88-72C8-CE27D81BE6A8}"/>
              </a:ext>
            </a:extLst>
          </p:cNvPr>
          <p:cNvSpPr txBox="1"/>
          <p:nvPr/>
        </p:nvSpPr>
        <p:spPr>
          <a:xfrm>
            <a:off x="4032559" y="1118775"/>
            <a:ext cx="726958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100.0%</a:t>
            </a:r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062025-C29C-B471-DF0C-AEDFA027DC73}"/>
              </a:ext>
            </a:extLst>
          </p:cNvPr>
          <p:cNvSpPr txBox="1"/>
          <p:nvPr/>
        </p:nvSpPr>
        <p:spPr>
          <a:xfrm>
            <a:off x="3853719" y="5945724"/>
            <a:ext cx="542319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0.7%</a:t>
            </a:r>
            <a:endParaRPr lang="ko-KR" altLang="en-US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81A7D1-2658-1FD7-2DCB-1ED56A36E0D9}"/>
              </a:ext>
            </a:extLst>
          </p:cNvPr>
          <p:cNvSpPr txBox="1"/>
          <p:nvPr/>
        </p:nvSpPr>
        <p:spPr>
          <a:xfrm>
            <a:off x="1925400" y="1644543"/>
            <a:ext cx="3094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TS </a:t>
            </a:r>
            <a:r>
              <a:rPr lang="ko-KR" altLang="en-US" sz="1100" dirty="0"/>
              <a:t>≥</a:t>
            </a:r>
            <a:r>
              <a:rPr lang="en-US" altLang="ko-KR" sz="1100" dirty="0"/>
              <a:t> 10m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Time Spent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DD1EF4-6CBE-8F1E-BFD0-40E8B2ECC1DD}"/>
              </a:ext>
            </a:extLst>
          </p:cNvPr>
          <p:cNvSpPr txBox="1"/>
          <p:nvPr/>
        </p:nvSpPr>
        <p:spPr>
          <a:xfrm>
            <a:off x="1925400" y="5257748"/>
            <a:ext cx="3094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LTV </a:t>
            </a:r>
            <a:r>
              <a:rPr lang="ko-KR" altLang="en-US" sz="1100" dirty="0"/>
              <a:t>≥ </a:t>
            </a:r>
            <a:r>
              <a:rPr lang="en-US" altLang="ko-KR" sz="1100" dirty="0"/>
              <a:t>\ 75,000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Life Time Value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68DB37-BFEC-3BAA-4973-96F3B32666AB}"/>
              </a:ext>
            </a:extLst>
          </p:cNvPr>
          <p:cNvSpPr txBox="1"/>
          <p:nvPr/>
        </p:nvSpPr>
        <p:spPr>
          <a:xfrm>
            <a:off x="6301326" y="1436795"/>
            <a:ext cx="3669897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highlight>
                  <a:srgbClr val="FFFF00"/>
                </a:highlight>
              </a:rPr>
              <a:t>2</a:t>
            </a:r>
            <a:r>
              <a:rPr lang="ko-KR" altLang="en-US" sz="1600" b="1" dirty="0">
                <a:highlight>
                  <a:srgbClr val="FFFF00"/>
                </a:highlight>
              </a:rPr>
              <a:t>가지 경우에서</a:t>
            </a:r>
            <a:br>
              <a:rPr lang="en-US" altLang="ko-KR" sz="1600" b="1" dirty="0">
                <a:highlight>
                  <a:srgbClr val="FFFF00"/>
                </a:highlight>
              </a:rPr>
            </a:br>
            <a:r>
              <a:rPr lang="ko-KR" altLang="en-US" sz="1600" b="1" dirty="0">
                <a:highlight>
                  <a:srgbClr val="FFFF00"/>
                </a:highlight>
              </a:rPr>
              <a:t>낮은 전환율을 보이는 모습입니다</a:t>
            </a:r>
            <a:r>
              <a:rPr lang="en-US" altLang="ko-KR" sz="1600" b="1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3006433-BEC4-2228-15EA-7C5D4016D0B5}"/>
              </a:ext>
            </a:extLst>
          </p:cNvPr>
          <p:cNvSpPr/>
          <p:nvPr/>
        </p:nvSpPr>
        <p:spPr>
          <a:xfrm>
            <a:off x="3853718" y="2142818"/>
            <a:ext cx="648000" cy="648000"/>
          </a:xfrm>
          <a:prstGeom prst="roundRect">
            <a:avLst>
              <a:gd name="adj" fmla="val 5000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DA860-C646-3CDC-F152-3AA0161BDE48}"/>
              </a:ext>
            </a:extLst>
          </p:cNvPr>
          <p:cNvSpPr txBox="1"/>
          <p:nvPr/>
        </p:nvSpPr>
        <p:spPr>
          <a:xfrm>
            <a:off x="3091971" y="2279359"/>
            <a:ext cx="76175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학습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B6DA2-0752-73AE-ED5A-E1FB9F418AF6}"/>
              </a:ext>
            </a:extLst>
          </p:cNvPr>
          <p:cNvSpPr txBox="1"/>
          <p:nvPr/>
        </p:nvSpPr>
        <p:spPr>
          <a:xfrm>
            <a:off x="3853719" y="2325525"/>
            <a:ext cx="656618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87.2%</a:t>
            </a:r>
            <a:endParaRPr lang="ko-KR" altLang="en-US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6F1CE0-9A73-5329-CE9A-DF15ABF49F16}"/>
              </a:ext>
            </a:extLst>
          </p:cNvPr>
          <p:cNvSpPr txBox="1"/>
          <p:nvPr/>
        </p:nvSpPr>
        <p:spPr>
          <a:xfrm>
            <a:off x="1925400" y="2850851"/>
            <a:ext cx="30948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D7RU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Day 7 Retention User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A60728-A97A-B943-EF74-636DD5ED43FC}"/>
              </a:ext>
            </a:extLst>
          </p:cNvPr>
          <p:cNvSpPr txBox="1"/>
          <p:nvPr/>
        </p:nvSpPr>
        <p:spPr>
          <a:xfrm>
            <a:off x="1925400" y="4062431"/>
            <a:ext cx="30948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NPU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New Paying User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8CD4CE21-5BF4-D12C-41F1-67A319C5AE72}"/>
              </a:ext>
            </a:extLst>
          </p:cNvPr>
          <p:cNvSpPr/>
          <p:nvPr/>
        </p:nvSpPr>
        <p:spPr>
          <a:xfrm>
            <a:off x="3853718" y="3335561"/>
            <a:ext cx="648000" cy="648000"/>
          </a:xfrm>
          <a:prstGeom prst="roundRect">
            <a:avLst>
              <a:gd name="adj" fmla="val 5000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BDE61F0-5434-0ABC-2300-BF685C5BC6C3}"/>
              </a:ext>
            </a:extLst>
          </p:cNvPr>
          <p:cNvSpPr/>
          <p:nvPr/>
        </p:nvSpPr>
        <p:spPr>
          <a:xfrm>
            <a:off x="3853718" y="4553526"/>
            <a:ext cx="648000" cy="648000"/>
          </a:xfrm>
          <a:prstGeom prst="roundRect">
            <a:avLst>
              <a:gd name="adj" fmla="val 5000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C0B67-3C00-6D2B-36E2-A7A8C23B60D6}"/>
              </a:ext>
            </a:extLst>
          </p:cNvPr>
          <p:cNvSpPr txBox="1"/>
          <p:nvPr/>
        </p:nvSpPr>
        <p:spPr>
          <a:xfrm>
            <a:off x="3091970" y="3486110"/>
            <a:ext cx="76175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잔류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C9E2B8-5E5A-31C5-2A41-244F9CFF0546}"/>
              </a:ext>
            </a:extLst>
          </p:cNvPr>
          <p:cNvSpPr txBox="1"/>
          <p:nvPr/>
        </p:nvSpPr>
        <p:spPr>
          <a:xfrm>
            <a:off x="3853719" y="3532276"/>
            <a:ext cx="656618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43.7%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31EC24-B1F9-3309-2B52-44F83FACC71F}"/>
              </a:ext>
            </a:extLst>
          </p:cNvPr>
          <p:cNvSpPr txBox="1"/>
          <p:nvPr/>
        </p:nvSpPr>
        <p:spPr>
          <a:xfrm>
            <a:off x="3091971" y="4692861"/>
            <a:ext cx="76175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몰입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DB6625-B165-D272-AA45-ACCEB796E2A6}"/>
              </a:ext>
            </a:extLst>
          </p:cNvPr>
          <p:cNvSpPr txBox="1"/>
          <p:nvPr/>
        </p:nvSpPr>
        <p:spPr>
          <a:xfrm>
            <a:off x="3853719" y="4739027"/>
            <a:ext cx="656618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10.8%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8B33D-AD48-DD59-1D96-AA52A478EB76}"/>
              </a:ext>
            </a:extLst>
          </p:cNvPr>
          <p:cNvSpPr txBox="1"/>
          <p:nvPr/>
        </p:nvSpPr>
        <p:spPr>
          <a:xfrm>
            <a:off x="2807927" y="1072609"/>
            <a:ext cx="1329836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유입</a:t>
            </a:r>
            <a:r>
              <a:rPr lang="en-US" altLang="ko-KR" sz="1400" b="1" dirty="0"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(NRU)</a:t>
            </a:r>
            <a:endParaRPr lang="ko-KR" altLang="en-US" b="1" dirty="0">
              <a:effectLst>
                <a:outerShdw blurRad="88900" sx="102000" sy="102000" algn="ctr" rotWithShape="0">
                  <a:schemeClr val="bg1"/>
                </a:outerShdw>
              </a:effectLst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676425-2EF8-36B5-709E-70C812E958D8}"/>
              </a:ext>
            </a:extLst>
          </p:cNvPr>
          <p:cNvSpPr txBox="1"/>
          <p:nvPr/>
        </p:nvSpPr>
        <p:spPr>
          <a:xfrm>
            <a:off x="6608804" y="4505356"/>
            <a:ext cx="326087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학습 유저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ko-KR" altLang="en-US" sz="1200" dirty="0"/>
              <a:t>신규 유저 </a:t>
            </a:r>
            <a:r>
              <a:rPr lang="ko-KR" altLang="en-US" sz="1200" dirty="0" err="1"/>
              <a:t>리텐션</a:t>
            </a:r>
            <a:r>
              <a:rPr lang="ko-KR" altLang="en-US" sz="1200" dirty="0"/>
              <a:t> 개선 필요</a:t>
            </a:r>
          </a:p>
          <a:p>
            <a:pPr lvl="1"/>
            <a:endParaRPr lang="ko-KR" altLang="en-US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잔류 유저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ko-KR" altLang="en-US" sz="1200" dirty="0"/>
              <a:t>첫 과금 유도 개선 필요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635B871-64BC-A03D-FB28-C455B0D6EE77}"/>
              </a:ext>
            </a:extLst>
          </p:cNvPr>
          <p:cNvGrpSpPr/>
          <p:nvPr/>
        </p:nvGrpSpPr>
        <p:grpSpPr>
          <a:xfrm>
            <a:off x="6113343" y="2606223"/>
            <a:ext cx="1917880" cy="1559520"/>
            <a:chOff x="9769556" y="4906570"/>
            <a:chExt cx="1917880" cy="1559520"/>
          </a:xfrm>
        </p:grpSpPr>
        <p:pic>
          <p:nvPicPr>
            <p:cNvPr id="67" name="그래픽 66" descr="사용자">
              <a:extLst>
                <a:ext uri="{FF2B5EF4-FFF2-40B4-BE49-F238E27FC236}">
                  <a16:creationId xmlns:a16="http://schemas.microsoft.com/office/drawing/2014/main" id="{A3290C17-DB8E-88BD-D04B-B5F01E180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81307" y="5387655"/>
              <a:ext cx="1078437" cy="1078435"/>
            </a:xfrm>
            <a:prstGeom prst="rect">
              <a:avLst/>
            </a:prstGeom>
          </p:spPr>
        </p:pic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350ACC03-91FD-9D70-08A7-61DE21DD9E3F}"/>
                </a:ext>
              </a:extLst>
            </p:cNvPr>
            <p:cNvSpPr/>
            <p:nvPr/>
          </p:nvSpPr>
          <p:spPr>
            <a:xfrm>
              <a:off x="10836161" y="5957998"/>
              <a:ext cx="42219" cy="422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0B2C96F3-3AFC-1D95-4997-F5D0A36F0954}"/>
                </a:ext>
              </a:extLst>
            </p:cNvPr>
            <p:cNvSpPr/>
            <p:nvPr/>
          </p:nvSpPr>
          <p:spPr>
            <a:xfrm>
              <a:off x="10899489" y="5864054"/>
              <a:ext cx="84438" cy="8443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63A74C75-F65E-50F3-68E9-23D71648BEF7}"/>
                </a:ext>
              </a:extLst>
            </p:cNvPr>
            <p:cNvSpPr/>
            <p:nvPr/>
          </p:nvSpPr>
          <p:spPr>
            <a:xfrm>
              <a:off x="10941708" y="5364449"/>
              <a:ext cx="614659" cy="61465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C5BC518-CA1D-2D8A-2887-474E88EC2F55}"/>
                </a:ext>
              </a:extLst>
            </p:cNvPr>
            <p:cNvGrpSpPr/>
            <p:nvPr/>
          </p:nvGrpSpPr>
          <p:grpSpPr>
            <a:xfrm>
              <a:off x="9769556" y="4906570"/>
              <a:ext cx="1917880" cy="391825"/>
              <a:chOff x="844060" y="2129917"/>
              <a:chExt cx="3270740" cy="668216"/>
            </a:xfrm>
          </p:grpSpPr>
          <p:sp>
            <p:nvSpPr>
              <p:cNvPr id="72" name="사다리꼴 71">
                <a:extLst>
                  <a:ext uri="{FF2B5EF4-FFF2-40B4-BE49-F238E27FC236}">
                    <a16:creationId xmlns:a16="http://schemas.microsoft.com/office/drawing/2014/main" id="{D455FCED-1FAB-F9D6-333C-FA70EE0B10F9}"/>
                  </a:ext>
                </a:extLst>
              </p:cNvPr>
              <p:cNvSpPr/>
              <p:nvPr/>
            </p:nvSpPr>
            <p:spPr>
              <a:xfrm rot="10800000">
                <a:off x="844060" y="2129917"/>
                <a:ext cx="3270740" cy="668216"/>
              </a:xfrm>
              <a:prstGeom prst="trapezoid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99F94CF-E87F-05D3-97C5-963EEB6A5D01}"/>
                  </a:ext>
                </a:extLst>
              </p:cNvPr>
              <p:cNvSpPr txBox="1"/>
              <p:nvPr/>
            </p:nvSpPr>
            <p:spPr>
              <a:xfrm>
                <a:off x="1914524" y="2232771"/>
                <a:ext cx="1129816" cy="47239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  <a:effectLst>
                      <a:outerShdw blurRad="88900" sx="102000" sy="102000" algn="ctr" rotWithShape="0">
                        <a:schemeClr val="bg1"/>
                      </a:outerShdw>
                    </a:effectLst>
                  </a:rPr>
                  <a:t>학습</a:t>
                </a:r>
              </a:p>
            </p:txBody>
          </p:sp>
        </p:grpSp>
        <p:pic>
          <p:nvPicPr>
            <p:cNvPr id="80" name="그래픽 79" descr="톱니바퀴">
              <a:extLst>
                <a:ext uri="{FF2B5EF4-FFF2-40B4-BE49-F238E27FC236}">
                  <a16:creationId xmlns:a16="http://schemas.microsoft.com/office/drawing/2014/main" id="{A27F9498-EBBB-5C4D-FE69-3E2F7254C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83927" y="5407293"/>
              <a:ext cx="536181" cy="536181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DA9E471F-FB22-9E3C-ABC9-48A7A5FF933B}"/>
              </a:ext>
            </a:extLst>
          </p:cNvPr>
          <p:cNvGrpSpPr/>
          <p:nvPr/>
        </p:nvGrpSpPr>
        <p:grpSpPr>
          <a:xfrm>
            <a:off x="8352162" y="2603337"/>
            <a:ext cx="1655878" cy="1536188"/>
            <a:chOff x="1802420" y="920868"/>
            <a:chExt cx="2866294" cy="2659114"/>
          </a:xfrm>
        </p:grpSpPr>
        <p:pic>
          <p:nvPicPr>
            <p:cNvPr id="84" name="그래픽 83" descr="사용자">
              <a:extLst>
                <a:ext uri="{FF2B5EF4-FFF2-40B4-BE49-F238E27FC236}">
                  <a16:creationId xmlns:a16="http://schemas.microsoft.com/office/drawing/2014/main" id="{6BF0998B-AE2C-E800-9069-AEC8BAAEC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1315" y="1740826"/>
              <a:ext cx="1839160" cy="1839156"/>
            </a:xfrm>
            <a:prstGeom prst="rect">
              <a:avLst/>
            </a:prstGeom>
          </p:spPr>
        </p:pic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2362C338-90FD-F65E-01A4-3CA45E16203B}"/>
                </a:ext>
              </a:extLst>
            </p:cNvPr>
            <p:cNvSpPr/>
            <p:nvPr/>
          </p:nvSpPr>
          <p:spPr>
            <a:xfrm>
              <a:off x="3419178" y="2713486"/>
              <a:ext cx="72000" cy="7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589CF159-A807-2956-366C-152048A0B8A7}"/>
                </a:ext>
              </a:extLst>
            </p:cNvPr>
            <p:cNvSpPr/>
            <p:nvPr/>
          </p:nvSpPr>
          <p:spPr>
            <a:xfrm>
              <a:off x="3527178" y="2553274"/>
              <a:ext cx="144000" cy="144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6D98112C-BDDF-0CB3-6CFD-9AF6CA661217}"/>
                </a:ext>
              </a:extLst>
            </p:cNvPr>
            <p:cNvSpPr/>
            <p:nvPr/>
          </p:nvSpPr>
          <p:spPr>
            <a:xfrm>
              <a:off x="3599178" y="1701251"/>
              <a:ext cx="1048235" cy="104823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DBFC420D-EC8D-69BC-AECE-701228038EFC}"/>
                </a:ext>
              </a:extLst>
            </p:cNvPr>
            <p:cNvGrpSpPr/>
            <p:nvPr/>
          </p:nvGrpSpPr>
          <p:grpSpPr>
            <a:xfrm>
              <a:off x="1802420" y="920868"/>
              <a:ext cx="2866294" cy="668216"/>
              <a:chOff x="1046283" y="3336668"/>
              <a:chExt cx="2866294" cy="668216"/>
            </a:xfrm>
          </p:grpSpPr>
          <p:sp>
            <p:nvSpPr>
              <p:cNvPr id="89" name="사다리꼴 88">
                <a:extLst>
                  <a:ext uri="{FF2B5EF4-FFF2-40B4-BE49-F238E27FC236}">
                    <a16:creationId xmlns:a16="http://schemas.microsoft.com/office/drawing/2014/main" id="{CEC1E97D-42D3-B1EF-9407-48D5F6BBCA32}"/>
                  </a:ext>
                </a:extLst>
              </p:cNvPr>
              <p:cNvSpPr/>
              <p:nvPr/>
            </p:nvSpPr>
            <p:spPr>
              <a:xfrm rot="10800000">
                <a:off x="1046283" y="3336668"/>
                <a:ext cx="2866294" cy="668216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0889745-CBBE-77BA-DA91-112B2468840D}"/>
                  </a:ext>
                </a:extLst>
              </p:cNvPr>
              <p:cNvSpPr txBox="1"/>
              <p:nvPr/>
            </p:nvSpPr>
            <p:spPr>
              <a:xfrm>
                <a:off x="1971823" y="3416750"/>
                <a:ext cx="1015214" cy="47948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  <a:effectLst>
                      <a:outerShdw blurRad="88900" sx="102000" sy="102000" algn="ctr" rotWithShape="0">
                        <a:schemeClr val="bg1"/>
                      </a:outerShdw>
                    </a:effectLst>
                  </a:rPr>
                  <a:t>잔류</a:t>
                </a:r>
              </a:p>
            </p:txBody>
          </p:sp>
        </p:grpSp>
        <p:pic>
          <p:nvPicPr>
            <p:cNvPr id="91" name="그래픽 90" descr="게임 컨트롤러">
              <a:extLst>
                <a:ext uri="{FF2B5EF4-FFF2-40B4-BE49-F238E27FC236}">
                  <a16:creationId xmlns:a16="http://schemas.microsoft.com/office/drawing/2014/main" id="{5C40C18C-B997-09F8-F1B1-58DCC0BB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43174" y="1828540"/>
              <a:ext cx="779292" cy="779292"/>
            </a:xfrm>
            <a:prstGeom prst="rect">
              <a:avLst/>
            </a:prstGeom>
          </p:spPr>
        </p:pic>
        <p:pic>
          <p:nvPicPr>
            <p:cNvPr id="92" name="그래픽 91" descr="악보">
              <a:extLst>
                <a:ext uri="{FF2B5EF4-FFF2-40B4-BE49-F238E27FC236}">
                  <a16:creationId xmlns:a16="http://schemas.microsoft.com/office/drawing/2014/main" id="{3D678A0E-F628-82E0-71DE-6841DBC05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56743" y="2008320"/>
              <a:ext cx="401932" cy="401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9995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B598-B4A2-351D-2A67-2B1365C3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B8BD47-B759-B332-A7B1-C4D8B6CBDC5C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향후 업데이트 전략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002C4-C446-1012-233B-40AC2A89FE62}"/>
              </a:ext>
            </a:extLst>
          </p:cNvPr>
          <p:cNvSpPr txBox="1"/>
          <p:nvPr/>
        </p:nvSpPr>
        <p:spPr>
          <a:xfrm>
            <a:off x="1138976" y="1181626"/>
            <a:ext cx="9914048" cy="418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분석 요약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유료 상품 상황</a:t>
            </a:r>
            <a:endParaRPr lang="en-US" altLang="ko-KR" sz="1400" b="1" dirty="0"/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/>
              <a:t>성능 아이템</a:t>
            </a:r>
            <a:r>
              <a:rPr lang="en-US" altLang="ko-KR" sz="1000" dirty="0"/>
              <a:t>, </a:t>
            </a:r>
            <a:r>
              <a:rPr lang="ko-KR" altLang="en-US" sz="1000" dirty="0"/>
              <a:t>감성 아이템 모두 판매 중이지만</a:t>
            </a:r>
            <a:r>
              <a:rPr lang="en-US" altLang="ko-KR" sz="1000" dirty="0"/>
              <a:t> </a:t>
            </a:r>
            <a:r>
              <a:rPr lang="ko-KR" altLang="en-US" sz="1000" dirty="0"/>
              <a:t>주력 상품은 두 종류의 아이템이 모두 포함된</a:t>
            </a:r>
            <a:r>
              <a:rPr lang="en-US" altLang="ko-KR" sz="1200" dirty="0"/>
              <a:t> </a:t>
            </a:r>
            <a:r>
              <a:rPr lang="ko-KR" altLang="en-US" sz="1200" b="1" dirty="0">
                <a:highlight>
                  <a:srgbClr val="FFFF00"/>
                </a:highlight>
              </a:rPr>
              <a:t>저렴한 복합 아이템 상품이 주 수입원</a:t>
            </a:r>
            <a:r>
              <a:rPr lang="ko-KR" altLang="en-US" sz="1000" dirty="0"/>
              <a:t>으로</a:t>
            </a:r>
            <a:br>
              <a:rPr lang="en-US" altLang="ko-KR" sz="1000" dirty="0"/>
            </a:br>
            <a:r>
              <a:rPr lang="ko-KR" altLang="en-US" sz="1000" dirty="0"/>
              <a:t>결제 유저가 많지만 결제 유저 평균 </a:t>
            </a:r>
            <a:r>
              <a:rPr lang="ko-KR" altLang="en-US" sz="1000" dirty="0" err="1"/>
              <a:t>과금량은</a:t>
            </a:r>
            <a:r>
              <a:rPr lang="ko-KR" altLang="en-US" sz="1000" dirty="0"/>
              <a:t> 낮은 </a:t>
            </a:r>
            <a:r>
              <a:rPr lang="ko-KR" altLang="en-US" sz="1200" b="1" dirty="0">
                <a:highlight>
                  <a:srgbClr val="FFFF00"/>
                </a:highlight>
              </a:rPr>
              <a:t>박리다매 판매 전략을 이용중</a:t>
            </a:r>
            <a:r>
              <a:rPr lang="ko-KR" altLang="en-US" sz="1000" dirty="0"/>
              <a:t>인 것으로 보입니다</a:t>
            </a:r>
            <a:r>
              <a:rPr lang="en-US" altLang="ko-KR" sz="1000" dirty="0"/>
              <a:t>.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유저 상황</a:t>
            </a:r>
            <a:endParaRPr lang="en-US" altLang="ko-KR" sz="1400" b="1" dirty="0"/>
          </a:p>
          <a:p>
            <a:pPr lvl="2">
              <a:lnSpc>
                <a:spcPct val="150000"/>
              </a:lnSpc>
            </a:pPr>
            <a:r>
              <a:rPr lang="ko-KR" altLang="en-US" sz="1000" dirty="0"/>
              <a:t>아래 </a:t>
            </a:r>
            <a:r>
              <a:rPr lang="en-US" altLang="ko-KR" sz="1000" dirty="0"/>
              <a:t>2</a:t>
            </a:r>
            <a:r>
              <a:rPr lang="ko-KR" altLang="en-US" sz="1000" dirty="0"/>
              <a:t>가지의 유저 경험 개선이 제일 효율적인 유저 구매 촉진 방법이 될 것으로 예상됩니다</a:t>
            </a:r>
            <a:r>
              <a:rPr lang="en-US" altLang="ko-KR" sz="1000" dirty="0"/>
              <a:t>.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highlight>
                  <a:srgbClr val="FFFF00"/>
                </a:highlight>
              </a:rPr>
              <a:t>신규 유저의 </a:t>
            </a:r>
            <a:r>
              <a:rPr lang="ko-KR" altLang="en-US" sz="1200" b="1" dirty="0" err="1">
                <a:highlight>
                  <a:srgbClr val="FFFF00"/>
                </a:highlight>
              </a:rPr>
              <a:t>리텐션</a:t>
            </a:r>
            <a:r>
              <a:rPr lang="ko-KR" altLang="en-US" sz="1200" b="1" dirty="0">
                <a:highlight>
                  <a:srgbClr val="FFFF00"/>
                </a:highlight>
              </a:rPr>
              <a:t> 개선 필요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highlight>
                  <a:srgbClr val="FFFF00"/>
                </a:highlight>
              </a:rPr>
              <a:t>첫 과금 유도 개선 필요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pPr lvl="2">
              <a:lnSpc>
                <a:spcPct val="150000"/>
              </a:lnSpc>
            </a:pPr>
            <a:endParaRPr lang="en-US" altLang="ko-KR" sz="1200" b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따라서</a:t>
            </a:r>
            <a:br>
              <a:rPr lang="en-US" altLang="ko-KR" sz="1050" dirty="0"/>
            </a:br>
            <a:r>
              <a:rPr lang="ko-KR" altLang="en-US" sz="1400" b="1" u="sng" dirty="0"/>
              <a:t>신규 유저가 접할 수 있게 안내 받았을 시 </a:t>
            </a:r>
            <a:r>
              <a:rPr lang="ko-KR" altLang="en-US" sz="1400" b="1" u="sng" dirty="0" err="1"/>
              <a:t>리텐션율을</a:t>
            </a:r>
            <a:r>
              <a:rPr lang="ko-KR" altLang="en-US" sz="1400" b="1" u="sng" dirty="0"/>
              <a:t> 높이는 효과가 있으면서 첫 과금을 유도할 수 있고</a:t>
            </a:r>
            <a:br>
              <a:rPr lang="en-US" altLang="ko-KR" sz="1400" b="1" u="sng" dirty="0"/>
            </a:br>
            <a:r>
              <a:rPr lang="ko-KR" altLang="en-US" sz="1400" b="1" u="sng" dirty="0"/>
              <a:t>넓은 유저층에게 단가가 높은 유료 성능 아이템 판매를 기대할 수 있는 컨텐츠 업데이트가 필요해 보입니다</a:t>
            </a:r>
            <a:r>
              <a:rPr lang="en-US" altLang="ko-KR" sz="1400" b="1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023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F1CF-991A-271C-F75A-E7DC5BBD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65BE32B-632B-8D20-ED4E-60AAA14E17E5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향후 업데이트 전략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27D3F-EE4C-32C2-14D7-4AEB0B3772E1}"/>
              </a:ext>
            </a:extLst>
          </p:cNvPr>
          <p:cNvSpPr txBox="1"/>
          <p:nvPr/>
        </p:nvSpPr>
        <p:spPr>
          <a:xfrm>
            <a:off x="1138976" y="1181626"/>
            <a:ext cx="9914048" cy="391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향후 컨텐츠에 대한 내 생각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학습 유저가 가이드를 따라가는 컨텐츠 외의 흥미를 느낄만한</a:t>
            </a:r>
            <a:r>
              <a:rPr lang="en-US" altLang="ko-KR" sz="1200" b="1" dirty="0"/>
              <a:t>,</a:t>
            </a:r>
            <a:br>
              <a:rPr lang="en-US" altLang="ko-KR" sz="1200" b="1" dirty="0"/>
            </a:br>
            <a:r>
              <a:rPr lang="ko-KR" altLang="en-US" sz="1200" b="1" dirty="0"/>
              <a:t>기존 컨텐츠의 범위를 침해하지 않는 선에서 설계된 컨텐츠를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일찍 맛보면 좋겠다는 생각을 했습니다</a:t>
            </a:r>
            <a:r>
              <a:rPr lang="en-US" altLang="ko-KR" sz="1200" b="1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PvP </a:t>
            </a:r>
            <a:r>
              <a:rPr lang="ko-KR" altLang="en-US" sz="1100" dirty="0"/>
              <a:t>컨텐츠인 </a:t>
            </a:r>
            <a:r>
              <a:rPr lang="en-US" altLang="ko-KR" sz="1100" dirty="0"/>
              <a:t>‘</a:t>
            </a:r>
            <a:r>
              <a:rPr lang="ko-KR" altLang="en-US" sz="1100" dirty="0" err="1"/>
              <a:t>킹덤</a:t>
            </a:r>
            <a:r>
              <a:rPr lang="ko-KR" altLang="en-US" sz="1100" dirty="0"/>
              <a:t> 아레나</a:t>
            </a:r>
            <a:r>
              <a:rPr lang="en-US" altLang="ko-KR" sz="1100" dirty="0"/>
              <a:t>’</a:t>
            </a:r>
            <a:r>
              <a:rPr lang="ko-KR" altLang="en-US" sz="1100" dirty="0"/>
              <a:t>의 유입 방법</a:t>
            </a:r>
            <a:r>
              <a:rPr lang="en-US" altLang="ko-KR" sz="1100" dirty="0"/>
              <a:t>/</a:t>
            </a:r>
            <a:r>
              <a:rPr lang="ko-KR" altLang="en-US" sz="1100" dirty="0"/>
              <a:t>진행 방식</a:t>
            </a:r>
            <a:r>
              <a:rPr lang="en-US" altLang="ko-KR" sz="1100" dirty="0"/>
              <a:t>/</a:t>
            </a:r>
            <a:r>
              <a:rPr lang="ko-KR" altLang="en-US" sz="1100" dirty="0"/>
              <a:t>초반 보상을</a:t>
            </a:r>
            <a:r>
              <a:rPr lang="en-US" altLang="ko-KR" sz="1100" dirty="0"/>
              <a:t> </a:t>
            </a:r>
            <a:r>
              <a:rPr lang="ko-KR" altLang="en-US" sz="1100" dirty="0"/>
              <a:t>조정하면</a:t>
            </a:r>
            <a:r>
              <a:rPr lang="en-US" altLang="ko-KR" sz="1100" dirty="0"/>
              <a:t> </a:t>
            </a:r>
            <a:r>
              <a:rPr lang="ko-KR" altLang="en-US" sz="1100" dirty="0"/>
              <a:t>좋겠습니다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잔류 유저에게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과금 매몰을 유도하는 유료 상품 팔면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좋겠다는 생각을 했습니다</a:t>
            </a:r>
            <a:r>
              <a:rPr lang="en-US" altLang="ko-KR" sz="1200" b="1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아슬아슬한 단계별 보상 설정으로</a:t>
            </a:r>
            <a:r>
              <a:rPr lang="en-US" altLang="ko-KR" sz="1100" dirty="0"/>
              <a:t> ‘</a:t>
            </a:r>
            <a:r>
              <a:rPr lang="ko-KR" altLang="en-US" sz="1100" dirty="0"/>
              <a:t>조금만 지르면 지른 것 이상으로 먹는다</a:t>
            </a:r>
            <a:r>
              <a:rPr lang="en-US" altLang="ko-KR" sz="1100" dirty="0"/>
              <a:t>‘ </a:t>
            </a:r>
            <a:r>
              <a:rPr lang="ko-KR" altLang="en-US" sz="1100" dirty="0"/>
              <a:t>라는 심리를 자극하면</a:t>
            </a:r>
            <a:r>
              <a:rPr lang="en-US" altLang="ko-KR" sz="1100" dirty="0"/>
              <a:t> </a:t>
            </a:r>
            <a:r>
              <a:rPr lang="ko-KR" altLang="en-US" sz="1100" dirty="0"/>
              <a:t>될 것</a:t>
            </a:r>
            <a:r>
              <a:rPr lang="en-US" altLang="ko-KR" sz="1100" dirty="0"/>
              <a:t> </a:t>
            </a:r>
            <a:r>
              <a:rPr lang="ko-KR" altLang="en-US" sz="1100" dirty="0"/>
              <a:t>같습니다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가격이 저렴한 유료 상품이 주력 상품인 환경에서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단가가 비싼 상품을 팔기 위해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심리적 장벽을 낮추면 좋겠다는 생각을 했습니다</a:t>
            </a:r>
            <a:r>
              <a:rPr lang="en-US" altLang="ko-KR" sz="1200" b="1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비싼 가격의 상품을 구매하는 것이 아닌</a:t>
            </a:r>
            <a:r>
              <a:rPr lang="en-US" altLang="ko-KR" sz="1100" dirty="0"/>
              <a:t> </a:t>
            </a:r>
            <a:r>
              <a:rPr lang="ko-KR" altLang="en-US" sz="1100" dirty="0"/>
              <a:t>싼 가격의 상품을 자주 구매하도록 유도하여</a:t>
            </a:r>
            <a:br>
              <a:rPr lang="en-US" altLang="ko-KR" sz="1100" dirty="0"/>
            </a:br>
            <a:r>
              <a:rPr lang="ko-KR" altLang="en-US" sz="1100" dirty="0"/>
              <a:t>일반 유저에겐 가성비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헤비</a:t>
            </a:r>
            <a:r>
              <a:rPr lang="ko-KR" altLang="en-US" sz="1100" dirty="0"/>
              <a:t> 유저에겐 필수인 상품을 설계하면 될 것 같습니다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180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C96C-D3F6-DEEA-969F-01DEEF35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E306698-2D02-6F6C-11CE-F0B3C72F9618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</a:rPr>
              <a:t>신규 </a:t>
            </a: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</a:rPr>
              <a:t>PvP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</a:rPr>
              <a:t>컨텐츠</a:t>
            </a:r>
            <a:endParaRPr lang="en-US" altLang="ko-KR" sz="2000" b="1" dirty="0"/>
          </a:p>
        </p:txBody>
      </p:sp>
      <p:pic>
        <p:nvPicPr>
          <p:cNvPr id="1026" name="Picture 2" descr="아레나">
            <a:extLst>
              <a:ext uri="{FF2B5EF4-FFF2-40B4-BE49-F238E27FC236}">
                <a16:creationId xmlns:a16="http://schemas.microsoft.com/office/drawing/2014/main" id="{36763003-BCD5-82D9-6994-9554AB547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 contras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32738" y="1407042"/>
            <a:ext cx="4126524" cy="2654730"/>
          </a:xfrm>
          <a:prstGeom prst="rect">
            <a:avLst/>
          </a:prstGeom>
          <a:gradFill>
            <a:gsLst>
              <a:gs pos="86000">
                <a:schemeClr val="tx1"/>
              </a:gs>
              <a:gs pos="52000">
                <a:schemeClr val="accent2">
                  <a:lumMod val="75000"/>
                </a:schemeClr>
              </a:gs>
              <a:gs pos="0">
                <a:srgbClr val="C00000"/>
              </a:gs>
            </a:gsLst>
            <a:lin ang="16200000" scaled="1"/>
          </a:gra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E73305-6C7C-C093-325D-03318ECF7467}"/>
              </a:ext>
            </a:extLst>
          </p:cNvPr>
          <p:cNvSpPr txBox="1"/>
          <p:nvPr/>
        </p:nvSpPr>
        <p:spPr>
          <a:xfrm>
            <a:off x="4142149" y="4061774"/>
            <a:ext cx="4126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4800" b="1" dirty="0">
                <a:effectLst>
                  <a:glow rad="101600">
                    <a:srgbClr val="C00000">
                      <a:alpha val="32000"/>
                    </a:srgbClr>
                  </a:glow>
                </a:effectLst>
              </a:rPr>
              <a:t>위클리 아레나 </a:t>
            </a:r>
            <a:endParaRPr lang="ko-KR" altLang="en-US" dirty="0">
              <a:effectLst>
                <a:glow rad="101600">
                  <a:srgbClr val="C00000">
                    <a:alpha val="32000"/>
                  </a:srgbClr>
                </a:glo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6BC71-7D1E-0877-17F4-0C1574D8E66F}"/>
              </a:ext>
            </a:extLst>
          </p:cNvPr>
          <p:cNvSpPr txBox="1"/>
          <p:nvPr/>
        </p:nvSpPr>
        <p:spPr>
          <a:xfrm>
            <a:off x="3460505" y="4261828"/>
            <a:ext cx="7847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b="1" dirty="0"/>
              <a:t>신규</a:t>
            </a:r>
            <a:endParaRPr lang="en-US" altLang="ko-KR" sz="1100" b="1" dirty="0"/>
          </a:p>
          <a:p>
            <a:pPr algn="r"/>
            <a:r>
              <a:rPr lang="ko-KR" altLang="en-US" sz="1100" b="1" dirty="0"/>
              <a:t>컨텐츠</a:t>
            </a:r>
            <a:r>
              <a:rPr lang="en-US" altLang="ko-KR" sz="1100" b="1" dirty="0"/>
              <a:t> 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59A38-6648-215E-F565-07458405340F}"/>
              </a:ext>
            </a:extLst>
          </p:cNvPr>
          <p:cNvSpPr txBox="1"/>
          <p:nvPr/>
        </p:nvSpPr>
        <p:spPr>
          <a:xfrm>
            <a:off x="3632401" y="5156534"/>
            <a:ext cx="4835448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/>
              <a:t>일주일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시즌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매일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번 </a:t>
            </a:r>
            <a:r>
              <a:rPr lang="en-US" altLang="ko-KR" sz="1400" b="1" dirty="0"/>
              <a:t>PvP</a:t>
            </a:r>
            <a:r>
              <a:rPr lang="ko-KR" altLang="en-US" sz="1400" b="1" dirty="0"/>
              <a:t> 전투와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승부 예측 컨텐츠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80016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6382-14E3-A721-60F0-F6054059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219A060-825A-AD9F-3DE5-6E26B7F7ADE7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C98AF-48D4-702F-95AE-BD7057AC5C78}"/>
              </a:ext>
            </a:extLst>
          </p:cNvPr>
          <p:cNvSpPr txBox="1"/>
          <p:nvPr/>
        </p:nvSpPr>
        <p:spPr>
          <a:xfrm>
            <a:off x="419100" y="4887078"/>
            <a:ext cx="11353800" cy="149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신규 컨텐츠 </a:t>
            </a:r>
            <a:r>
              <a:rPr lang="en-US" altLang="ko-KR" sz="1600" b="1" dirty="0">
                <a:highlight>
                  <a:srgbClr val="FFB9B9"/>
                </a:highlight>
              </a:rPr>
              <a:t>[</a:t>
            </a:r>
            <a:r>
              <a:rPr lang="ko-KR" altLang="en-US" sz="1600" b="1" dirty="0">
                <a:highlight>
                  <a:srgbClr val="FFB9B9"/>
                </a:highlight>
              </a:rPr>
              <a:t>위클리 아레나</a:t>
            </a:r>
            <a:r>
              <a:rPr lang="en-US" altLang="ko-KR" sz="1600" b="1" dirty="0">
                <a:highlight>
                  <a:srgbClr val="FFB9B9"/>
                </a:highlight>
              </a:rPr>
              <a:t>]</a:t>
            </a:r>
            <a:r>
              <a:rPr lang="ko-KR" altLang="en-US" sz="1600" b="1" dirty="0"/>
              <a:t>는</a:t>
            </a:r>
            <a:endParaRPr lang="en-US" altLang="ko-KR" sz="1600" b="1" dirty="0"/>
          </a:p>
          <a:p>
            <a:pPr algn="ctr">
              <a:lnSpc>
                <a:spcPct val="200000"/>
              </a:lnSpc>
            </a:pPr>
            <a:r>
              <a:rPr lang="ko-KR" altLang="en-US" sz="1600" b="1" dirty="0"/>
              <a:t>기존 </a:t>
            </a:r>
            <a:r>
              <a:rPr lang="en-US" altLang="ko-KR" sz="1600" b="1" dirty="0">
                <a:highlight>
                  <a:srgbClr val="FFE4B3"/>
                </a:highlight>
              </a:rPr>
              <a:t>[</a:t>
            </a:r>
            <a:r>
              <a:rPr lang="ko-KR" altLang="en-US" sz="1600" b="1" dirty="0" err="1">
                <a:highlight>
                  <a:srgbClr val="FFE4B3"/>
                </a:highlight>
              </a:rPr>
              <a:t>킹덤</a:t>
            </a:r>
            <a:r>
              <a:rPr lang="ko-KR" altLang="en-US" sz="1600" b="1" dirty="0">
                <a:highlight>
                  <a:srgbClr val="FFE4B3"/>
                </a:highlight>
              </a:rPr>
              <a:t> 아레나</a:t>
            </a:r>
            <a:r>
              <a:rPr lang="en-US" altLang="ko-KR" sz="1600" b="1" dirty="0">
                <a:highlight>
                  <a:srgbClr val="FFE4B3"/>
                </a:highlight>
              </a:rPr>
              <a:t>]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컨텐츠의 </a:t>
            </a:r>
            <a:br>
              <a:rPr lang="en-US" altLang="ko-KR" sz="1600" b="1" dirty="0"/>
            </a:br>
            <a:r>
              <a:rPr lang="ko-KR" altLang="en-US" sz="1600" b="1" dirty="0"/>
              <a:t>연장선 상의 </a:t>
            </a:r>
            <a:r>
              <a:rPr lang="en-US" altLang="ko-KR" sz="1600" b="1" dirty="0"/>
              <a:t>PvP </a:t>
            </a:r>
            <a:r>
              <a:rPr lang="ko-KR" altLang="en-US" sz="1600" b="1" dirty="0"/>
              <a:t>컨텐츠 입니다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2054" name="Picture 6" descr="쿠키런: 킹덤/킹덤 아레나 - 나무위키">
            <a:extLst>
              <a:ext uri="{FF2B5EF4-FFF2-40B4-BE49-F238E27FC236}">
                <a16:creationId xmlns:a16="http://schemas.microsoft.com/office/drawing/2014/main" id="{70EE1868-7673-EEDF-4434-C566A6543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72154" y="1113057"/>
            <a:ext cx="6447692" cy="3626826"/>
          </a:xfrm>
          <a:prstGeom prst="rect">
            <a:avLst/>
          </a:prstGeom>
          <a:noFill/>
          <a:effectLst>
            <a:softEdge rad="139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146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42BB-16D8-1D28-801E-18A4F2D8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96EF053-1B8F-84CE-5A50-62E306F17643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73CE3-9D61-1BCD-A4EB-EAD8AD3F31CB}"/>
              </a:ext>
            </a:extLst>
          </p:cNvPr>
          <p:cNvSpPr txBox="1"/>
          <p:nvPr/>
        </p:nvSpPr>
        <p:spPr>
          <a:xfrm>
            <a:off x="419100" y="4887078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한 주가 한 시즌으로 설정된 컨텐츠입니다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DE58C-8895-AEA9-4C1C-09E749E7B17B}"/>
              </a:ext>
            </a:extLst>
          </p:cNvPr>
          <p:cNvSpPr txBox="1"/>
          <p:nvPr/>
        </p:nvSpPr>
        <p:spPr>
          <a:xfrm>
            <a:off x="6160478" y="2531363"/>
            <a:ext cx="2631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One Week</a:t>
            </a:r>
            <a:br>
              <a:rPr lang="en-US" altLang="ko-KR" sz="2000" b="1" dirty="0"/>
            </a:br>
            <a:r>
              <a:rPr lang="en-US" altLang="ko-KR" sz="2000" b="1" dirty="0"/>
              <a:t>Season</a:t>
            </a:r>
          </a:p>
        </p:txBody>
      </p:sp>
      <p:pic>
        <p:nvPicPr>
          <p:cNvPr id="14" name="그래픽 13" descr="월 단위 달력">
            <a:extLst>
              <a:ext uri="{FF2B5EF4-FFF2-40B4-BE49-F238E27FC236}">
                <a16:creationId xmlns:a16="http://schemas.microsoft.com/office/drawing/2014/main" id="{5191DEA8-FBF2-31CD-6660-820C75E2E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7716" y="1586975"/>
            <a:ext cx="2596662" cy="259666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61BEC4-D7E0-EC2D-C54D-86EF1C79D96C}"/>
              </a:ext>
            </a:extLst>
          </p:cNvPr>
          <p:cNvSpPr/>
          <p:nvPr/>
        </p:nvSpPr>
        <p:spPr>
          <a:xfrm>
            <a:off x="4484078" y="2685251"/>
            <a:ext cx="2206869" cy="4001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646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2C0C-0D8A-E4C2-3E35-A7BD67FE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E4CF99-50B3-B813-C3BA-76853071DE26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CC084-8150-B077-C45B-281F904FA1FE}"/>
              </a:ext>
            </a:extLst>
          </p:cNvPr>
          <p:cNvSpPr txBox="1"/>
          <p:nvPr/>
        </p:nvSpPr>
        <p:spPr>
          <a:xfrm>
            <a:off x="2669931" y="4887078"/>
            <a:ext cx="6852138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주간 시즌마다</a:t>
            </a:r>
            <a:br>
              <a:rPr lang="en-US" altLang="ko-KR" sz="1600" b="1" dirty="0"/>
            </a:br>
            <a:r>
              <a:rPr lang="en-US" altLang="ko-KR" sz="1600" b="1" dirty="0"/>
              <a:t>‘</a:t>
            </a:r>
            <a:r>
              <a:rPr lang="ko-KR" altLang="en-US" sz="1600" b="1" dirty="0"/>
              <a:t>주간 시즌 버프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를 받는</a:t>
            </a:r>
            <a:r>
              <a:rPr lang="en-US" altLang="ko-KR" sz="1600" b="1" dirty="0"/>
              <a:t> ‘</a:t>
            </a:r>
            <a:r>
              <a:rPr lang="ko-KR" altLang="en-US" sz="1600" b="1" dirty="0"/>
              <a:t>주간 시즌 캐릭터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들이 설정됩니다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4" name="그래픽 3" descr="진저브레드 쿠키">
            <a:extLst>
              <a:ext uri="{FF2B5EF4-FFF2-40B4-BE49-F238E27FC236}">
                <a16:creationId xmlns:a16="http://schemas.microsoft.com/office/drawing/2014/main" id="{9DB5F99B-CC39-FB80-F276-90E3A5857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4076" y="2350477"/>
            <a:ext cx="1611924" cy="1611924"/>
          </a:xfrm>
          <a:prstGeom prst="rect">
            <a:avLst/>
          </a:prstGeom>
        </p:spPr>
      </p:pic>
      <p:pic>
        <p:nvPicPr>
          <p:cNvPr id="6" name="그래픽 5" descr="진저브레드 쿠키">
            <a:extLst>
              <a:ext uri="{FF2B5EF4-FFF2-40B4-BE49-F238E27FC236}">
                <a16:creationId xmlns:a16="http://schemas.microsoft.com/office/drawing/2014/main" id="{D9D9BE81-4DCA-252A-B474-95F4A259B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50477"/>
            <a:ext cx="1611924" cy="1611924"/>
          </a:xfrm>
          <a:prstGeom prst="rect">
            <a:avLst/>
          </a:prstGeom>
        </p:spPr>
      </p:pic>
      <p:pic>
        <p:nvPicPr>
          <p:cNvPr id="8" name="그래픽 7" descr="진저브레드 쿠키">
            <a:extLst>
              <a:ext uri="{FF2B5EF4-FFF2-40B4-BE49-F238E27FC236}">
                <a16:creationId xmlns:a16="http://schemas.microsoft.com/office/drawing/2014/main" id="{1FAAEB84-54A7-2AF2-E4FF-DB87FEA99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892" y="2060331"/>
            <a:ext cx="2192216" cy="2192216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3D33C54E-9B9C-0616-55E1-9A046DF0E2A3}"/>
              </a:ext>
            </a:extLst>
          </p:cNvPr>
          <p:cNvSpPr/>
          <p:nvPr/>
        </p:nvSpPr>
        <p:spPr>
          <a:xfrm rot="10800000">
            <a:off x="4484076" y="1547640"/>
            <a:ext cx="693487" cy="85871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8AA2B82-B967-6A55-DF3C-E952479D5267}"/>
              </a:ext>
            </a:extLst>
          </p:cNvPr>
          <p:cNvSpPr/>
          <p:nvPr/>
        </p:nvSpPr>
        <p:spPr>
          <a:xfrm rot="10800000">
            <a:off x="7538852" y="2737729"/>
            <a:ext cx="338144" cy="41871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170EE3F3-098E-1678-7DFF-60E8D4EBAC14}"/>
              </a:ext>
            </a:extLst>
          </p:cNvPr>
          <p:cNvSpPr/>
          <p:nvPr/>
        </p:nvSpPr>
        <p:spPr>
          <a:xfrm rot="10800000">
            <a:off x="4652781" y="3555840"/>
            <a:ext cx="524782" cy="649816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43C06-277A-8C86-F32C-8845BAF519C7}"/>
              </a:ext>
            </a:extLst>
          </p:cNvPr>
          <p:cNvSpPr txBox="1"/>
          <p:nvPr/>
        </p:nvSpPr>
        <p:spPr>
          <a:xfrm>
            <a:off x="4778065" y="1860276"/>
            <a:ext cx="2631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Weekly Buff</a:t>
            </a:r>
          </a:p>
        </p:txBody>
      </p:sp>
    </p:spTree>
    <p:extLst>
      <p:ext uri="{BB962C8B-B14F-4D97-AF65-F5344CB8AC3E}">
        <p14:creationId xmlns:p14="http://schemas.microsoft.com/office/powerpoint/2010/main" val="3203422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8E8D-5423-F265-A1CA-1F160BE6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95EBBB-B21B-E141-83D0-185653AC4CEB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pic>
        <p:nvPicPr>
          <p:cNvPr id="4" name="그래픽 3" descr="레이블">
            <a:extLst>
              <a:ext uri="{FF2B5EF4-FFF2-40B4-BE49-F238E27FC236}">
                <a16:creationId xmlns:a16="http://schemas.microsoft.com/office/drawing/2014/main" id="{BFD29790-B683-01CF-EE1E-E0E7C2453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833" y="1890346"/>
            <a:ext cx="2458915" cy="2458915"/>
          </a:xfrm>
          <a:prstGeom prst="rect">
            <a:avLst/>
          </a:prstGeom>
        </p:spPr>
      </p:pic>
      <p:pic>
        <p:nvPicPr>
          <p:cNvPr id="5" name="그래픽 4" descr="레이블">
            <a:extLst>
              <a:ext uri="{FF2B5EF4-FFF2-40B4-BE49-F238E27FC236}">
                <a16:creationId xmlns:a16="http://schemas.microsoft.com/office/drawing/2014/main" id="{3F2A0AC5-5963-79DD-47D6-F5A1FA948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188" y="1890346"/>
            <a:ext cx="2458915" cy="2458915"/>
          </a:xfrm>
          <a:prstGeom prst="rect">
            <a:avLst/>
          </a:prstGeom>
        </p:spPr>
      </p:pic>
      <p:pic>
        <p:nvPicPr>
          <p:cNvPr id="6" name="그래픽 5" descr="레이블">
            <a:extLst>
              <a:ext uri="{FF2B5EF4-FFF2-40B4-BE49-F238E27FC236}">
                <a16:creationId xmlns:a16="http://schemas.microsoft.com/office/drawing/2014/main" id="{7FC43582-AC4D-CBAE-2C8D-7CCA6D47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6542" y="1890346"/>
            <a:ext cx="2458915" cy="24589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8184A-DB71-6410-0CD2-CBB8362A7308}"/>
              </a:ext>
            </a:extLst>
          </p:cNvPr>
          <p:cNvSpPr txBox="1"/>
          <p:nvPr/>
        </p:nvSpPr>
        <p:spPr>
          <a:xfrm>
            <a:off x="6674461" y="1890346"/>
            <a:ext cx="591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200" b="1" dirty="0"/>
              <a:t>3</a:t>
            </a:r>
            <a:endParaRPr lang="ko-KR" altLang="en-US" sz="7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C0F2B-7B18-5817-14F8-7D50118825C1}"/>
              </a:ext>
            </a:extLst>
          </p:cNvPr>
          <p:cNvSpPr txBox="1"/>
          <p:nvPr/>
        </p:nvSpPr>
        <p:spPr>
          <a:xfrm>
            <a:off x="419100" y="4887077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하루 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번 </a:t>
            </a:r>
            <a:r>
              <a:rPr lang="en-US" altLang="ko-KR" sz="1600" b="1" dirty="0"/>
              <a:t>[</a:t>
            </a:r>
            <a:r>
              <a:rPr lang="ko-KR" altLang="en-US" sz="1600" b="1" dirty="0"/>
              <a:t>위클리 아레나</a:t>
            </a:r>
            <a:r>
              <a:rPr lang="en-US" altLang="ko-KR" sz="1600" b="1" dirty="0"/>
              <a:t>]</a:t>
            </a:r>
            <a:r>
              <a:rPr lang="ko-KR" altLang="en-US" sz="1600" b="1" dirty="0"/>
              <a:t>에 도전할 수 있습니다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B9BAB-6A0F-F9A1-5796-F3E8DD115F0A}"/>
              </a:ext>
            </a:extLst>
          </p:cNvPr>
          <p:cNvSpPr txBox="1"/>
          <p:nvPr/>
        </p:nvSpPr>
        <p:spPr>
          <a:xfrm>
            <a:off x="6970102" y="2490510"/>
            <a:ext cx="1452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Trial</a:t>
            </a:r>
          </a:p>
        </p:txBody>
      </p:sp>
    </p:spTree>
    <p:extLst>
      <p:ext uri="{BB962C8B-B14F-4D97-AF65-F5344CB8AC3E}">
        <p14:creationId xmlns:p14="http://schemas.microsoft.com/office/powerpoint/2010/main" val="1395056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A310-9EB1-329C-4855-09480C5D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B00F37-67A9-CA32-2E4C-ACF11494171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F0CBB-B5B5-C969-551E-17E116A7E5DE}"/>
              </a:ext>
            </a:extLst>
          </p:cNvPr>
          <p:cNvSpPr txBox="1"/>
          <p:nvPr/>
        </p:nvSpPr>
        <p:spPr>
          <a:xfrm>
            <a:off x="419100" y="4887077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승리 시 보상이 존재합니다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17" name="그래픽 16" descr="사용자">
            <a:extLst>
              <a:ext uri="{FF2B5EF4-FFF2-40B4-BE49-F238E27FC236}">
                <a16:creationId xmlns:a16="http://schemas.microsoft.com/office/drawing/2014/main" id="{D4D0A49C-41A5-C2CA-6053-D36AA10AB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110156" y="2283795"/>
            <a:ext cx="1971688" cy="197168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767824F-0BB8-4697-ADA4-0D94E7099279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Victory Reward</a:t>
            </a:r>
          </a:p>
        </p:txBody>
      </p:sp>
      <p:pic>
        <p:nvPicPr>
          <p:cNvPr id="32" name="그래픽 31" descr="왕관">
            <a:extLst>
              <a:ext uri="{FF2B5EF4-FFF2-40B4-BE49-F238E27FC236}">
                <a16:creationId xmlns:a16="http://schemas.microsoft.com/office/drawing/2014/main" id="{29C5789A-DB50-F9CC-32DC-167FD5B38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1923" y="1801236"/>
            <a:ext cx="1348154" cy="845050"/>
          </a:xfrm>
          <a:prstGeom prst="rect">
            <a:avLst/>
          </a:prstGeom>
        </p:spPr>
      </p:pic>
      <p:pic>
        <p:nvPicPr>
          <p:cNvPr id="34" name="그래픽 33" descr="동전">
            <a:extLst>
              <a:ext uri="{FF2B5EF4-FFF2-40B4-BE49-F238E27FC236}">
                <a16:creationId xmlns:a16="http://schemas.microsoft.com/office/drawing/2014/main" id="{17E3A309-2FB9-A128-81B5-8A46E90F90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4647" y="3128845"/>
            <a:ext cx="748377" cy="748377"/>
          </a:xfrm>
          <a:prstGeom prst="rect">
            <a:avLst/>
          </a:prstGeom>
        </p:spPr>
      </p:pic>
      <p:pic>
        <p:nvPicPr>
          <p:cNvPr id="35" name="그래픽 34" descr="동전">
            <a:extLst>
              <a:ext uri="{FF2B5EF4-FFF2-40B4-BE49-F238E27FC236}">
                <a16:creationId xmlns:a16="http://schemas.microsoft.com/office/drawing/2014/main" id="{785093EA-C4C8-2560-34D7-285161F3B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8325" y="3608419"/>
            <a:ext cx="748377" cy="748377"/>
          </a:xfrm>
          <a:prstGeom prst="rect">
            <a:avLst/>
          </a:prstGeom>
        </p:spPr>
      </p:pic>
      <p:pic>
        <p:nvPicPr>
          <p:cNvPr id="36" name="그래픽 35" descr="동전">
            <a:extLst>
              <a:ext uri="{FF2B5EF4-FFF2-40B4-BE49-F238E27FC236}">
                <a16:creationId xmlns:a16="http://schemas.microsoft.com/office/drawing/2014/main" id="{B1A6475B-E2E1-1D3E-7AA3-C1BA719E92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6222" y="3594586"/>
            <a:ext cx="748377" cy="748377"/>
          </a:xfrm>
          <a:prstGeom prst="rect">
            <a:avLst/>
          </a:prstGeom>
        </p:spPr>
      </p:pic>
      <p:pic>
        <p:nvPicPr>
          <p:cNvPr id="37" name="그래픽 36" descr="동전">
            <a:extLst>
              <a:ext uri="{FF2B5EF4-FFF2-40B4-BE49-F238E27FC236}">
                <a16:creationId xmlns:a16="http://schemas.microsoft.com/office/drawing/2014/main" id="{423B4933-CCBB-D1DD-B91C-28019128F2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686" y="3822900"/>
            <a:ext cx="748377" cy="7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8E2C-E963-050C-A0E0-0E03255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CA35AF-5826-99B9-0CF6-CEC7A32C54A3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F228-FA24-B2B4-EF1D-B109296FD36E}"/>
              </a:ext>
            </a:extLst>
          </p:cNvPr>
          <p:cNvSpPr txBox="1"/>
          <p:nvPr/>
        </p:nvSpPr>
        <p:spPr>
          <a:xfrm>
            <a:off x="419100" y="4887077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b="1" dirty="0"/>
              <a:t>[</a:t>
            </a:r>
            <a:r>
              <a:rPr lang="ko-KR" altLang="en-US" sz="1600" b="1" dirty="0"/>
              <a:t>위클리 아레나</a:t>
            </a:r>
            <a:r>
              <a:rPr lang="en-US" altLang="ko-KR" sz="1600" b="1" dirty="0"/>
              <a:t>] </a:t>
            </a:r>
            <a:r>
              <a:rPr lang="ko-KR" altLang="en-US" sz="1600" b="1" dirty="0"/>
              <a:t>주간 </a:t>
            </a:r>
            <a:r>
              <a:rPr lang="ko-KR" altLang="en-US" sz="1600" b="1" dirty="0" err="1"/>
              <a:t>레이팅</a:t>
            </a:r>
            <a:r>
              <a:rPr lang="ko-KR" altLang="en-US" sz="1600" b="1" dirty="0"/>
              <a:t> 점수 별 보상이 존재합니다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BBA8ED4-B0D2-676E-54F7-50347658B21E}"/>
              </a:ext>
            </a:extLst>
          </p:cNvPr>
          <p:cNvSpPr/>
          <p:nvPr/>
        </p:nvSpPr>
        <p:spPr>
          <a:xfrm>
            <a:off x="3497873" y="3610039"/>
            <a:ext cx="5196254" cy="16265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32240E77-656F-E408-1112-1E5B26A58BA9}"/>
              </a:ext>
            </a:extLst>
          </p:cNvPr>
          <p:cNvSpPr/>
          <p:nvPr/>
        </p:nvSpPr>
        <p:spPr>
          <a:xfrm rot="10800000">
            <a:off x="5382972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9D27AD5-7FE2-14F2-A006-7B572097C5C9}"/>
              </a:ext>
            </a:extLst>
          </p:cNvPr>
          <p:cNvSpPr/>
          <p:nvPr/>
        </p:nvSpPr>
        <p:spPr>
          <a:xfrm rot="10800000">
            <a:off x="6203791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F20A7DE6-D56D-1C99-67C4-B24B8C918834}"/>
              </a:ext>
            </a:extLst>
          </p:cNvPr>
          <p:cNvSpPr/>
          <p:nvPr/>
        </p:nvSpPr>
        <p:spPr>
          <a:xfrm rot="10800000">
            <a:off x="8601808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C190412C-689B-FF8C-14CD-8FEEDAA10905}"/>
              </a:ext>
            </a:extLst>
          </p:cNvPr>
          <p:cNvSpPr/>
          <p:nvPr/>
        </p:nvSpPr>
        <p:spPr>
          <a:xfrm rot="10800000">
            <a:off x="7064676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눈물 방울 14">
            <a:extLst>
              <a:ext uri="{FF2B5EF4-FFF2-40B4-BE49-F238E27FC236}">
                <a16:creationId xmlns:a16="http://schemas.microsoft.com/office/drawing/2014/main" id="{078700B1-C323-8F3B-C04D-47354C7C600B}"/>
              </a:ext>
            </a:extLst>
          </p:cNvPr>
          <p:cNvSpPr/>
          <p:nvPr/>
        </p:nvSpPr>
        <p:spPr>
          <a:xfrm rot="8100000">
            <a:off x="3546231" y="2345835"/>
            <a:ext cx="747346" cy="747346"/>
          </a:xfrm>
          <a:prstGeom prst="teardrop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DDC339B-CE77-703E-D645-F03A5D061317}"/>
              </a:ext>
            </a:extLst>
          </p:cNvPr>
          <p:cNvSpPr/>
          <p:nvPr/>
        </p:nvSpPr>
        <p:spPr>
          <a:xfrm>
            <a:off x="3620365" y="2421774"/>
            <a:ext cx="599076" cy="5990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래픽 16" descr="사용자">
            <a:extLst>
              <a:ext uri="{FF2B5EF4-FFF2-40B4-BE49-F238E27FC236}">
                <a16:creationId xmlns:a16="http://schemas.microsoft.com/office/drawing/2014/main" id="{BDBAF696-339F-7179-38FE-D32E477C7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600383" y="2380510"/>
            <a:ext cx="639041" cy="6390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ACE6F6-AB5D-2949-8D1C-8E2755BAB1DB}"/>
              </a:ext>
            </a:extLst>
          </p:cNvPr>
          <p:cNvSpPr txBox="1"/>
          <p:nvPr/>
        </p:nvSpPr>
        <p:spPr>
          <a:xfrm>
            <a:off x="5255519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100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26F8F-026A-7315-3D39-BB343F43C550}"/>
              </a:ext>
            </a:extLst>
          </p:cNvPr>
          <p:cNvSpPr txBox="1"/>
          <p:nvPr/>
        </p:nvSpPr>
        <p:spPr>
          <a:xfrm>
            <a:off x="6076338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150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24B5A5-DB15-4C3B-5734-2FF83B1A1EEE}"/>
              </a:ext>
            </a:extLst>
          </p:cNvPr>
          <p:cNvSpPr txBox="1"/>
          <p:nvPr/>
        </p:nvSpPr>
        <p:spPr>
          <a:xfrm>
            <a:off x="6937223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200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02189-6F48-D458-645C-F37909E5DF4B}"/>
              </a:ext>
            </a:extLst>
          </p:cNvPr>
          <p:cNvSpPr txBox="1"/>
          <p:nvPr/>
        </p:nvSpPr>
        <p:spPr>
          <a:xfrm>
            <a:off x="8474355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300</a:t>
            </a:r>
            <a:endParaRPr lang="ko-KR" altLang="en-US" sz="12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A21350-1FD8-B639-4913-AC0C3B24C82D}"/>
              </a:ext>
            </a:extLst>
          </p:cNvPr>
          <p:cNvSpPr/>
          <p:nvPr/>
        </p:nvSpPr>
        <p:spPr>
          <a:xfrm>
            <a:off x="5153329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F470EAF-727A-8682-F8EF-D94BBC08CD59}"/>
              </a:ext>
            </a:extLst>
          </p:cNvPr>
          <p:cNvSpPr/>
          <p:nvPr/>
        </p:nvSpPr>
        <p:spPr>
          <a:xfrm>
            <a:off x="5974148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6C2908-1A65-F13E-0E48-7EE6FAE51255}"/>
              </a:ext>
            </a:extLst>
          </p:cNvPr>
          <p:cNvSpPr/>
          <p:nvPr/>
        </p:nvSpPr>
        <p:spPr>
          <a:xfrm>
            <a:off x="6835033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7642A62-2A06-3871-B4A1-F9D0091183E2}"/>
              </a:ext>
            </a:extLst>
          </p:cNvPr>
          <p:cNvSpPr/>
          <p:nvPr/>
        </p:nvSpPr>
        <p:spPr>
          <a:xfrm>
            <a:off x="8372165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ffectLst>
            <a:glow rad="889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래픽 25" descr="동전">
            <a:extLst>
              <a:ext uri="{FF2B5EF4-FFF2-40B4-BE49-F238E27FC236}">
                <a16:creationId xmlns:a16="http://schemas.microsoft.com/office/drawing/2014/main" id="{F7114BF1-6818-9A7B-264E-854071C60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1434" y="2625632"/>
            <a:ext cx="487712" cy="487712"/>
          </a:xfrm>
          <a:prstGeom prst="rect">
            <a:avLst/>
          </a:prstGeom>
        </p:spPr>
      </p:pic>
      <p:pic>
        <p:nvPicPr>
          <p:cNvPr id="27" name="그래픽 26" descr="진저브레드 쿠키">
            <a:extLst>
              <a:ext uri="{FF2B5EF4-FFF2-40B4-BE49-F238E27FC236}">
                <a16:creationId xmlns:a16="http://schemas.microsoft.com/office/drawing/2014/main" id="{808AE3AD-E24E-01C7-B0B6-C11AD6187F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9129" y="2568039"/>
            <a:ext cx="573960" cy="573960"/>
          </a:xfrm>
          <a:prstGeom prst="rect">
            <a:avLst/>
          </a:prstGeom>
        </p:spPr>
      </p:pic>
      <p:pic>
        <p:nvPicPr>
          <p:cNvPr id="28" name="그래픽 27" descr="다이아몬드">
            <a:extLst>
              <a:ext uri="{FF2B5EF4-FFF2-40B4-BE49-F238E27FC236}">
                <a16:creationId xmlns:a16="http://schemas.microsoft.com/office/drawing/2014/main" id="{851E6721-E0D3-3A80-A521-921846DD1C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5553" y="2595981"/>
            <a:ext cx="597146" cy="597146"/>
          </a:xfrm>
          <a:prstGeom prst="rect">
            <a:avLst/>
          </a:prstGeom>
        </p:spPr>
      </p:pic>
      <p:pic>
        <p:nvPicPr>
          <p:cNvPr id="29" name="그래픽 28" descr="동전">
            <a:extLst>
              <a:ext uri="{FF2B5EF4-FFF2-40B4-BE49-F238E27FC236}">
                <a16:creationId xmlns:a16="http://schemas.microsoft.com/office/drawing/2014/main" id="{019AB92A-0058-8534-6F31-EC0A1F29B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1550" y="2817049"/>
            <a:ext cx="316287" cy="316287"/>
          </a:xfrm>
          <a:prstGeom prst="rect">
            <a:avLst/>
          </a:prstGeom>
        </p:spPr>
      </p:pic>
      <p:pic>
        <p:nvPicPr>
          <p:cNvPr id="30" name="그래픽 29" descr="진저브레드 쿠키">
            <a:extLst>
              <a:ext uri="{FF2B5EF4-FFF2-40B4-BE49-F238E27FC236}">
                <a16:creationId xmlns:a16="http://schemas.microsoft.com/office/drawing/2014/main" id="{CD9996EE-EBD2-FF7A-18D1-08A3106EDA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4994" y="2590064"/>
            <a:ext cx="477350" cy="4773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7C9C5A-EFB4-86C3-AABF-8A90CC244684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Rating Reward</a:t>
            </a:r>
          </a:p>
        </p:txBody>
      </p:sp>
    </p:spTree>
    <p:extLst>
      <p:ext uri="{BB962C8B-B14F-4D97-AF65-F5344CB8AC3E}">
        <p14:creationId xmlns:p14="http://schemas.microsoft.com/office/powerpoint/2010/main" val="845119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1682-DA5C-FECF-5428-A2386289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F3CEC0-C92D-8223-12CE-AC680B3BBBD2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FCE84-A331-FB76-D8F1-F8F4FC4C3CD4}"/>
              </a:ext>
            </a:extLst>
          </p:cNvPr>
          <p:cNvSpPr txBox="1"/>
          <p:nvPr/>
        </p:nvSpPr>
        <p:spPr>
          <a:xfrm>
            <a:off x="419100" y="4887077"/>
            <a:ext cx="11353800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최상위 유저들을 위한</a:t>
            </a:r>
            <a:br>
              <a:rPr lang="en-US" altLang="ko-KR" sz="1600" b="1" dirty="0"/>
            </a:br>
            <a:r>
              <a:rPr lang="ko-KR" altLang="en-US" sz="1600" b="1" dirty="0"/>
              <a:t>시즌 마무리 등수 별 보상이 존재합니다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E67378-74CD-F311-F005-3DE2EA637E34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Season Reward</a:t>
            </a:r>
          </a:p>
        </p:txBody>
      </p:sp>
      <p:pic>
        <p:nvPicPr>
          <p:cNvPr id="7" name="그래픽 6" descr="트로피">
            <a:extLst>
              <a:ext uri="{FF2B5EF4-FFF2-40B4-BE49-F238E27FC236}">
                <a16:creationId xmlns:a16="http://schemas.microsoft.com/office/drawing/2014/main" id="{0A84D308-447E-54CE-D08E-F9CCBAFC6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4556" y="2989383"/>
            <a:ext cx="1591558" cy="1591555"/>
          </a:xfrm>
          <a:prstGeom prst="rect">
            <a:avLst/>
          </a:prstGeom>
        </p:spPr>
      </p:pic>
      <p:pic>
        <p:nvPicPr>
          <p:cNvPr id="32" name="그래픽 31" descr="트로피">
            <a:extLst>
              <a:ext uri="{FF2B5EF4-FFF2-40B4-BE49-F238E27FC236}">
                <a16:creationId xmlns:a16="http://schemas.microsoft.com/office/drawing/2014/main" id="{53C29B81-7C73-2DD7-194F-35E12FF13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7608" y="2648025"/>
            <a:ext cx="1976879" cy="1976875"/>
          </a:xfrm>
          <a:prstGeom prst="rect">
            <a:avLst/>
          </a:prstGeom>
        </p:spPr>
      </p:pic>
      <p:pic>
        <p:nvPicPr>
          <p:cNvPr id="33" name="그래픽 32" descr="트로피">
            <a:extLst>
              <a:ext uri="{FF2B5EF4-FFF2-40B4-BE49-F238E27FC236}">
                <a16:creationId xmlns:a16="http://schemas.microsoft.com/office/drawing/2014/main" id="{D2E7C604-6274-8E31-5B8E-5D40824B8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0354" y="1993073"/>
            <a:ext cx="2693378" cy="269337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F6EDA59-CE2F-9B43-FD9E-A9EAFC165286}"/>
              </a:ext>
            </a:extLst>
          </p:cNvPr>
          <p:cNvSpPr txBox="1"/>
          <p:nvPr/>
        </p:nvSpPr>
        <p:spPr>
          <a:xfrm>
            <a:off x="4306400" y="2403434"/>
            <a:ext cx="1501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#1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DB5BFA-BEFE-53A1-FF75-DED3CE1E07AF}"/>
              </a:ext>
            </a:extLst>
          </p:cNvPr>
          <p:cNvSpPr txBox="1"/>
          <p:nvPr/>
        </p:nvSpPr>
        <p:spPr>
          <a:xfrm>
            <a:off x="5715404" y="3065730"/>
            <a:ext cx="1501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#100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A972F-4C4B-7C47-EC54-B27555992910}"/>
              </a:ext>
            </a:extLst>
          </p:cNvPr>
          <p:cNvSpPr txBox="1"/>
          <p:nvPr/>
        </p:nvSpPr>
        <p:spPr>
          <a:xfrm>
            <a:off x="6879692" y="3344327"/>
            <a:ext cx="1501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#10000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29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6644-DA87-2B61-8087-83B07F2D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C579CC-4F79-4EE1-B473-D7003BDA33F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4D813-260C-38F4-EFC0-43B738AAB151}"/>
              </a:ext>
            </a:extLst>
          </p:cNvPr>
          <p:cNvSpPr txBox="1"/>
          <p:nvPr/>
        </p:nvSpPr>
        <p:spPr>
          <a:xfrm>
            <a:off x="419100" y="4887077"/>
            <a:ext cx="11353800" cy="149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매일 어제 자 상위 </a:t>
            </a:r>
            <a:r>
              <a:rPr lang="en-US" altLang="ko-KR" sz="1600" b="1" dirty="0"/>
              <a:t>n% </a:t>
            </a:r>
            <a:r>
              <a:rPr lang="ko-KR" altLang="en-US" sz="1600" b="1" dirty="0"/>
              <a:t>유저의 대진을 보고</a:t>
            </a:r>
            <a:br>
              <a:rPr lang="en-US" altLang="ko-KR" sz="1600" b="1" dirty="0"/>
            </a:br>
            <a:r>
              <a:rPr lang="ko-KR" altLang="en-US" sz="1600" b="1" dirty="0"/>
              <a:t>누가 이겼는지 예측하는 컨텐츠가 있습니다</a:t>
            </a:r>
            <a:r>
              <a:rPr lang="en-US" altLang="ko-KR" sz="1600" b="1" dirty="0"/>
              <a:t>.</a:t>
            </a:r>
            <a:br>
              <a:rPr lang="en-US" altLang="ko-KR" sz="1600" b="1" dirty="0"/>
            </a:br>
            <a:r>
              <a:rPr lang="ko-KR" altLang="en-US" sz="1600" b="1" dirty="0"/>
              <a:t>예측 성공 시 보상이 존재합니다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4953C-95E5-0456-50BF-334A59F9C8E3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Pick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Winner</a:t>
            </a:r>
          </a:p>
        </p:txBody>
      </p:sp>
      <p:pic>
        <p:nvPicPr>
          <p:cNvPr id="2" name="그래픽 1" descr="사용자">
            <a:extLst>
              <a:ext uri="{FF2B5EF4-FFF2-40B4-BE49-F238E27FC236}">
                <a16:creationId xmlns:a16="http://schemas.microsoft.com/office/drawing/2014/main" id="{A4820A6F-7E8F-0189-4967-BB926251B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987287" y="1789876"/>
            <a:ext cx="1971688" cy="1971682"/>
          </a:xfrm>
          <a:prstGeom prst="rect">
            <a:avLst/>
          </a:prstGeom>
        </p:spPr>
      </p:pic>
      <p:pic>
        <p:nvPicPr>
          <p:cNvPr id="4" name="그래픽 3" descr="사용자">
            <a:extLst>
              <a:ext uri="{FF2B5EF4-FFF2-40B4-BE49-F238E27FC236}">
                <a16:creationId xmlns:a16="http://schemas.microsoft.com/office/drawing/2014/main" id="{BBC0E04D-8172-D7F1-E78D-F39BF627F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233027" y="1789876"/>
            <a:ext cx="1971688" cy="1971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CE965F-177C-631A-2D13-A57AA94F9A76}"/>
              </a:ext>
            </a:extLst>
          </p:cNvPr>
          <p:cNvSpPr txBox="1"/>
          <p:nvPr/>
        </p:nvSpPr>
        <p:spPr>
          <a:xfrm>
            <a:off x="4261339" y="2360218"/>
            <a:ext cx="3669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b="1" dirty="0"/>
              <a:t>VS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8E0593-1C7C-4852-7559-DF59368F9030}"/>
              </a:ext>
            </a:extLst>
          </p:cNvPr>
          <p:cNvSpPr/>
          <p:nvPr/>
        </p:nvSpPr>
        <p:spPr>
          <a:xfrm>
            <a:off x="4325431" y="3641338"/>
            <a:ext cx="1295399" cy="506357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Bet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320B25-F584-3B37-8C71-B431346C20E5}"/>
              </a:ext>
            </a:extLst>
          </p:cNvPr>
          <p:cNvSpPr/>
          <p:nvPr/>
        </p:nvSpPr>
        <p:spPr>
          <a:xfrm>
            <a:off x="6571171" y="3641338"/>
            <a:ext cx="1295399" cy="506357"/>
          </a:xfrm>
          <a:prstGeom prst="roundRect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Bet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AF94D-1447-838C-528E-BE11819EC3C5}"/>
              </a:ext>
            </a:extLst>
          </p:cNvPr>
          <p:cNvSpPr txBox="1"/>
          <p:nvPr/>
        </p:nvSpPr>
        <p:spPr>
          <a:xfrm>
            <a:off x="3956842" y="2775716"/>
            <a:ext cx="19716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A62D-48A8-340F-C33E-68156B8FEDED}"/>
              </a:ext>
            </a:extLst>
          </p:cNvPr>
          <p:cNvSpPr txBox="1"/>
          <p:nvPr/>
        </p:nvSpPr>
        <p:spPr>
          <a:xfrm>
            <a:off x="6233027" y="2775716"/>
            <a:ext cx="19716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/>
              <a:t>B</a:t>
            </a:r>
          </a:p>
        </p:txBody>
      </p:sp>
      <p:pic>
        <p:nvPicPr>
          <p:cNvPr id="14" name="그래픽 13" descr="오른쪽을 가리키는 검지">
            <a:extLst>
              <a:ext uri="{FF2B5EF4-FFF2-40B4-BE49-F238E27FC236}">
                <a16:creationId xmlns:a16="http://schemas.microsoft.com/office/drawing/2014/main" id="{C5E54242-BEF9-E9CE-3F51-954442D350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296867">
            <a:off x="7562350" y="3778798"/>
            <a:ext cx="914400" cy="914400"/>
          </a:xfrm>
          <a:prstGeom prst="rect">
            <a:avLst/>
          </a:prstGeom>
        </p:spPr>
      </p:pic>
      <p:pic>
        <p:nvPicPr>
          <p:cNvPr id="25" name="그래픽 24" descr="동전">
            <a:extLst>
              <a:ext uri="{FF2B5EF4-FFF2-40B4-BE49-F238E27FC236}">
                <a16:creationId xmlns:a16="http://schemas.microsoft.com/office/drawing/2014/main" id="{93AD4E93-8DD7-DA81-6D22-BD02DF10B3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9447" y="4083787"/>
            <a:ext cx="487712" cy="487712"/>
          </a:xfrm>
          <a:prstGeom prst="rect">
            <a:avLst/>
          </a:prstGeom>
        </p:spPr>
      </p:pic>
      <p:pic>
        <p:nvPicPr>
          <p:cNvPr id="26" name="그래픽 25" descr="동전">
            <a:extLst>
              <a:ext uri="{FF2B5EF4-FFF2-40B4-BE49-F238E27FC236}">
                <a16:creationId xmlns:a16="http://schemas.microsoft.com/office/drawing/2014/main" id="{8FB3C497-7C1D-4460-75A9-69A848EACB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5663" y="3984844"/>
            <a:ext cx="487712" cy="487712"/>
          </a:xfrm>
          <a:prstGeom prst="rect">
            <a:avLst/>
          </a:prstGeom>
        </p:spPr>
      </p:pic>
      <p:pic>
        <p:nvPicPr>
          <p:cNvPr id="27" name="그래픽 26" descr="동전">
            <a:extLst>
              <a:ext uri="{FF2B5EF4-FFF2-40B4-BE49-F238E27FC236}">
                <a16:creationId xmlns:a16="http://schemas.microsoft.com/office/drawing/2014/main" id="{8DBEC4EB-8DC7-511A-A583-9C1FA8EB68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9609" y="3764249"/>
            <a:ext cx="487712" cy="4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52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0ED7-3878-A2C6-2F1E-3420E1F2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7B596452-343A-3511-2844-A408BD58628B}"/>
              </a:ext>
            </a:extLst>
          </p:cNvPr>
          <p:cNvSpPr/>
          <p:nvPr/>
        </p:nvSpPr>
        <p:spPr>
          <a:xfrm rot="10800000">
            <a:off x="1855186" y="2434938"/>
            <a:ext cx="1289536" cy="225794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8763CC41-9628-5C34-A61C-9491A3163E26}"/>
              </a:ext>
            </a:extLst>
          </p:cNvPr>
          <p:cNvSpPr/>
          <p:nvPr/>
        </p:nvSpPr>
        <p:spPr>
          <a:xfrm rot="10800000">
            <a:off x="1280752" y="3201638"/>
            <a:ext cx="917329" cy="149124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331DC6CB-63AC-6DC0-C8FA-C4DF870256DB}"/>
              </a:ext>
            </a:extLst>
          </p:cNvPr>
          <p:cNvSpPr/>
          <p:nvPr/>
        </p:nvSpPr>
        <p:spPr>
          <a:xfrm rot="10800000">
            <a:off x="2801829" y="3201638"/>
            <a:ext cx="917329" cy="149124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01625-7C4A-34F1-7AAA-7C5C6E9487C3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관련 유료 상품 설정</a:t>
            </a:r>
            <a:endParaRPr lang="en-US" altLang="ko-KR" sz="2000" b="1" dirty="0"/>
          </a:p>
        </p:txBody>
      </p:sp>
      <p:pic>
        <p:nvPicPr>
          <p:cNvPr id="3" name="그래픽 2" descr="진저브레드 쿠키">
            <a:extLst>
              <a:ext uri="{FF2B5EF4-FFF2-40B4-BE49-F238E27FC236}">
                <a16:creationId xmlns:a16="http://schemas.microsoft.com/office/drawing/2014/main" id="{102929B4-7DD2-2B7D-472C-B5EDB77BB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8852" y="2371870"/>
            <a:ext cx="2438400" cy="2438400"/>
          </a:xfrm>
          <a:prstGeom prst="rect">
            <a:avLst/>
          </a:prstGeom>
          <a:effectLst>
            <a:glow rad="177800">
              <a:srgbClr val="C00000">
                <a:alpha val="70000"/>
              </a:srgbClr>
            </a:glow>
          </a:effectLst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735ADA9-2F24-16A5-9D80-3DE6A0FFE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6471"/>
              </p:ext>
            </p:extLst>
          </p:nvPr>
        </p:nvGraphicFramePr>
        <p:xfrm>
          <a:off x="4308230" y="1972041"/>
          <a:ext cx="6770078" cy="34580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5136">
                  <a:extLst>
                    <a:ext uri="{9D8B030D-6E8A-4147-A177-3AD203B41FA5}">
                      <a16:colId xmlns:a16="http://schemas.microsoft.com/office/drawing/2014/main" val="1600296772"/>
                    </a:ext>
                  </a:extLst>
                </a:gridCol>
                <a:gridCol w="5254942">
                  <a:extLst>
                    <a:ext uri="{9D8B030D-6E8A-4147-A177-3AD203B41FA5}">
                      <a16:colId xmlns:a16="http://schemas.microsoft.com/office/drawing/2014/main" val="4250006313"/>
                    </a:ext>
                  </a:extLst>
                </a:gridCol>
              </a:tblGrid>
              <a:tr h="4234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주간 시즌 버프 </a:t>
                      </a:r>
                      <a:r>
                        <a:rPr lang="ko-KR" altLang="en-US" sz="1800" b="1" dirty="0" err="1"/>
                        <a:t>강화권</a:t>
                      </a:r>
                      <a:endParaRPr lang="ko-KR" altLang="en-US" sz="1800" b="1" dirty="0"/>
                    </a:p>
                  </a:txBody>
                  <a:tcPr marL="104405" marR="104405" marT="52203" marB="5220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44430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구매조건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주간 시즌마다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회 구매 가능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4080355644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예상 판매가격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\3,000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897119831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특이사항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사용 기간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구입한 시즌동안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559702897"/>
                  </a:ext>
                </a:extLst>
              </a:tr>
              <a:tr h="1764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한 시즌동안 </a:t>
                      </a: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버프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효과를 </a:t>
                      </a:r>
                      <a:r>
                        <a:rPr lang="en-US" altLang="ko-KR" sz="1400" dirty="0"/>
                        <a:t>n% </a:t>
                      </a:r>
                      <a:r>
                        <a:rPr lang="ko-KR" altLang="en-US" sz="1400" dirty="0"/>
                        <a:t>상승시킨다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311253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15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5362-DA4D-F933-0CA4-4DA1B8F5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상자">
            <a:extLst>
              <a:ext uri="{FF2B5EF4-FFF2-40B4-BE49-F238E27FC236}">
                <a16:creationId xmlns:a16="http://schemas.microsoft.com/office/drawing/2014/main" id="{3FA2302D-02EB-6DE7-1E0D-59B7F892A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5333" y="3525115"/>
            <a:ext cx="2520459" cy="1904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92F557-8902-6A2F-DD31-F8D68862109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관련 유료 상품 설정</a:t>
            </a:r>
            <a:endParaRPr lang="en-US" altLang="ko-KR" sz="2000" b="1" dirty="0"/>
          </a:p>
        </p:txBody>
      </p:sp>
      <p:pic>
        <p:nvPicPr>
          <p:cNvPr id="3" name="그래픽 2" descr="진저브레드 쿠키">
            <a:extLst>
              <a:ext uri="{FF2B5EF4-FFF2-40B4-BE49-F238E27FC236}">
                <a16:creationId xmlns:a16="http://schemas.microsoft.com/office/drawing/2014/main" id="{AE633466-5B74-AF63-3B8D-9BB539BA4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7946" y="2150150"/>
            <a:ext cx="2033954" cy="2033954"/>
          </a:xfrm>
          <a:prstGeom prst="rect">
            <a:avLst/>
          </a:prstGeom>
          <a:effectLst/>
        </p:spPr>
      </p:pic>
      <p:pic>
        <p:nvPicPr>
          <p:cNvPr id="2" name="그래픽 1" descr="동전">
            <a:extLst>
              <a:ext uri="{FF2B5EF4-FFF2-40B4-BE49-F238E27FC236}">
                <a16:creationId xmlns:a16="http://schemas.microsoft.com/office/drawing/2014/main" id="{3DE71255-E9E6-6CA1-EBD3-F1EA2FFDFE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844" y="3711569"/>
            <a:ext cx="1002312" cy="1002312"/>
          </a:xfrm>
          <a:prstGeom prst="rect">
            <a:avLst/>
          </a:prstGeom>
        </p:spPr>
      </p:pic>
      <p:pic>
        <p:nvPicPr>
          <p:cNvPr id="4" name="그래픽 3" descr="동전">
            <a:extLst>
              <a:ext uri="{FF2B5EF4-FFF2-40B4-BE49-F238E27FC236}">
                <a16:creationId xmlns:a16="http://schemas.microsoft.com/office/drawing/2014/main" id="{9E027525-C19C-100B-9BC6-E516897522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4054" y="3239034"/>
            <a:ext cx="1002312" cy="1002312"/>
          </a:xfrm>
          <a:prstGeom prst="rect">
            <a:avLst/>
          </a:prstGeom>
        </p:spPr>
      </p:pic>
      <p:pic>
        <p:nvPicPr>
          <p:cNvPr id="5" name="그래픽 4" descr="동전">
            <a:extLst>
              <a:ext uri="{FF2B5EF4-FFF2-40B4-BE49-F238E27FC236}">
                <a16:creationId xmlns:a16="http://schemas.microsoft.com/office/drawing/2014/main" id="{98651874-3093-ECEB-89A1-708F350686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5135" y="3871245"/>
            <a:ext cx="1002312" cy="1002312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99A1979-4671-D0E6-AD33-3B895E17C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333888"/>
              </p:ext>
            </p:extLst>
          </p:nvPr>
        </p:nvGraphicFramePr>
        <p:xfrm>
          <a:off x="4308230" y="1972041"/>
          <a:ext cx="6770078" cy="34703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5136">
                  <a:extLst>
                    <a:ext uri="{9D8B030D-6E8A-4147-A177-3AD203B41FA5}">
                      <a16:colId xmlns:a16="http://schemas.microsoft.com/office/drawing/2014/main" val="1600296772"/>
                    </a:ext>
                  </a:extLst>
                </a:gridCol>
                <a:gridCol w="5254942">
                  <a:extLst>
                    <a:ext uri="{9D8B030D-6E8A-4147-A177-3AD203B41FA5}">
                      <a16:colId xmlns:a16="http://schemas.microsoft.com/office/drawing/2014/main" val="4250006313"/>
                    </a:ext>
                  </a:extLst>
                </a:gridCol>
              </a:tblGrid>
              <a:tr h="4234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주간 시즌 캐릭터 패키지</a:t>
                      </a:r>
                    </a:p>
                  </a:txBody>
                  <a:tcPr marL="104405" marR="104405" marT="52203" marB="5220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44430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구매조건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주간 시즌마다 주간 시즌 캐릭터 종류 별로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회 구매 가능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4080355644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예상 판매가격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\5,000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897119831"/>
                  </a:ext>
                </a:extLst>
              </a:tr>
              <a:tr h="1041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특이사항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패키지 아이템 목록</a:t>
                      </a:r>
                      <a:r>
                        <a:rPr lang="en-US" altLang="ko-KR" sz="1400" dirty="0"/>
                        <a:t>: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캐릭터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*1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캐릭터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전용 성장 재화 및 기타 성장 재화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559702897"/>
                  </a:ext>
                </a:extLst>
              </a:tr>
              <a:tr h="11590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캐릭터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를 즉시 획득하고 강화할 수 있는</a:t>
                      </a:r>
                      <a:endParaRPr lang="en-US" altLang="ko-KR" sz="1400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유료 패키지 아이템이다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311253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728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98B8-DCD5-5A96-EB4A-7182AF61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0683817-0802-D6F0-BA01-19284231CA8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641F1-7F30-D9EB-36F5-19D3DCADB986}"/>
              </a:ext>
            </a:extLst>
          </p:cNvPr>
          <p:cNvSpPr txBox="1"/>
          <p:nvPr/>
        </p:nvSpPr>
        <p:spPr>
          <a:xfrm>
            <a:off x="3212218" y="4778435"/>
            <a:ext cx="576756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주 단위의 컨텐츠 및 유료 아이템 설정으로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정기적인 지출을 유도합니다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20" name="그래픽 19" descr="월 단위 달력">
            <a:extLst>
              <a:ext uri="{FF2B5EF4-FFF2-40B4-BE49-F238E27FC236}">
                <a16:creationId xmlns:a16="http://schemas.microsoft.com/office/drawing/2014/main" id="{D562ADC4-D862-885C-2A81-AC8B59757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7716" y="1586975"/>
            <a:ext cx="2596662" cy="259666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07B2E8-83B8-D683-7711-CB02D54EB16E}"/>
              </a:ext>
            </a:extLst>
          </p:cNvPr>
          <p:cNvSpPr/>
          <p:nvPr/>
        </p:nvSpPr>
        <p:spPr>
          <a:xfrm>
            <a:off x="4484078" y="2685251"/>
            <a:ext cx="2206869" cy="4001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9FA11B-CCCE-4183-B73D-A78152C5B9A1}"/>
              </a:ext>
            </a:extLst>
          </p:cNvPr>
          <p:cNvSpPr txBox="1"/>
          <p:nvPr/>
        </p:nvSpPr>
        <p:spPr>
          <a:xfrm>
            <a:off x="6374918" y="1751393"/>
            <a:ext cx="1018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\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2BEF8-18BC-5179-218A-9CCFB246FC32}"/>
              </a:ext>
            </a:extLst>
          </p:cNvPr>
          <p:cNvSpPr txBox="1"/>
          <p:nvPr/>
        </p:nvSpPr>
        <p:spPr>
          <a:xfrm>
            <a:off x="6793843" y="2228446"/>
            <a:ext cx="101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\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DC14D2-77DF-6C10-6519-BBC28375640D}"/>
              </a:ext>
            </a:extLst>
          </p:cNvPr>
          <p:cNvSpPr txBox="1"/>
          <p:nvPr/>
        </p:nvSpPr>
        <p:spPr>
          <a:xfrm>
            <a:off x="6516524" y="2582388"/>
            <a:ext cx="1018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2352166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5FF9-E9E5-9F08-F6A3-67FD9B2B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ACFA32-7A60-CFDD-7F48-C8471A30F838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A7465-E318-F669-6B73-3EA88E717B91}"/>
              </a:ext>
            </a:extLst>
          </p:cNvPr>
          <p:cNvSpPr txBox="1"/>
          <p:nvPr/>
        </p:nvSpPr>
        <p:spPr>
          <a:xfrm>
            <a:off x="3212218" y="4778435"/>
            <a:ext cx="576756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유입</a:t>
            </a:r>
            <a:r>
              <a:rPr lang="en-US" altLang="ko-KR" sz="1600" dirty="0"/>
              <a:t>/</a:t>
            </a:r>
            <a:r>
              <a:rPr lang="ko-KR" altLang="en-US" sz="1600" dirty="0"/>
              <a:t>학습 시</a:t>
            </a:r>
            <a:r>
              <a:rPr lang="en-US" altLang="ko-KR" sz="1600" dirty="0"/>
              <a:t> </a:t>
            </a:r>
            <a:r>
              <a:rPr lang="ko-KR" altLang="en-US" sz="1600" dirty="0"/>
              <a:t>기존 컨텐츠와는 또 다른 재미의 컨텐츠 제시로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다양한 취향의 유저를 끌어들여 </a:t>
            </a:r>
            <a:r>
              <a:rPr lang="ko-KR" altLang="en-US" sz="1600" b="1" dirty="0"/>
              <a:t>이탈을 최소화 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7" name="그래픽 6" descr="사용자">
            <a:extLst>
              <a:ext uri="{FF2B5EF4-FFF2-40B4-BE49-F238E27FC236}">
                <a16:creationId xmlns:a16="http://schemas.microsoft.com/office/drawing/2014/main" id="{05A02804-960B-E8E8-4AA6-1E2423F64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420340"/>
            <a:ext cx="1839160" cy="1839156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C8424FB8-1EDF-DCB2-C734-054201E99063}"/>
              </a:ext>
            </a:extLst>
          </p:cNvPr>
          <p:cNvSpPr/>
          <p:nvPr/>
        </p:nvSpPr>
        <p:spPr>
          <a:xfrm>
            <a:off x="7553863" y="3393000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FF9AD78-85EB-D6B4-5202-56F0BF485E42}"/>
              </a:ext>
            </a:extLst>
          </p:cNvPr>
          <p:cNvSpPr/>
          <p:nvPr/>
        </p:nvSpPr>
        <p:spPr>
          <a:xfrm>
            <a:off x="7661863" y="3232788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40A2591-0124-0BBE-A512-59C02F4201C9}"/>
              </a:ext>
            </a:extLst>
          </p:cNvPr>
          <p:cNvSpPr/>
          <p:nvPr/>
        </p:nvSpPr>
        <p:spPr>
          <a:xfrm>
            <a:off x="7733863" y="2380765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!</a:t>
            </a:r>
            <a:endParaRPr lang="ko-KR" altLang="en-US" sz="5400" b="1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B030F0D-685A-13CE-D476-489328A01FFD}"/>
              </a:ext>
            </a:extLst>
          </p:cNvPr>
          <p:cNvSpPr/>
          <p:nvPr/>
        </p:nvSpPr>
        <p:spPr>
          <a:xfrm>
            <a:off x="8868905" y="2380765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 b="1" dirty="0">
              <a:solidFill>
                <a:schemeClr val="tx1"/>
              </a:solidFill>
            </a:endParaRPr>
          </a:p>
        </p:txBody>
      </p:sp>
      <p:pic>
        <p:nvPicPr>
          <p:cNvPr id="18" name="그래픽 17" descr="톱니바퀴">
            <a:extLst>
              <a:ext uri="{FF2B5EF4-FFF2-40B4-BE49-F238E27FC236}">
                <a16:creationId xmlns:a16="http://schemas.microsoft.com/office/drawing/2014/main" id="{85332297-FD68-3123-D688-1C2345DC6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0905" y="2453831"/>
            <a:ext cx="914400" cy="914400"/>
          </a:xfrm>
          <a:prstGeom prst="rect">
            <a:avLst/>
          </a:prstGeom>
        </p:spPr>
      </p:pic>
      <p:pic>
        <p:nvPicPr>
          <p:cNvPr id="19" name="Picture 2" descr="아레나">
            <a:extLst>
              <a:ext uri="{FF2B5EF4-FFF2-40B4-BE49-F238E27FC236}">
                <a16:creationId xmlns:a16="http://schemas.microsoft.com/office/drawing/2014/main" id="{4042A5AC-C149-5F3D-14A7-EF0501D71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6000" contras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91531" y="2225857"/>
            <a:ext cx="3042634" cy="19574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3774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46C9-BB88-F639-831C-BCEF815E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DF1299-C4D9-EB79-178A-D3D8A9393A8A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7A830-06DE-1D7D-020E-5C75575B9F3A}"/>
              </a:ext>
            </a:extLst>
          </p:cNvPr>
          <p:cNvSpPr txBox="1"/>
          <p:nvPr/>
        </p:nvSpPr>
        <p:spPr>
          <a:xfrm>
            <a:off x="3639239" y="4778435"/>
            <a:ext cx="576756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단계적 보상의 컨텐츠 추가로</a:t>
            </a:r>
            <a:br>
              <a:rPr lang="en-US" altLang="ko-KR" sz="1600" dirty="0"/>
            </a:br>
            <a:r>
              <a:rPr lang="ko-KR" altLang="en-US" sz="1600" dirty="0"/>
              <a:t>결제 심리를 자극하여 </a:t>
            </a:r>
            <a:r>
              <a:rPr lang="ko-KR" altLang="en-US" sz="1600" b="1" dirty="0"/>
              <a:t>비용을 매몰시킬 수 있습니다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1B834D4-0B96-5141-F701-0B65F2C90EB5}"/>
              </a:ext>
            </a:extLst>
          </p:cNvPr>
          <p:cNvSpPr/>
          <p:nvPr/>
        </p:nvSpPr>
        <p:spPr>
          <a:xfrm>
            <a:off x="7542936" y="2137974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5E58B6F-7A0D-2D13-29E6-F62CFBFD2852}"/>
              </a:ext>
            </a:extLst>
          </p:cNvPr>
          <p:cNvSpPr/>
          <p:nvPr/>
        </p:nvSpPr>
        <p:spPr>
          <a:xfrm>
            <a:off x="7351492" y="1978811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665684B-1A76-56E1-99BB-1DCD1C153D97}"/>
              </a:ext>
            </a:extLst>
          </p:cNvPr>
          <p:cNvSpPr/>
          <p:nvPr/>
        </p:nvSpPr>
        <p:spPr>
          <a:xfrm>
            <a:off x="6339252" y="1146295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b="1" dirty="0">
                <a:solidFill>
                  <a:schemeClr val="tx1"/>
                </a:solidFill>
              </a:rPr>
              <a:t>\?</a:t>
            </a:r>
            <a:endParaRPr lang="ko-KR" altLang="en-US" sz="4800" b="1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E31EFCF-2477-132B-0CFC-E9F49D12FFCC}"/>
              </a:ext>
            </a:extLst>
          </p:cNvPr>
          <p:cNvGrpSpPr/>
          <p:nvPr/>
        </p:nvGrpSpPr>
        <p:grpSpPr>
          <a:xfrm>
            <a:off x="2682909" y="2024610"/>
            <a:ext cx="6919396" cy="2587349"/>
            <a:chOff x="4990236" y="2599235"/>
            <a:chExt cx="5627096" cy="2104123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81442754-E263-329F-29E5-68DD182D6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0236" y="2904882"/>
              <a:ext cx="5627096" cy="1798476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D96924EE-97B4-B526-1010-A7BC1FD23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38624" y="2599235"/>
              <a:ext cx="755970" cy="908383"/>
            </a:xfrm>
            <a:prstGeom prst="rect">
              <a:avLst/>
            </a:prstGeom>
          </p:spPr>
        </p:pic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0ED51A85-C041-D49F-F442-0EE670C17CE9}"/>
                </a:ext>
              </a:extLst>
            </p:cNvPr>
            <p:cNvSpPr/>
            <p:nvPr/>
          </p:nvSpPr>
          <p:spPr>
            <a:xfrm>
              <a:off x="6628099" y="3021208"/>
              <a:ext cx="660903" cy="660903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D316223A-A3CB-3F44-50A3-FF584DDA965E}"/>
                </a:ext>
              </a:extLst>
            </p:cNvPr>
            <p:cNvSpPr/>
            <p:nvPr/>
          </p:nvSpPr>
          <p:spPr>
            <a:xfrm>
              <a:off x="7452247" y="3021208"/>
              <a:ext cx="660903" cy="660903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C8E5F6BE-0892-B473-C1C2-6EAE0C950D18}"/>
                </a:ext>
              </a:extLst>
            </p:cNvPr>
            <p:cNvSpPr/>
            <p:nvPr/>
          </p:nvSpPr>
          <p:spPr>
            <a:xfrm>
              <a:off x="8310954" y="3021208"/>
              <a:ext cx="660903" cy="660903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008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1217-11D1-C75E-6137-28ABD64C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B7472546-BCF4-43E6-37B6-17F38F922985}"/>
              </a:ext>
            </a:extLst>
          </p:cNvPr>
          <p:cNvSpPr/>
          <p:nvPr/>
        </p:nvSpPr>
        <p:spPr>
          <a:xfrm>
            <a:off x="6280295" y="1216096"/>
            <a:ext cx="3577042" cy="3420442"/>
          </a:xfrm>
          <a:custGeom>
            <a:avLst/>
            <a:gdLst>
              <a:gd name="connsiteX0" fmla="*/ 1331783 w 3577042"/>
              <a:gd name="connsiteY0" fmla="*/ 3374092 h 3420442"/>
              <a:gd name="connsiteX1" fmla="*/ 1331783 w 3577042"/>
              <a:gd name="connsiteY1" fmla="*/ 3374092 h 3420442"/>
              <a:gd name="connsiteX2" fmla="*/ 607506 w 3577042"/>
              <a:gd name="connsiteY2" fmla="*/ 3355985 h 3420442"/>
              <a:gd name="connsiteX3" fmla="*/ 335902 w 3577042"/>
              <a:gd name="connsiteY3" fmla="*/ 3256397 h 3420442"/>
              <a:gd name="connsiteX4" fmla="*/ 46191 w 3577042"/>
              <a:gd name="connsiteY4" fmla="*/ 2984793 h 3420442"/>
              <a:gd name="connsiteX5" fmla="*/ 19030 w 3577042"/>
              <a:gd name="connsiteY5" fmla="*/ 2821831 h 3420442"/>
              <a:gd name="connsiteX6" fmla="*/ 73351 w 3577042"/>
              <a:gd name="connsiteY6" fmla="*/ 2640762 h 3420442"/>
              <a:gd name="connsiteX7" fmla="*/ 281581 w 3577042"/>
              <a:gd name="connsiteY7" fmla="*/ 2323890 h 3420442"/>
              <a:gd name="connsiteX8" fmla="*/ 326848 w 3577042"/>
              <a:gd name="connsiteY8" fmla="*/ 1997966 h 3420442"/>
              <a:gd name="connsiteX9" fmla="*/ 254421 w 3577042"/>
              <a:gd name="connsiteY9" fmla="*/ 1835003 h 3420442"/>
              <a:gd name="connsiteX10" fmla="*/ 145779 w 3577042"/>
              <a:gd name="connsiteY10" fmla="*/ 1717308 h 3420442"/>
              <a:gd name="connsiteX11" fmla="*/ 28084 w 3577042"/>
              <a:gd name="connsiteY11" fmla="*/ 1644880 h 3420442"/>
              <a:gd name="connsiteX12" fmla="*/ 924 w 3577042"/>
              <a:gd name="connsiteY12" fmla="*/ 1617720 h 3420442"/>
              <a:gd name="connsiteX13" fmla="*/ 37137 w 3577042"/>
              <a:gd name="connsiteY13" fmla="*/ 1626773 h 3420442"/>
              <a:gd name="connsiteX14" fmla="*/ 127672 w 3577042"/>
              <a:gd name="connsiteY14" fmla="*/ 1672041 h 3420442"/>
              <a:gd name="connsiteX15" fmla="*/ 181993 w 3577042"/>
              <a:gd name="connsiteY15" fmla="*/ 1699201 h 3420442"/>
              <a:gd name="connsiteX16" fmla="*/ 299688 w 3577042"/>
              <a:gd name="connsiteY16" fmla="*/ 1753522 h 3420442"/>
              <a:gd name="connsiteX17" fmla="*/ 354009 w 3577042"/>
              <a:gd name="connsiteY17" fmla="*/ 1789736 h 3420442"/>
              <a:gd name="connsiteX18" fmla="*/ 435490 w 3577042"/>
              <a:gd name="connsiteY18" fmla="*/ 1844057 h 3420442"/>
              <a:gd name="connsiteX19" fmla="*/ 489811 w 3577042"/>
              <a:gd name="connsiteY19" fmla="*/ 1889324 h 3420442"/>
              <a:gd name="connsiteX20" fmla="*/ 507918 w 3577042"/>
              <a:gd name="connsiteY20" fmla="*/ 1916484 h 3420442"/>
              <a:gd name="connsiteX21" fmla="*/ 498864 w 3577042"/>
              <a:gd name="connsiteY21" fmla="*/ 1871217 h 3420442"/>
              <a:gd name="connsiteX22" fmla="*/ 408329 w 3577042"/>
              <a:gd name="connsiteY22" fmla="*/ 1735415 h 3420442"/>
              <a:gd name="connsiteX23" fmla="*/ 354009 w 3577042"/>
              <a:gd name="connsiteY23" fmla="*/ 1617720 h 3420442"/>
              <a:gd name="connsiteX24" fmla="*/ 363062 w 3577042"/>
              <a:gd name="connsiteY24" fmla="*/ 1056405 h 3420442"/>
              <a:gd name="connsiteX25" fmla="*/ 408329 w 3577042"/>
              <a:gd name="connsiteY25" fmla="*/ 893443 h 3420442"/>
              <a:gd name="connsiteX26" fmla="*/ 417383 w 3577042"/>
              <a:gd name="connsiteY26" fmla="*/ 866282 h 3420442"/>
              <a:gd name="connsiteX27" fmla="*/ 381169 w 3577042"/>
              <a:gd name="connsiteY27" fmla="*/ 920603 h 3420442"/>
              <a:gd name="connsiteX28" fmla="*/ 363062 w 3577042"/>
              <a:gd name="connsiteY28" fmla="*/ 1047352 h 3420442"/>
              <a:gd name="connsiteX29" fmla="*/ 453597 w 3577042"/>
              <a:gd name="connsiteY29" fmla="*/ 1309902 h 3420442"/>
              <a:gd name="connsiteX30" fmla="*/ 562238 w 3577042"/>
              <a:gd name="connsiteY30" fmla="*/ 1346116 h 3420442"/>
              <a:gd name="connsiteX31" fmla="*/ 679933 w 3577042"/>
              <a:gd name="connsiteY31" fmla="*/ 1328009 h 3420442"/>
              <a:gd name="connsiteX32" fmla="*/ 833842 w 3577042"/>
              <a:gd name="connsiteY32" fmla="*/ 1237474 h 3420442"/>
              <a:gd name="connsiteX33" fmla="*/ 1023965 w 3577042"/>
              <a:gd name="connsiteY33" fmla="*/ 920603 h 3420442"/>
              <a:gd name="connsiteX34" fmla="*/ 1042072 w 3577042"/>
              <a:gd name="connsiteY34" fmla="*/ 748587 h 3420442"/>
              <a:gd name="connsiteX35" fmla="*/ 960591 w 3577042"/>
              <a:gd name="connsiteY35" fmla="*/ 332128 h 3420442"/>
              <a:gd name="connsiteX36" fmla="*/ 888163 w 3577042"/>
              <a:gd name="connsiteY36" fmla="*/ 142005 h 3420442"/>
              <a:gd name="connsiteX37" fmla="*/ 824789 w 3577042"/>
              <a:gd name="connsiteY37" fmla="*/ 6203 h 3420442"/>
              <a:gd name="connsiteX38" fmla="*/ 942484 w 3577042"/>
              <a:gd name="connsiteY38" fmla="*/ 132952 h 3420442"/>
              <a:gd name="connsiteX39" fmla="*/ 1023965 w 3577042"/>
              <a:gd name="connsiteY39" fmla="*/ 214433 h 3420442"/>
              <a:gd name="connsiteX40" fmla="*/ 1168821 w 3577042"/>
              <a:gd name="connsiteY40" fmla="*/ 413609 h 3420442"/>
              <a:gd name="connsiteX41" fmla="*/ 1214088 w 3577042"/>
              <a:gd name="connsiteY41" fmla="*/ 504144 h 3420442"/>
              <a:gd name="connsiteX42" fmla="*/ 1241248 w 3577042"/>
              <a:gd name="connsiteY42" fmla="*/ 603732 h 3420442"/>
              <a:gd name="connsiteX43" fmla="*/ 1259355 w 3577042"/>
              <a:gd name="connsiteY43" fmla="*/ 694267 h 3420442"/>
              <a:gd name="connsiteX44" fmla="*/ 1277462 w 3577042"/>
              <a:gd name="connsiteY44" fmla="*/ 875336 h 3420442"/>
              <a:gd name="connsiteX45" fmla="*/ 1286516 w 3577042"/>
              <a:gd name="connsiteY45" fmla="*/ 956817 h 3420442"/>
              <a:gd name="connsiteX46" fmla="*/ 1331783 w 3577042"/>
              <a:gd name="connsiteY46" fmla="*/ 1228421 h 3420442"/>
              <a:gd name="connsiteX47" fmla="*/ 1458531 w 3577042"/>
              <a:gd name="connsiteY47" fmla="*/ 1337063 h 3420442"/>
              <a:gd name="connsiteX48" fmla="*/ 1530959 w 3577042"/>
              <a:gd name="connsiteY48" fmla="*/ 1373276 h 3420442"/>
              <a:gd name="connsiteX49" fmla="*/ 1603387 w 3577042"/>
              <a:gd name="connsiteY49" fmla="*/ 1400437 h 3420442"/>
              <a:gd name="connsiteX50" fmla="*/ 1666761 w 3577042"/>
              <a:gd name="connsiteY50" fmla="*/ 1409490 h 3420442"/>
              <a:gd name="connsiteX51" fmla="*/ 1585280 w 3577042"/>
              <a:gd name="connsiteY51" fmla="*/ 1183154 h 3420442"/>
              <a:gd name="connsiteX52" fmla="*/ 1576227 w 3577042"/>
              <a:gd name="connsiteY52" fmla="*/ 1065459 h 3420442"/>
              <a:gd name="connsiteX53" fmla="*/ 1594333 w 3577042"/>
              <a:gd name="connsiteY53" fmla="*/ 947764 h 3420442"/>
              <a:gd name="connsiteX54" fmla="*/ 1712029 w 3577042"/>
              <a:gd name="connsiteY54" fmla="*/ 775748 h 3420442"/>
              <a:gd name="connsiteX55" fmla="*/ 1739189 w 3577042"/>
              <a:gd name="connsiteY55" fmla="*/ 766694 h 3420442"/>
              <a:gd name="connsiteX56" fmla="*/ 1721082 w 3577042"/>
              <a:gd name="connsiteY56" fmla="*/ 875336 h 3420442"/>
              <a:gd name="connsiteX57" fmla="*/ 1775403 w 3577042"/>
              <a:gd name="connsiteY57" fmla="*/ 1065459 h 3420442"/>
              <a:gd name="connsiteX58" fmla="*/ 1874991 w 3577042"/>
              <a:gd name="connsiteY58" fmla="*/ 1137886 h 3420442"/>
              <a:gd name="connsiteX59" fmla="*/ 1965526 w 3577042"/>
              <a:gd name="connsiteY59" fmla="*/ 1165047 h 3420442"/>
              <a:gd name="connsiteX60" fmla="*/ 2074167 w 3577042"/>
              <a:gd name="connsiteY60" fmla="*/ 1155993 h 3420442"/>
              <a:gd name="connsiteX61" fmla="*/ 2264290 w 3577042"/>
              <a:gd name="connsiteY61" fmla="*/ 947764 h 3420442"/>
              <a:gd name="connsiteX62" fmla="*/ 2309557 w 3577042"/>
              <a:gd name="connsiteY62" fmla="*/ 694267 h 3420442"/>
              <a:gd name="connsiteX63" fmla="*/ 2291450 w 3577042"/>
              <a:gd name="connsiteY63" fmla="*/ 567518 h 3420442"/>
              <a:gd name="connsiteX64" fmla="*/ 2264290 w 3577042"/>
              <a:gd name="connsiteY64" fmla="*/ 458876 h 3420442"/>
              <a:gd name="connsiteX65" fmla="*/ 2237129 w 3577042"/>
              <a:gd name="connsiteY65" fmla="*/ 395502 h 3420442"/>
              <a:gd name="connsiteX66" fmla="*/ 2400092 w 3577042"/>
              <a:gd name="connsiteY66" fmla="*/ 639946 h 3420442"/>
              <a:gd name="connsiteX67" fmla="*/ 2535894 w 3577042"/>
              <a:gd name="connsiteY67" fmla="*/ 938710 h 3420442"/>
              <a:gd name="connsiteX68" fmla="*/ 2608322 w 3577042"/>
              <a:gd name="connsiteY68" fmla="*/ 1165047 h 3420442"/>
              <a:gd name="connsiteX69" fmla="*/ 2617375 w 3577042"/>
              <a:gd name="connsiteY69" fmla="*/ 1246528 h 3420442"/>
              <a:gd name="connsiteX70" fmla="*/ 2626429 w 3577042"/>
              <a:gd name="connsiteY70" fmla="*/ 1436651 h 3420442"/>
              <a:gd name="connsiteX71" fmla="*/ 2635482 w 3577042"/>
              <a:gd name="connsiteY71" fmla="*/ 1409490 h 3420442"/>
              <a:gd name="connsiteX72" fmla="*/ 2680749 w 3577042"/>
              <a:gd name="connsiteY72" fmla="*/ 1373276 h 3420442"/>
              <a:gd name="connsiteX73" fmla="*/ 2762230 w 3577042"/>
              <a:gd name="connsiteY73" fmla="*/ 1328009 h 3420442"/>
              <a:gd name="connsiteX74" fmla="*/ 2843712 w 3577042"/>
              <a:gd name="connsiteY74" fmla="*/ 1264635 h 3420442"/>
              <a:gd name="connsiteX75" fmla="*/ 2943300 w 3577042"/>
              <a:gd name="connsiteY75" fmla="*/ 1137886 h 3420442"/>
              <a:gd name="connsiteX76" fmla="*/ 2961407 w 3577042"/>
              <a:gd name="connsiteY76" fmla="*/ 1101672 h 3420442"/>
              <a:gd name="connsiteX77" fmla="*/ 2979514 w 3577042"/>
              <a:gd name="connsiteY77" fmla="*/ 1155993 h 3420442"/>
              <a:gd name="connsiteX78" fmla="*/ 2952353 w 3577042"/>
              <a:gd name="connsiteY78" fmla="*/ 1563399 h 3420442"/>
              <a:gd name="connsiteX79" fmla="*/ 2961407 w 3577042"/>
              <a:gd name="connsiteY79" fmla="*/ 1753522 h 3420442"/>
              <a:gd name="connsiteX80" fmla="*/ 2979514 w 3577042"/>
              <a:gd name="connsiteY80" fmla="*/ 1798789 h 3420442"/>
              <a:gd name="connsiteX81" fmla="*/ 3015728 w 3577042"/>
              <a:gd name="connsiteY81" fmla="*/ 1835003 h 3420442"/>
              <a:gd name="connsiteX82" fmla="*/ 3033834 w 3577042"/>
              <a:gd name="connsiteY82" fmla="*/ 1871217 h 3420442"/>
              <a:gd name="connsiteX83" fmla="*/ 3070048 w 3577042"/>
              <a:gd name="connsiteY83" fmla="*/ 1889324 h 3420442"/>
              <a:gd name="connsiteX84" fmla="*/ 3133423 w 3577042"/>
              <a:gd name="connsiteY84" fmla="*/ 1744468 h 3420442"/>
              <a:gd name="connsiteX85" fmla="*/ 3142476 w 3577042"/>
              <a:gd name="connsiteY85" fmla="*/ 1644880 h 3420442"/>
              <a:gd name="connsiteX86" fmla="*/ 3151529 w 3577042"/>
              <a:gd name="connsiteY86" fmla="*/ 1572453 h 3420442"/>
              <a:gd name="connsiteX87" fmla="*/ 3169636 w 3577042"/>
              <a:gd name="connsiteY87" fmla="*/ 1617720 h 3420442"/>
              <a:gd name="connsiteX88" fmla="*/ 3214904 w 3577042"/>
              <a:gd name="connsiteY88" fmla="*/ 1681094 h 3420442"/>
              <a:gd name="connsiteX89" fmla="*/ 3233011 w 3577042"/>
              <a:gd name="connsiteY89" fmla="*/ 1726362 h 3420442"/>
              <a:gd name="connsiteX90" fmla="*/ 3260171 w 3577042"/>
              <a:gd name="connsiteY90" fmla="*/ 1862164 h 3420442"/>
              <a:gd name="connsiteX91" fmla="*/ 3269225 w 3577042"/>
              <a:gd name="connsiteY91" fmla="*/ 2151874 h 3420442"/>
              <a:gd name="connsiteX92" fmla="*/ 3350706 w 3577042"/>
              <a:gd name="connsiteY92" fmla="*/ 2233356 h 3420442"/>
              <a:gd name="connsiteX93" fmla="*/ 3377866 w 3577042"/>
              <a:gd name="connsiteY93" fmla="*/ 2269569 h 3420442"/>
              <a:gd name="connsiteX94" fmla="*/ 3414080 w 3577042"/>
              <a:gd name="connsiteY94" fmla="*/ 2296730 h 3420442"/>
              <a:gd name="connsiteX95" fmla="*/ 3441240 w 3577042"/>
              <a:gd name="connsiteY95" fmla="*/ 2351051 h 3420442"/>
              <a:gd name="connsiteX96" fmla="*/ 3477454 w 3577042"/>
              <a:gd name="connsiteY96" fmla="*/ 2396318 h 3420442"/>
              <a:gd name="connsiteX97" fmla="*/ 3522722 w 3577042"/>
              <a:gd name="connsiteY97" fmla="*/ 2486853 h 3420442"/>
              <a:gd name="connsiteX98" fmla="*/ 3540829 w 3577042"/>
              <a:gd name="connsiteY98" fmla="*/ 2514013 h 3420442"/>
              <a:gd name="connsiteX99" fmla="*/ 3549882 w 3577042"/>
              <a:gd name="connsiteY99" fmla="*/ 2559280 h 3420442"/>
              <a:gd name="connsiteX100" fmla="*/ 3567989 w 3577042"/>
              <a:gd name="connsiteY100" fmla="*/ 2622655 h 3420442"/>
              <a:gd name="connsiteX101" fmla="*/ 3577042 w 3577042"/>
              <a:gd name="connsiteY101" fmla="*/ 2695082 h 3420442"/>
              <a:gd name="connsiteX102" fmla="*/ 3567989 w 3577042"/>
              <a:gd name="connsiteY102" fmla="*/ 2921419 h 3420442"/>
              <a:gd name="connsiteX103" fmla="*/ 3486508 w 3577042"/>
              <a:gd name="connsiteY103" fmla="*/ 3066274 h 3420442"/>
              <a:gd name="connsiteX104" fmla="*/ 3395973 w 3577042"/>
              <a:gd name="connsiteY104" fmla="*/ 3120595 h 3420442"/>
              <a:gd name="connsiteX105" fmla="*/ 3305438 w 3577042"/>
              <a:gd name="connsiteY105" fmla="*/ 3183969 h 3420442"/>
              <a:gd name="connsiteX106" fmla="*/ 3178690 w 3577042"/>
              <a:gd name="connsiteY106" fmla="*/ 3238290 h 3420442"/>
              <a:gd name="connsiteX107" fmla="*/ 2952353 w 3577042"/>
              <a:gd name="connsiteY107" fmla="*/ 3301665 h 3420442"/>
              <a:gd name="connsiteX108" fmla="*/ 2019846 w 3577042"/>
              <a:gd name="connsiteY108" fmla="*/ 3346932 h 3420442"/>
              <a:gd name="connsiteX109" fmla="*/ 1331783 w 3577042"/>
              <a:gd name="connsiteY109" fmla="*/ 3374092 h 342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3577042" h="3420442">
                <a:moveTo>
                  <a:pt x="1331783" y="3374092"/>
                </a:moveTo>
                <a:lnTo>
                  <a:pt x="1331783" y="3374092"/>
                </a:lnTo>
                <a:cubicBezTo>
                  <a:pt x="1016348" y="3434175"/>
                  <a:pt x="1065757" y="3443516"/>
                  <a:pt x="607506" y="3355985"/>
                </a:cubicBezTo>
                <a:cubicBezTo>
                  <a:pt x="512790" y="3337893"/>
                  <a:pt x="426437" y="3289593"/>
                  <a:pt x="335902" y="3256397"/>
                </a:cubicBezTo>
                <a:cubicBezTo>
                  <a:pt x="241277" y="3185428"/>
                  <a:pt x="99906" y="3102967"/>
                  <a:pt x="46191" y="2984793"/>
                </a:cubicBezTo>
                <a:cubicBezTo>
                  <a:pt x="23403" y="2934659"/>
                  <a:pt x="28084" y="2876152"/>
                  <a:pt x="19030" y="2821831"/>
                </a:cubicBezTo>
                <a:cubicBezTo>
                  <a:pt x="37137" y="2761475"/>
                  <a:pt x="43961" y="2696502"/>
                  <a:pt x="73351" y="2640762"/>
                </a:cubicBezTo>
                <a:cubicBezTo>
                  <a:pt x="132300" y="2528962"/>
                  <a:pt x="281581" y="2323890"/>
                  <a:pt x="281581" y="2323890"/>
                </a:cubicBezTo>
                <a:cubicBezTo>
                  <a:pt x="303306" y="2231559"/>
                  <a:pt x="345137" y="2094637"/>
                  <a:pt x="326848" y="1997966"/>
                </a:cubicBezTo>
                <a:cubicBezTo>
                  <a:pt x="315798" y="1939558"/>
                  <a:pt x="286647" y="1884954"/>
                  <a:pt x="254421" y="1835003"/>
                </a:cubicBezTo>
                <a:cubicBezTo>
                  <a:pt x="225476" y="1790139"/>
                  <a:pt x="186661" y="1751649"/>
                  <a:pt x="145779" y="1717308"/>
                </a:cubicBezTo>
                <a:cubicBezTo>
                  <a:pt x="110507" y="1687679"/>
                  <a:pt x="66044" y="1670977"/>
                  <a:pt x="28084" y="1644880"/>
                </a:cubicBezTo>
                <a:cubicBezTo>
                  <a:pt x="17534" y="1637627"/>
                  <a:pt x="-4802" y="1629172"/>
                  <a:pt x="924" y="1617720"/>
                </a:cubicBezTo>
                <a:cubicBezTo>
                  <a:pt x="6488" y="1606591"/>
                  <a:pt x="25066" y="1623755"/>
                  <a:pt x="37137" y="1626773"/>
                </a:cubicBezTo>
                <a:cubicBezTo>
                  <a:pt x="124660" y="1696790"/>
                  <a:pt x="39377" y="1639934"/>
                  <a:pt x="127672" y="1672041"/>
                </a:cubicBezTo>
                <a:cubicBezTo>
                  <a:pt x="146697" y="1678959"/>
                  <a:pt x="163612" y="1690717"/>
                  <a:pt x="181993" y="1699201"/>
                </a:cubicBezTo>
                <a:cubicBezTo>
                  <a:pt x="227990" y="1720430"/>
                  <a:pt x="256506" y="1728333"/>
                  <a:pt x="299688" y="1753522"/>
                </a:cubicBezTo>
                <a:cubicBezTo>
                  <a:pt x="318486" y="1764487"/>
                  <a:pt x="335649" y="1778053"/>
                  <a:pt x="354009" y="1789736"/>
                </a:cubicBezTo>
                <a:cubicBezTo>
                  <a:pt x="377718" y="1804823"/>
                  <a:pt x="414780" y="1823347"/>
                  <a:pt x="435490" y="1844057"/>
                </a:cubicBezTo>
                <a:cubicBezTo>
                  <a:pt x="484819" y="1893386"/>
                  <a:pt x="437936" y="1872032"/>
                  <a:pt x="489811" y="1889324"/>
                </a:cubicBezTo>
                <a:cubicBezTo>
                  <a:pt x="495847" y="1898377"/>
                  <a:pt x="503052" y="1926216"/>
                  <a:pt x="507918" y="1916484"/>
                </a:cubicBezTo>
                <a:cubicBezTo>
                  <a:pt x="514799" y="1902721"/>
                  <a:pt x="506280" y="1884700"/>
                  <a:pt x="498864" y="1871217"/>
                </a:cubicBezTo>
                <a:cubicBezTo>
                  <a:pt x="472645" y="1823547"/>
                  <a:pt x="431127" y="1784812"/>
                  <a:pt x="408329" y="1735415"/>
                </a:cubicBezTo>
                <a:lnTo>
                  <a:pt x="354009" y="1617720"/>
                </a:lnTo>
                <a:cubicBezTo>
                  <a:pt x="296259" y="1343409"/>
                  <a:pt x="299038" y="1446957"/>
                  <a:pt x="363062" y="1056405"/>
                </a:cubicBezTo>
                <a:cubicBezTo>
                  <a:pt x="372182" y="1000770"/>
                  <a:pt x="392841" y="947651"/>
                  <a:pt x="408329" y="893443"/>
                </a:cubicBezTo>
                <a:cubicBezTo>
                  <a:pt x="410951" y="884267"/>
                  <a:pt x="424131" y="859534"/>
                  <a:pt x="417383" y="866282"/>
                </a:cubicBezTo>
                <a:cubicBezTo>
                  <a:pt x="401995" y="881670"/>
                  <a:pt x="393240" y="902496"/>
                  <a:pt x="381169" y="920603"/>
                </a:cubicBezTo>
                <a:cubicBezTo>
                  <a:pt x="375133" y="962853"/>
                  <a:pt x="363062" y="1004673"/>
                  <a:pt x="363062" y="1047352"/>
                </a:cubicBezTo>
                <a:cubicBezTo>
                  <a:pt x="363062" y="1147104"/>
                  <a:pt x="366025" y="1244223"/>
                  <a:pt x="453597" y="1309902"/>
                </a:cubicBezTo>
                <a:cubicBezTo>
                  <a:pt x="484135" y="1332806"/>
                  <a:pt x="526024" y="1334045"/>
                  <a:pt x="562238" y="1346116"/>
                </a:cubicBezTo>
                <a:cubicBezTo>
                  <a:pt x="601470" y="1340080"/>
                  <a:pt x="643079" y="1342751"/>
                  <a:pt x="679933" y="1328009"/>
                </a:cubicBezTo>
                <a:cubicBezTo>
                  <a:pt x="735197" y="1305903"/>
                  <a:pt x="789525" y="1277207"/>
                  <a:pt x="833842" y="1237474"/>
                </a:cubicBezTo>
                <a:cubicBezTo>
                  <a:pt x="927793" y="1153242"/>
                  <a:pt x="972106" y="1030084"/>
                  <a:pt x="1023965" y="920603"/>
                </a:cubicBezTo>
                <a:cubicBezTo>
                  <a:pt x="1030001" y="863264"/>
                  <a:pt x="1042072" y="806242"/>
                  <a:pt x="1042072" y="748587"/>
                </a:cubicBezTo>
                <a:cubicBezTo>
                  <a:pt x="1042072" y="580157"/>
                  <a:pt x="1014410" y="493584"/>
                  <a:pt x="960591" y="332128"/>
                </a:cubicBezTo>
                <a:cubicBezTo>
                  <a:pt x="939145" y="267791"/>
                  <a:pt x="914247" y="204606"/>
                  <a:pt x="888163" y="142005"/>
                </a:cubicBezTo>
                <a:cubicBezTo>
                  <a:pt x="868950" y="95894"/>
                  <a:pt x="789466" y="-29120"/>
                  <a:pt x="824789" y="6203"/>
                </a:cubicBezTo>
                <a:cubicBezTo>
                  <a:pt x="984140" y="165554"/>
                  <a:pt x="759086" y="-61909"/>
                  <a:pt x="942484" y="132952"/>
                </a:cubicBezTo>
                <a:cubicBezTo>
                  <a:pt x="968809" y="160923"/>
                  <a:pt x="998270" y="185883"/>
                  <a:pt x="1023965" y="214433"/>
                </a:cubicBezTo>
                <a:cubicBezTo>
                  <a:pt x="1085531" y="282840"/>
                  <a:pt x="1123546" y="334378"/>
                  <a:pt x="1168821" y="413609"/>
                </a:cubicBezTo>
                <a:cubicBezTo>
                  <a:pt x="1185561" y="442904"/>
                  <a:pt x="1202077" y="472614"/>
                  <a:pt x="1214088" y="504144"/>
                </a:cubicBezTo>
                <a:cubicBezTo>
                  <a:pt x="1226337" y="536298"/>
                  <a:pt x="1233278" y="570259"/>
                  <a:pt x="1241248" y="603732"/>
                </a:cubicBezTo>
                <a:cubicBezTo>
                  <a:pt x="1248376" y="633671"/>
                  <a:pt x="1254555" y="663868"/>
                  <a:pt x="1259355" y="694267"/>
                </a:cubicBezTo>
                <a:cubicBezTo>
                  <a:pt x="1265409" y="732607"/>
                  <a:pt x="1274085" y="841564"/>
                  <a:pt x="1277462" y="875336"/>
                </a:cubicBezTo>
                <a:cubicBezTo>
                  <a:pt x="1280181" y="902528"/>
                  <a:pt x="1283965" y="929609"/>
                  <a:pt x="1286516" y="956817"/>
                </a:cubicBezTo>
                <a:cubicBezTo>
                  <a:pt x="1290672" y="1001152"/>
                  <a:pt x="1282437" y="1162626"/>
                  <a:pt x="1331783" y="1228421"/>
                </a:cubicBezTo>
                <a:cubicBezTo>
                  <a:pt x="1373099" y="1283510"/>
                  <a:pt x="1404428" y="1307931"/>
                  <a:pt x="1458531" y="1337063"/>
                </a:cubicBezTo>
                <a:cubicBezTo>
                  <a:pt x="1482297" y="1349860"/>
                  <a:pt x="1506230" y="1362457"/>
                  <a:pt x="1530959" y="1373276"/>
                </a:cubicBezTo>
                <a:cubicBezTo>
                  <a:pt x="1554582" y="1383611"/>
                  <a:pt x="1578473" y="1393793"/>
                  <a:pt x="1603387" y="1400437"/>
                </a:cubicBezTo>
                <a:cubicBezTo>
                  <a:pt x="1624006" y="1405935"/>
                  <a:pt x="1645636" y="1406472"/>
                  <a:pt x="1666761" y="1409490"/>
                </a:cubicBezTo>
                <a:cubicBezTo>
                  <a:pt x="1637492" y="1339244"/>
                  <a:pt x="1599776" y="1258531"/>
                  <a:pt x="1585280" y="1183154"/>
                </a:cubicBezTo>
                <a:cubicBezTo>
                  <a:pt x="1577849" y="1144514"/>
                  <a:pt x="1579245" y="1104691"/>
                  <a:pt x="1576227" y="1065459"/>
                </a:cubicBezTo>
                <a:cubicBezTo>
                  <a:pt x="1582262" y="1026227"/>
                  <a:pt x="1582660" y="985702"/>
                  <a:pt x="1594333" y="947764"/>
                </a:cubicBezTo>
                <a:cubicBezTo>
                  <a:pt x="1623078" y="854340"/>
                  <a:pt x="1639823" y="826292"/>
                  <a:pt x="1712029" y="775748"/>
                </a:cubicBezTo>
                <a:cubicBezTo>
                  <a:pt x="1719847" y="770275"/>
                  <a:pt x="1730136" y="769712"/>
                  <a:pt x="1739189" y="766694"/>
                </a:cubicBezTo>
                <a:cubicBezTo>
                  <a:pt x="1733153" y="802908"/>
                  <a:pt x="1722610" y="838654"/>
                  <a:pt x="1721082" y="875336"/>
                </a:cubicBezTo>
                <a:cubicBezTo>
                  <a:pt x="1718170" y="945218"/>
                  <a:pt x="1724923" y="1011825"/>
                  <a:pt x="1775403" y="1065459"/>
                </a:cubicBezTo>
                <a:cubicBezTo>
                  <a:pt x="1803535" y="1095349"/>
                  <a:pt x="1838631" y="1118840"/>
                  <a:pt x="1874991" y="1137886"/>
                </a:cubicBezTo>
                <a:cubicBezTo>
                  <a:pt x="1902901" y="1152506"/>
                  <a:pt x="1935348" y="1155993"/>
                  <a:pt x="1965526" y="1165047"/>
                </a:cubicBezTo>
                <a:cubicBezTo>
                  <a:pt x="2001740" y="1162029"/>
                  <a:pt x="2040700" y="1170152"/>
                  <a:pt x="2074167" y="1155993"/>
                </a:cubicBezTo>
                <a:cubicBezTo>
                  <a:pt x="2204074" y="1101032"/>
                  <a:pt x="2204707" y="1058419"/>
                  <a:pt x="2264290" y="947764"/>
                </a:cubicBezTo>
                <a:cubicBezTo>
                  <a:pt x="2281063" y="875080"/>
                  <a:pt x="2309557" y="768453"/>
                  <a:pt x="2309557" y="694267"/>
                </a:cubicBezTo>
                <a:cubicBezTo>
                  <a:pt x="2309557" y="651588"/>
                  <a:pt x="2299510" y="609429"/>
                  <a:pt x="2291450" y="567518"/>
                </a:cubicBezTo>
                <a:cubicBezTo>
                  <a:pt x="2284401" y="530861"/>
                  <a:pt x="2275531" y="494472"/>
                  <a:pt x="2264290" y="458876"/>
                </a:cubicBezTo>
                <a:cubicBezTo>
                  <a:pt x="2257369" y="436960"/>
                  <a:pt x="2223339" y="377116"/>
                  <a:pt x="2237129" y="395502"/>
                </a:cubicBezTo>
                <a:cubicBezTo>
                  <a:pt x="2295886" y="473845"/>
                  <a:pt x="2359569" y="550795"/>
                  <a:pt x="2400092" y="639946"/>
                </a:cubicBezTo>
                <a:cubicBezTo>
                  <a:pt x="2445359" y="739534"/>
                  <a:pt x="2501301" y="834930"/>
                  <a:pt x="2535894" y="938710"/>
                </a:cubicBezTo>
                <a:cubicBezTo>
                  <a:pt x="2591124" y="1104402"/>
                  <a:pt x="2567450" y="1028809"/>
                  <a:pt x="2608322" y="1165047"/>
                </a:cubicBezTo>
                <a:cubicBezTo>
                  <a:pt x="2611340" y="1192207"/>
                  <a:pt x="2615557" y="1219261"/>
                  <a:pt x="2617375" y="1246528"/>
                </a:cubicBezTo>
                <a:cubicBezTo>
                  <a:pt x="2621595" y="1309834"/>
                  <a:pt x="2619423" y="1373593"/>
                  <a:pt x="2626429" y="1436651"/>
                </a:cubicBezTo>
                <a:cubicBezTo>
                  <a:pt x="2627483" y="1446136"/>
                  <a:pt x="2629271" y="1416736"/>
                  <a:pt x="2635482" y="1409490"/>
                </a:cubicBezTo>
                <a:cubicBezTo>
                  <a:pt x="2648057" y="1394818"/>
                  <a:pt x="2664495" y="1383725"/>
                  <a:pt x="2680749" y="1373276"/>
                </a:cubicBezTo>
                <a:cubicBezTo>
                  <a:pt x="2706885" y="1356474"/>
                  <a:pt x="2736378" y="1345244"/>
                  <a:pt x="2762230" y="1328009"/>
                </a:cubicBezTo>
                <a:cubicBezTo>
                  <a:pt x="2790860" y="1308923"/>
                  <a:pt x="2818610" y="1288168"/>
                  <a:pt x="2843712" y="1264635"/>
                </a:cubicBezTo>
                <a:cubicBezTo>
                  <a:pt x="2881333" y="1229365"/>
                  <a:pt x="2916482" y="1182582"/>
                  <a:pt x="2943300" y="1137886"/>
                </a:cubicBezTo>
                <a:cubicBezTo>
                  <a:pt x="2950244" y="1126313"/>
                  <a:pt x="2955371" y="1113743"/>
                  <a:pt x="2961407" y="1101672"/>
                </a:cubicBezTo>
                <a:cubicBezTo>
                  <a:pt x="2967443" y="1119779"/>
                  <a:pt x="2979099" y="1136911"/>
                  <a:pt x="2979514" y="1155993"/>
                </a:cubicBezTo>
                <a:cubicBezTo>
                  <a:pt x="2986828" y="1492444"/>
                  <a:pt x="3013049" y="1411662"/>
                  <a:pt x="2952353" y="1563399"/>
                </a:cubicBezTo>
                <a:cubicBezTo>
                  <a:pt x="2939287" y="1654864"/>
                  <a:pt x="2936237" y="1633965"/>
                  <a:pt x="2961407" y="1753522"/>
                </a:cubicBezTo>
                <a:cubicBezTo>
                  <a:pt x="2964755" y="1769425"/>
                  <a:pt x="2970499" y="1785267"/>
                  <a:pt x="2979514" y="1798789"/>
                </a:cubicBezTo>
                <a:cubicBezTo>
                  <a:pt x="2988984" y="1812993"/>
                  <a:pt x="3003657" y="1822932"/>
                  <a:pt x="3015728" y="1835003"/>
                </a:cubicBezTo>
                <a:cubicBezTo>
                  <a:pt x="3021763" y="1847074"/>
                  <a:pt x="3024291" y="1861674"/>
                  <a:pt x="3033834" y="1871217"/>
                </a:cubicBezTo>
                <a:cubicBezTo>
                  <a:pt x="3043377" y="1880760"/>
                  <a:pt x="3061710" y="1899936"/>
                  <a:pt x="3070048" y="1889324"/>
                </a:cubicBezTo>
                <a:cubicBezTo>
                  <a:pt x="3102610" y="1847882"/>
                  <a:pt x="3133423" y="1744468"/>
                  <a:pt x="3133423" y="1744468"/>
                </a:cubicBezTo>
                <a:cubicBezTo>
                  <a:pt x="3136441" y="1711272"/>
                  <a:pt x="3138987" y="1678030"/>
                  <a:pt x="3142476" y="1644880"/>
                </a:cubicBezTo>
                <a:cubicBezTo>
                  <a:pt x="3145023" y="1620683"/>
                  <a:pt x="3134325" y="1589657"/>
                  <a:pt x="3151529" y="1572453"/>
                </a:cubicBezTo>
                <a:cubicBezTo>
                  <a:pt x="3163020" y="1560962"/>
                  <a:pt x="3161447" y="1603682"/>
                  <a:pt x="3169636" y="1617720"/>
                </a:cubicBezTo>
                <a:cubicBezTo>
                  <a:pt x="3182717" y="1640144"/>
                  <a:pt x="3201823" y="1658670"/>
                  <a:pt x="3214904" y="1681094"/>
                </a:cubicBezTo>
                <a:cubicBezTo>
                  <a:pt x="3223093" y="1695132"/>
                  <a:pt x="3228232" y="1710829"/>
                  <a:pt x="3233011" y="1726362"/>
                </a:cubicBezTo>
                <a:cubicBezTo>
                  <a:pt x="3251638" y="1786899"/>
                  <a:pt x="3251591" y="1802102"/>
                  <a:pt x="3260171" y="1862164"/>
                </a:cubicBezTo>
                <a:cubicBezTo>
                  <a:pt x="3263189" y="1958734"/>
                  <a:pt x="3246331" y="2058008"/>
                  <a:pt x="3269225" y="2151874"/>
                </a:cubicBezTo>
                <a:cubicBezTo>
                  <a:pt x="3278327" y="2189191"/>
                  <a:pt x="3327659" y="2202628"/>
                  <a:pt x="3350706" y="2233356"/>
                </a:cubicBezTo>
                <a:cubicBezTo>
                  <a:pt x="3359759" y="2245427"/>
                  <a:pt x="3367197" y="2258900"/>
                  <a:pt x="3377866" y="2269569"/>
                </a:cubicBezTo>
                <a:cubicBezTo>
                  <a:pt x="3388536" y="2280239"/>
                  <a:pt x="3402009" y="2287676"/>
                  <a:pt x="3414080" y="2296730"/>
                </a:cubicBezTo>
                <a:cubicBezTo>
                  <a:pt x="3423133" y="2314837"/>
                  <a:pt x="3430371" y="2333972"/>
                  <a:pt x="3441240" y="2351051"/>
                </a:cubicBezTo>
                <a:cubicBezTo>
                  <a:pt x="3451614" y="2367353"/>
                  <a:pt x="3467512" y="2379748"/>
                  <a:pt x="3477454" y="2396318"/>
                </a:cubicBezTo>
                <a:cubicBezTo>
                  <a:pt x="3494813" y="2425250"/>
                  <a:pt x="3504006" y="2458779"/>
                  <a:pt x="3522722" y="2486853"/>
                </a:cubicBezTo>
                <a:lnTo>
                  <a:pt x="3540829" y="2514013"/>
                </a:lnTo>
                <a:cubicBezTo>
                  <a:pt x="3543847" y="2529102"/>
                  <a:pt x="3546150" y="2544352"/>
                  <a:pt x="3549882" y="2559280"/>
                </a:cubicBezTo>
                <a:cubicBezTo>
                  <a:pt x="3555210" y="2580594"/>
                  <a:pt x="3563680" y="2601111"/>
                  <a:pt x="3567989" y="2622655"/>
                </a:cubicBezTo>
                <a:cubicBezTo>
                  <a:pt x="3572760" y="2646513"/>
                  <a:pt x="3574024" y="2670940"/>
                  <a:pt x="3577042" y="2695082"/>
                </a:cubicBezTo>
                <a:cubicBezTo>
                  <a:pt x="3574024" y="2770528"/>
                  <a:pt x="3579300" y="2846765"/>
                  <a:pt x="3567989" y="2921419"/>
                </a:cubicBezTo>
                <a:cubicBezTo>
                  <a:pt x="3565420" y="2938371"/>
                  <a:pt x="3497165" y="3056328"/>
                  <a:pt x="3486508" y="3066274"/>
                </a:cubicBezTo>
                <a:cubicBezTo>
                  <a:pt x="3460779" y="3090287"/>
                  <a:pt x="3425481" y="3101415"/>
                  <a:pt x="3395973" y="3120595"/>
                </a:cubicBezTo>
                <a:cubicBezTo>
                  <a:pt x="3365087" y="3140671"/>
                  <a:pt x="3337829" y="3166424"/>
                  <a:pt x="3305438" y="3183969"/>
                </a:cubicBezTo>
                <a:cubicBezTo>
                  <a:pt x="3265021" y="3205862"/>
                  <a:pt x="3221592" y="3221789"/>
                  <a:pt x="3178690" y="3238290"/>
                </a:cubicBezTo>
                <a:cubicBezTo>
                  <a:pt x="3105278" y="3266525"/>
                  <a:pt x="3029796" y="3287765"/>
                  <a:pt x="2952353" y="3301665"/>
                </a:cubicBezTo>
                <a:cubicBezTo>
                  <a:pt x="2558904" y="3372284"/>
                  <a:pt x="2586653" y="3339570"/>
                  <a:pt x="2019846" y="3346932"/>
                </a:cubicBezTo>
                <a:cubicBezTo>
                  <a:pt x="1746406" y="3377313"/>
                  <a:pt x="1446460" y="3369565"/>
                  <a:pt x="1331783" y="337409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35F8D-B0AC-DA6D-17A9-3E51990F8D7E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70637-A0DC-6245-F70F-F7A036BEFA87}"/>
              </a:ext>
            </a:extLst>
          </p:cNvPr>
          <p:cNvSpPr txBox="1"/>
          <p:nvPr/>
        </p:nvSpPr>
        <p:spPr>
          <a:xfrm>
            <a:off x="4323291" y="4778435"/>
            <a:ext cx="4588851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최상위 유저 전용 보상 추가로</a:t>
            </a:r>
            <a:br>
              <a:rPr lang="en-US" altLang="ko-KR" sz="1600" dirty="0"/>
            </a:br>
            <a:r>
              <a:rPr lang="ko-KR" altLang="en-US" sz="1600" dirty="0"/>
              <a:t>몰입 유저의 </a:t>
            </a:r>
            <a:r>
              <a:rPr lang="ko-KR" altLang="en-US" sz="1600" b="1" dirty="0"/>
              <a:t>결제 동기 부여와</a:t>
            </a:r>
            <a:br>
              <a:rPr lang="en-US" altLang="ko-KR" sz="1600" dirty="0"/>
            </a:br>
            <a:r>
              <a:rPr lang="ko-KR" altLang="en-US" sz="1600" dirty="0"/>
              <a:t>충성 유저의 </a:t>
            </a:r>
            <a:r>
              <a:rPr lang="ko-KR" altLang="en-US" sz="1600" b="1" dirty="0"/>
              <a:t>확정적 결제를 유도합니다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4" name="그래픽 3" descr="트로피">
            <a:extLst>
              <a:ext uri="{FF2B5EF4-FFF2-40B4-BE49-F238E27FC236}">
                <a16:creationId xmlns:a16="http://schemas.microsoft.com/office/drawing/2014/main" id="{62569F7D-EA34-DAA9-44A3-EF0AD77A0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8017" y="2575597"/>
            <a:ext cx="1976879" cy="1976875"/>
          </a:xfrm>
          <a:prstGeom prst="rect">
            <a:avLst/>
          </a:prstGeom>
        </p:spPr>
      </p:pic>
      <p:pic>
        <p:nvPicPr>
          <p:cNvPr id="5" name="그래픽 4" descr="트로피">
            <a:extLst>
              <a:ext uri="{FF2B5EF4-FFF2-40B4-BE49-F238E27FC236}">
                <a16:creationId xmlns:a16="http://schemas.microsoft.com/office/drawing/2014/main" id="{1283E88A-C263-1F25-8D37-6DC2CB921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0763" y="1920645"/>
            <a:ext cx="2693378" cy="2693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B9DB7-A4A5-6BBC-BA0C-36B6B0A9BE06}"/>
              </a:ext>
            </a:extLst>
          </p:cNvPr>
          <p:cNvSpPr txBox="1"/>
          <p:nvPr/>
        </p:nvSpPr>
        <p:spPr>
          <a:xfrm>
            <a:off x="3376809" y="2331006"/>
            <a:ext cx="1501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#1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E92AB-1569-2B28-F6D0-ABCD90FE3360}"/>
              </a:ext>
            </a:extLst>
          </p:cNvPr>
          <p:cNvSpPr txBox="1"/>
          <p:nvPr/>
        </p:nvSpPr>
        <p:spPr>
          <a:xfrm>
            <a:off x="4785813" y="2993302"/>
            <a:ext cx="1501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#100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10" name="그래픽 9" descr="사용자">
            <a:extLst>
              <a:ext uri="{FF2B5EF4-FFF2-40B4-BE49-F238E27FC236}">
                <a16:creationId xmlns:a16="http://schemas.microsoft.com/office/drawing/2014/main" id="{1EEFDE8D-DAB7-2488-538F-62129D65C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2603" y="2713316"/>
            <a:ext cx="1839160" cy="1839156"/>
          </a:xfrm>
          <a:prstGeom prst="rect">
            <a:avLst/>
          </a:prstGeom>
        </p:spPr>
      </p:pic>
      <p:pic>
        <p:nvPicPr>
          <p:cNvPr id="12" name="그래픽 11" descr="사용자">
            <a:extLst>
              <a:ext uri="{FF2B5EF4-FFF2-40B4-BE49-F238E27FC236}">
                <a16:creationId xmlns:a16="http://schemas.microsoft.com/office/drawing/2014/main" id="{BFFCAE0D-C353-AFBE-29C4-AC6968E3E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6449" y="2713316"/>
            <a:ext cx="1839160" cy="1839156"/>
          </a:xfrm>
          <a:prstGeom prst="rect">
            <a:avLst/>
          </a:prstGeom>
        </p:spPr>
      </p:pic>
      <p:pic>
        <p:nvPicPr>
          <p:cNvPr id="14" name="그래픽 13" descr="사용자">
            <a:extLst>
              <a:ext uri="{FF2B5EF4-FFF2-40B4-BE49-F238E27FC236}">
                <a16:creationId xmlns:a16="http://schemas.microsoft.com/office/drawing/2014/main" id="{BB06346B-76E7-B45E-F32D-8E9A1638FB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295" y="2713316"/>
            <a:ext cx="1839160" cy="1839156"/>
          </a:xfrm>
          <a:prstGeom prst="rect">
            <a:avLst/>
          </a:prstGeom>
        </p:spPr>
      </p:pic>
      <p:sp>
        <p:nvSpPr>
          <p:cNvPr id="17" name="별: 꼭짓점 4개 16">
            <a:extLst>
              <a:ext uri="{FF2B5EF4-FFF2-40B4-BE49-F238E27FC236}">
                <a16:creationId xmlns:a16="http://schemas.microsoft.com/office/drawing/2014/main" id="{8D743FA1-3FD3-F153-5E30-E0712ED50DA2}"/>
              </a:ext>
            </a:extLst>
          </p:cNvPr>
          <p:cNvSpPr/>
          <p:nvPr/>
        </p:nvSpPr>
        <p:spPr>
          <a:xfrm>
            <a:off x="2820634" y="1649417"/>
            <a:ext cx="1055971" cy="1171374"/>
          </a:xfrm>
          <a:prstGeom prst="star4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별: 꼭짓점 4개 17">
            <a:extLst>
              <a:ext uri="{FF2B5EF4-FFF2-40B4-BE49-F238E27FC236}">
                <a16:creationId xmlns:a16="http://schemas.microsoft.com/office/drawing/2014/main" id="{DA8251FE-A1C8-67E9-C4F7-8E688B6C83FE}"/>
              </a:ext>
            </a:extLst>
          </p:cNvPr>
          <p:cNvSpPr/>
          <p:nvPr/>
        </p:nvSpPr>
        <p:spPr>
          <a:xfrm>
            <a:off x="4628343" y="3144602"/>
            <a:ext cx="568489" cy="758801"/>
          </a:xfrm>
          <a:prstGeom prst="star4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 descr="돈 봉투">
            <a:extLst>
              <a:ext uri="{FF2B5EF4-FFF2-40B4-BE49-F238E27FC236}">
                <a16:creationId xmlns:a16="http://schemas.microsoft.com/office/drawing/2014/main" id="{D72B93A2-8046-A54D-45D4-B196891C4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8432" y="3569692"/>
            <a:ext cx="914400" cy="914400"/>
          </a:xfrm>
          <a:prstGeom prst="rect">
            <a:avLst/>
          </a:prstGeom>
        </p:spPr>
      </p:pic>
      <p:pic>
        <p:nvPicPr>
          <p:cNvPr id="22" name="그래픽 21" descr="돈 봉투">
            <a:extLst>
              <a:ext uri="{FF2B5EF4-FFF2-40B4-BE49-F238E27FC236}">
                <a16:creationId xmlns:a16="http://schemas.microsoft.com/office/drawing/2014/main" id="{36569168-09E2-031C-F684-B1BAFB83E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8443" y="3569692"/>
            <a:ext cx="914400" cy="914400"/>
          </a:xfrm>
          <a:prstGeom prst="rect">
            <a:avLst/>
          </a:prstGeom>
        </p:spPr>
      </p:pic>
      <p:pic>
        <p:nvPicPr>
          <p:cNvPr id="29" name="그래픽 28" descr="돈 봉투">
            <a:extLst>
              <a:ext uri="{FF2B5EF4-FFF2-40B4-BE49-F238E27FC236}">
                <a16:creationId xmlns:a16="http://schemas.microsoft.com/office/drawing/2014/main" id="{CAB20D4C-052A-7BB6-395A-2A8C8ADA3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7728" y="3569692"/>
            <a:ext cx="914400" cy="914400"/>
          </a:xfrm>
          <a:prstGeom prst="rect">
            <a:avLst/>
          </a:prstGeom>
        </p:spPr>
      </p:pic>
      <p:pic>
        <p:nvPicPr>
          <p:cNvPr id="30" name="그래픽 29" descr="돈 봉투">
            <a:extLst>
              <a:ext uri="{FF2B5EF4-FFF2-40B4-BE49-F238E27FC236}">
                <a16:creationId xmlns:a16="http://schemas.microsoft.com/office/drawing/2014/main" id="{3B243155-E351-F694-F94D-C27305AC1B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844184">
            <a:off x="7000401" y="3569693"/>
            <a:ext cx="914400" cy="914400"/>
          </a:xfrm>
          <a:prstGeom prst="rect">
            <a:avLst/>
          </a:prstGeom>
        </p:spPr>
      </p:pic>
      <p:pic>
        <p:nvPicPr>
          <p:cNvPr id="65" name="그래픽 64" descr="동전">
            <a:extLst>
              <a:ext uri="{FF2B5EF4-FFF2-40B4-BE49-F238E27FC236}">
                <a16:creationId xmlns:a16="http://schemas.microsoft.com/office/drawing/2014/main" id="{2112EDAF-7780-00B8-0A27-45BEE568F3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15238" y="4026892"/>
            <a:ext cx="558014" cy="558014"/>
          </a:xfrm>
          <a:prstGeom prst="rect">
            <a:avLst/>
          </a:prstGeom>
        </p:spPr>
      </p:pic>
      <p:pic>
        <p:nvPicPr>
          <p:cNvPr id="66" name="그래픽 65" descr="동전">
            <a:extLst>
              <a:ext uri="{FF2B5EF4-FFF2-40B4-BE49-F238E27FC236}">
                <a16:creationId xmlns:a16="http://schemas.microsoft.com/office/drawing/2014/main" id="{1242BEEA-7682-635B-8AC4-D4FF54047D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1552" y="4107440"/>
            <a:ext cx="558014" cy="558014"/>
          </a:xfrm>
          <a:prstGeom prst="rect">
            <a:avLst/>
          </a:prstGeom>
        </p:spPr>
      </p:pic>
      <p:pic>
        <p:nvPicPr>
          <p:cNvPr id="67" name="그래픽 66" descr="동전">
            <a:extLst>
              <a:ext uri="{FF2B5EF4-FFF2-40B4-BE49-F238E27FC236}">
                <a16:creationId xmlns:a16="http://schemas.microsoft.com/office/drawing/2014/main" id="{5C551581-D321-29F2-1BBC-7B42A401C9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8155" y="3903403"/>
            <a:ext cx="558014" cy="558014"/>
          </a:xfrm>
          <a:prstGeom prst="rect">
            <a:avLst/>
          </a:prstGeom>
        </p:spPr>
      </p:pic>
      <p:pic>
        <p:nvPicPr>
          <p:cNvPr id="68" name="그래픽 67" descr="동전">
            <a:extLst>
              <a:ext uri="{FF2B5EF4-FFF2-40B4-BE49-F238E27FC236}">
                <a16:creationId xmlns:a16="http://schemas.microsoft.com/office/drawing/2014/main" id="{1B6EA04C-AB44-31BE-4CAE-19903C50CA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4147" y="4056004"/>
            <a:ext cx="558014" cy="558014"/>
          </a:xfrm>
          <a:prstGeom prst="rect">
            <a:avLst/>
          </a:prstGeom>
        </p:spPr>
      </p:pic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E965BD7D-9E1E-83C0-9A04-670E720850F2}"/>
              </a:ext>
            </a:extLst>
          </p:cNvPr>
          <p:cNvSpPr/>
          <p:nvPr/>
        </p:nvSpPr>
        <p:spPr>
          <a:xfrm rot="10800000">
            <a:off x="8102832" y="1399810"/>
            <a:ext cx="157113" cy="499213"/>
          </a:xfrm>
          <a:custGeom>
            <a:avLst/>
            <a:gdLst>
              <a:gd name="connsiteX0" fmla="*/ 48471 w 157113"/>
              <a:gd name="connsiteY0" fmla="*/ 0 h 499213"/>
              <a:gd name="connsiteX1" fmla="*/ 48471 w 157113"/>
              <a:gd name="connsiteY1" fmla="*/ 0 h 499213"/>
              <a:gd name="connsiteX2" fmla="*/ 12257 w 157113"/>
              <a:gd name="connsiteY2" fmla="*/ 162963 h 499213"/>
              <a:gd name="connsiteX3" fmla="*/ 39418 w 157113"/>
              <a:gd name="connsiteY3" fmla="*/ 353086 h 499213"/>
              <a:gd name="connsiteX4" fmla="*/ 48471 w 157113"/>
              <a:gd name="connsiteY4" fmla="*/ 407406 h 499213"/>
              <a:gd name="connsiteX5" fmla="*/ 39418 w 157113"/>
              <a:gd name="connsiteY5" fmla="*/ 461727 h 499213"/>
              <a:gd name="connsiteX6" fmla="*/ 3204 w 157113"/>
              <a:gd name="connsiteY6" fmla="*/ 497941 h 499213"/>
              <a:gd name="connsiteX7" fmla="*/ 75632 w 157113"/>
              <a:gd name="connsiteY7" fmla="*/ 443620 h 499213"/>
              <a:gd name="connsiteX8" fmla="*/ 157113 w 157113"/>
              <a:gd name="connsiteY8" fmla="*/ 344032 h 499213"/>
              <a:gd name="connsiteX9" fmla="*/ 129953 w 157113"/>
              <a:gd name="connsiteY9" fmla="*/ 99589 h 499213"/>
              <a:gd name="connsiteX10" fmla="*/ 102792 w 157113"/>
              <a:gd name="connsiteY10" fmla="*/ 63375 h 499213"/>
              <a:gd name="connsiteX11" fmla="*/ 84685 w 157113"/>
              <a:gd name="connsiteY11" fmla="*/ 18107 h 499213"/>
              <a:gd name="connsiteX12" fmla="*/ 48471 w 157113"/>
              <a:gd name="connsiteY12" fmla="*/ 0 h 49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7113" h="499213">
                <a:moveTo>
                  <a:pt x="48471" y="0"/>
                </a:moveTo>
                <a:lnTo>
                  <a:pt x="48471" y="0"/>
                </a:lnTo>
                <a:cubicBezTo>
                  <a:pt x="36400" y="54321"/>
                  <a:pt x="17794" y="107593"/>
                  <a:pt x="12257" y="162963"/>
                </a:cubicBezTo>
                <a:cubicBezTo>
                  <a:pt x="5823" y="227308"/>
                  <a:pt x="27056" y="291275"/>
                  <a:pt x="39418" y="353086"/>
                </a:cubicBezTo>
                <a:cubicBezTo>
                  <a:pt x="43018" y="371086"/>
                  <a:pt x="45453" y="389299"/>
                  <a:pt x="48471" y="407406"/>
                </a:cubicBezTo>
                <a:cubicBezTo>
                  <a:pt x="45453" y="425513"/>
                  <a:pt x="47627" y="445308"/>
                  <a:pt x="39418" y="461727"/>
                </a:cubicBezTo>
                <a:cubicBezTo>
                  <a:pt x="31783" y="476996"/>
                  <a:pt x="-12065" y="505576"/>
                  <a:pt x="3204" y="497941"/>
                </a:cubicBezTo>
                <a:cubicBezTo>
                  <a:pt x="30196" y="484445"/>
                  <a:pt x="52827" y="463385"/>
                  <a:pt x="75632" y="443620"/>
                </a:cubicBezTo>
                <a:cubicBezTo>
                  <a:pt x="139971" y="387860"/>
                  <a:pt x="129521" y="399216"/>
                  <a:pt x="157113" y="344032"/>
                </a:cubicBezTo>
                <a:cubicBezTo>
                  <a:pt x="153830" y="275098"/>
                  <a:pt x="166113" y="171908"/>
                  <a:pt x="129953" y="99589"/>
                </a:cubicBezTo>
                <a:cubicBezTo>
                  <a:pt x="123205" y="86093"/>
                  <a:pt x="110120" y="76565"/>
                  <a:pt x="102792" y="63375"/>
                </a:cubicBezTo>
                <a:cubicBezTo>
                  <a:pt x="94899" y="49168"/>
                  <a:pt x="91953" y="32643"/>
                  <a:pt x="84685" y="18107"/>
                </a:cubicBezTo>
                <a:cubicBezTo>
                  <a:pt x="74448" y="-2366"/>
                  <a:pt x="54507" y="3018"/>
                  <a:pt x="48471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893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A089-F323-9C98-43DE-0BED4456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D9D8A01-CB24-F681-A159-3DE6237876A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BE3C0-44DC-EB2C-2822-9D38FB1D7029}"/>
              </a:ext>
            </a:extLst>
          </p:cNvPr>
          <p:cNvSpPr txBox="1"/>
          <p:nvPr/>
        </p:nvSpPr>
        <p:spPr>
          <a:xfrm>
            <a:off x="1754867" y="2148341"/>
            <a:ext cx="254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b="1" dirty="0"/>
              <a:t>정기적인 지출 유도</a:t>
            </a:r>
            <a:endParaRPr lang="en-US" altLang="ko-KR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12534-F201-C1AE-68F7-D6C752F51D20}"/>
              </a:ext>
            </a:extLst>
          </p:cNvPr>
          <p:cNvSpPr txBox="1"/>
          <p:nvPr/>
        </p:nvSpPr>
        <p:spPr>
          <a:xfrm>
            <a:off x="4823611" y="2148341"/>
            <a:ext cx="254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b="1" dirty="0"/>
              <a:t>비용 매몰 가능성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5A1D9-D967-83B4-8DD6-39309004C9F3}"/>
              </a:ext>
            </a:extLst>
          </p:cNvPr>
          <p:cNvSpPr txBox="1"/>
          <p:nvPr/>
        </p:nvSpPr>
        <p:spPr>
          <a:xfrm>
            <a:off x="8036459" y="2148341"/>
            <a:ext cx="2544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b="1" dirty="0"/>
              <a:t>결제 동기 부여</a:t>
            </a:r>
            <a:br>
              <a:rPr lang="en-US" altLang="ko-KR" sz="1800" dirty="0"/>
            </a:br>
            <a:r>
              <a:rPr lang="ko-KR" altLang="en-US" sz="1800" b="1" dirty="0"/>
              <a:t>확정적 결제 유도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A57633B-AC04-94C1-5D00-E64F1F22783C}"/>
              </a:ext>
            </a:extLst>
          </p:cNvPr>
          <p:cNvCxnSpPr/>
          <p:nvPr/>
        </p:nvCxnSpPr>
        <p:spPr>
          <a:xfrm>
            <a:off x="3250195" y="2843375"/>
            <a:ext cx="1810693" cy="123127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CA0B0E2-7387-C4E8-247D-A15E53FEDFCE}"/>
              </a:ext>
            </a:extLst>
          </p:cNvPr>
          <p:cNvCxnSpPr>
            <a:cxnSpLocks/>
          </p:cNvCxnSpPr>
          <p:nvPr/>
        </p:nvCxnSpPr>
        <p:spPr>
          <a:xfrm flipH="1">
            <a:off x="7131113" y="2832058"/>
            <a:ext cx="1810693" cy="123127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5B9C716-1045-6A8F-D4EF-EE4BB27F6FBD}"/>
              </a:ext>
            </a:extLst>
          </p:cNvPr>
          <p:cNvCxnSpPr>
            <a:cxnSpLocks/>
          </p:cNvCxnSpPr>
          <p:nvPr/>
        </p:nvCxnSpPr>
        <p:spPr>
          <a:xfrm>
            <a:off x="6096000" y="2843375"/>
            <a:ext cx="0" cy="121995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F9FCC83-890A-04D1-B633-B43DBA66A416}"/>
              </a:ext>
            </a:extLst>
          </p:cNvPr>
          <p:cNvSpPr txBox="1"/>
          <p:nvPr/>
        </p:nvSpPr>
        <p:spPr>
          <a:xfrm>
            <a:off x="3027255" y="4556564"/>
            <a:ext cx="6137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highlight>
                  <a:srgbClr val="FFFF00"/>
                </a:highlight>
              </a:rPr>
              <a:t>매출 상승을 기대할 수 있습니다</a:t>
            </a:r>
            <a:r>
              <a:rPr lang="en-US" altLang="ko-KR" sz="3200" b="1" dirty="0">
                <a:highlight>
                  <a:srgbClr val="FFFF00"/>
                </a:highlight>
              </a:rPr>
              <a:t>.</a:t>
            </a:r>
            <a:endParaRPr lang="ko-KR" alt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8450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97105-6EAE-5DCA-F536-957ED379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776" y="5013690"/>
            <a:ext cx="3801208" cy="1325563"/>
          </a:xfrm>
        </p:spPr>
        <p:txBody>
          <a:bodyPr/>
          <a:lstStyle/>
          <a:p>
            <a:pPr algn="r"/>
            <a:r>
              <a:rPr lang="ko-KR" altLang="en-US" b="1" dirty="0"/>
              <a:t>감사합니다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79017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7192</TotalTime>
  <Words>2227</Words>
  <Application>Microsoft Office PowerPoint</Application>
  <PresentationFormat>와이드스크린</PresentationFormat>
  <Paragraphs>486</Paragraphs>
  <Slides>35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sbk4992@gmail.com</dc:creator>
  <cp:lastModifiedBy>sbk4992@gmail.com</cp:lastModifiedBy>
  <cp:revision>1281</cp:revision>
  <dcterms:created xsi:type="dcterms:W3CDTF">2025-08-19T01:20:43Z</dcterms:created>
  <dcterms:modified xsi:type="dcterms:W3CDTF">2025-10-02T09:28:01Z</dcterms:modified>
</cp:coreProperties>
</file>